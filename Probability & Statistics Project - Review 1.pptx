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0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7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image" Target="../media/image1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95875"/>
            <a:ext cx="10191750" cy="904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857250"/>
            <a:ext cx="3824287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28625"/>
            <a:ext cx="11144250" cy="600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25" y="1285875"/>
            <a:ext cx="10701337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>
                <a:solidFill>
                  <a:srgbClr val="FFFFFF"/>
                </a:solidFill>
                <a:latin typeface="Poppins"/>
              </a:rPr>
              <a:t>Can Statistics Detect Fake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1891158"/>
            <a:ext cx="9048750" cy="262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sz="1425" b="0" i="0" u="none">
                <a:solidFill>
                  <a:srgbClr val="93C5FD"/>
                </a:solidFill>
                <a:latin typeface="Lato"/>
              </a:rPr>
              <a:t>Identifying Anomalies and Outliers in Real Datasets Using Benford’s Law and Chi-Square Goodness-of-Fit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5295900"/>
            <a:ext cx="3493293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FACULTY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5457825"/>
            <a:ext cx="349329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Lato SemiBold"/>
              </a:rPr>
              <a:t>Dr. Tharasi Dilleswar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5638800"/>
            <a:ext cx="349329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JetBrains Mono"/>
              </a:rPr>
              <a:t>Slot: F1 SLOT • BMAT202P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1568" y="5295900"/>
            <a:ext cx="2911078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STUDENT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1568" y="5457825"/>
            <a:ext cx="29110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Lato SemiBold"/>
              </a:rPr>
              <a:t>Shaik Sameer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1568" y="5638800"/>
            <a:ext cx="29110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JetBrains Mono"/>
              </a:rPr>
              <a:t>Reg. No: 24BDS1154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3146" y="5295900"/>
            <a:ext cx="2911078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STUDENT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3146" y="5457825"/>
            <a:ext cx="29110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Lato SemiBold"/>
              </a:rPr>
              <a:t>Joshita Chowdary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3146" y="5638800"/>
            <a:ext cx="29110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JetBrains Mono"/>
              </a:rPr>
              <a:t>Reg. No: 24BRS1313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6250" y="1619250"/>
            <a:ext cx="3619500" cy="3619500"/>
          </a:xfrm>
          <a:prstGeom prst="roundRect">
            <a:avLst>
              <a:gd name="adj" fmla="val 1315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1666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114675"/>
            <a:ext cx="5405437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276350"/>
            <a:ext cx="5405437" cy="3676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The Numerical Audit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828800"/>
            <a:ext cx="48910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Real-world datasets regularly contain vast numbers of numerical entries. In such dense environments, identifying manufactured records, manipulations, or unusual reporting habits is virtually impossible through manual inspection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14700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The Statistical Framework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67125"/>
            <a:ext cx="48910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This project investigates whether automated statistical analysis can systematically flag numerical distributions that diverge from natural expected first-digit frequencies using Benford’s Law as the primary mathematical standard.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862" y="2108894"/>
            <a:ext cx="4929187" cy="1524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Lato"/>
              </a:rPr>
              <a:t>CRITICAL INTERPRETATION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862" y="2318444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oppins"/>
              </a:rPr>
              <a:t>Statistical Deviation ≠ Proof of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862" y="2718494"/>
            <a:ext cx="49291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7F1D1D"/>
                </a:solidFill>
                <a:latin typeface="Lato"/>
              </a:rPr>
              <a:t>A statistically significant deviation from Benford’s Law </a:t>
            </a:r>
            <a:r>
              <a:rPr sz="1200" b="1" i="0" u="none">
                <a:solidFill>
                  <a:srgbClr val="7F1D1D"/>
                </a:solidFill>
                <a:latin typeface="Lato"/>
              </a:rPr>
              <a:t>does not prove fraud, forgery, or malicious manipulation</a:t>
            </a:r>
            <a:r>
              <a:rPr sz="1200" b="0" i="0" u="none">
                <a:solidFill>
                  <a:srgbClr val="7F1D1D"/>
                </a:solidFill>
                <a:latin typeface="La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862" y="3320355"/>
            <a:ext cx="49291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7F1D1D"/>
                </a:solidFill>
                <a:latin typeface="Lato"/>
              </a:rPr>
              <a:t>Instead, it serves as a rigorous, objective diagnostic flag that highlights unusual structural patterns requiring domain review and contextual investigation.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862" y="2127944"/>
            <a:ext cx="133350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01 Problem Statement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275558"/>
            <a:ext cx="11144250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276350"/>
            <a:ext cx="3587650" cy="17896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1276350"/>
            <a:ext cx="3587799" cy="178965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1276350"/>
            <a:ext cx="3587650" cy="178965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37483"/>
            <a:ext cx="10706100" cy="1524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Lato"/>
              </a:rPr>
              <a:t>CORE PROJECT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47033"/>
            <a:ext cx="10706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Lato"/>
              </a:rPr>
              <a:t>Subsets and datasets exhibiting statistically significant departures from Benford's distribution are flagged for further scrutiny, maintaining a strict distinction between empirical statistical evidence and allegations of intentional manipulation.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933575"/>
            <a:ext cx="33069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2B48"/>
                </a:solidFill>
                <a:latin typeface="Poppins"/>
              </a:rPr>
              <a:t>1. R-Based Data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266950"/>
            <a:ext cx="31495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Import and clean real-world numerical datasets in R. Remove invalid observations and compute descriptive summary metrics and preliminary graphs.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1933575"/>
            <a:ext cx="330713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2B48"/>
                </a:solidFill>
                <a:latin typeface="Poppins"/>
              </a:rPr>
              <a:t>2. Digit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100" y="2266950"/>
            <a:ext cx="314964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Extract the leading significant digit (1–9) from every valid numerical record and determine its empirical sample frequency distribution.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400" y="1933575"/>
            <a:ext cx="33069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2B48"/>
                </a:solidFill>
                <a:latin typeface="Poppins"/>
              </a:rPr>
              <a:t>3. Goodness-of-Fit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9400" y="2266950"/>
            <a:ext cx="31495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Compare observed counts directly against theoretical Benford probabilities using Pearson's Chi-square test to verify statistical significance.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56533"/>
            <a:ext cx="13335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1533525"/>
            <a:ext cx="3048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0" y="1533525"/>
            <a:ext cx="20002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9400" y="1533525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02 Abstract &amp; Methodology Overview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2671762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1276350"/>
            <a:ext cx="2671762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76350"/>
            <a:ext cx="2671762" cy="1209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1276350"/>
            <a:ext cx="2671762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638425"/>
            <a:ext cx="2671762" cy="1209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037" y="2638425"/>
            <a:ext cx="2671762" cy="1209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38425"/>
            <a:ext cx="2671762" cy="12096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638425"/>
            <a:ext cx="2671762" cy="1209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14668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1695450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Dataset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1990725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Select real-world numerical data suitable for natural first-digit distribution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912" y="14668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0912" y="1695450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Data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0912" y="1990725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Import into R, inspect variables, filter missing/invalid entries, and format fields.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14668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1695450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Exploratory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075" y="1990725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Calculate summary statistics and construct plots to understand scale and spread.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9237" y="1466850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9237" y="1695450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Digit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9237" y="1990725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Extract the leading digit (1–9) and compute observed frequencies across the dataset.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28289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3057525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Expected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3352800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Compute theoretical probabilities for digits 1–9 using the logarithmic Benford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0912" y="28289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0912" y="3057525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Statistical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0912" y="3352800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Execute Chi-square goodness-of-fit to compare observed and expected counts.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5075" y="28289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075" y="3057525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Anomaly Flagging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5075" y="3352800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Flag subsets with p-values falling below the significance threshold (p &lt; 0.05).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9237" y="2828925"/>
            <a:ext cx="23860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oppins"/>
              </a:rPr>
              <a:t>STAGE 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9237" y="3057525"/>
            <a:ext cx="250531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2B48"/>
                </a:solidFill>
                <a:latin typeface="Poppins SemiBold"/>
              </a:rPr>
              <a:t>Interpretation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237" y="3352800"/>
            <a:ext cx="23860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4748B"/>
                </a:solidFill>
                <a:latin typeface="Lato"/>
              </a:rPr>
              <a:t>Formulate statistical conclusions while respecting data generation limitations.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03 Project Flow &amp; Execution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2009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457575"/>
            <a:ext cx="5405437" cy="9530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276350"/>
            <a:ext cx="5405437" cy="36968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Counter-Intuitive First-Digit Decay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828800"/>
            <a:ext cx="4891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In naturally occurring datasets spanning multiple orders of magnitude, the leading digits (1–9) do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not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appear with equal uniform probability (11.11%).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400300"/>
            <a:ext cx="48910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Instead, smaller digits appear substantially more frequently as the leading numeral than larger digits. Digit 1 leads in ~30.1% of cases, whereas digit 9 leads in only ~4.6%.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3629025"/>
            <a:ext cx="494823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Lato"/>
              </a:rPr>
              <a:t>MATHEMATICAL DEFINITION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212" y="1285875"/>
            <a:ext cx="5386387" cy="36778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121" y="3890962"/>
            <a:ext cx="4502943" cy="3482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04 Benford’s Law: The Core Concept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1170384" cy="695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459" y="1276350"/>
            <a:ext cx="1170533" cy="695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192" y="1276350"/>
            <a:ext cx="1170533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925" y="1276350"/>
            <a:ext cx="1170533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0658" y="1276350"/>
            <a:ext cx="1170533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392" y="1276350"/>
            <a:ext cx="1170533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4125" y="1276350"/>
            <a:ext cx="1170533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0858" y="1276350"/>
            <a:ext cx="1170533" cy="695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7591" y="1276350"/>
            <a:ext cx="1170384" cy="695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2162175"/>
            <a:ext cx="5405437" cy="2886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2687" y="2162175"/>
            <a:ext cx="5405437" cy="17811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2687" y="4114800"/>
            <a:ext cx="5405437" cy="933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8912" y="3286125"/>
            <a:ext cx="4891087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1400175"/>
            <a:ext cx="103703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1685925"/>
            <a:ext cx="103703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30.10%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7134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134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17.61%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3867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3867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12.49%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0600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0600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9.69%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333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333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7.92%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4067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4067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6.69%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0800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0800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5.80%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533" y="1400175"/>
            <a:ext cx="1037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533" y="1685925"/>
            <a:ext cx="10371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5.12%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4266" y="1400175"/>
            <a:ext cx="103703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1" i="0" u="none">
                <a:solidFill>
                  <a:srgbClr val="0F2B48"/>
                </a:solidFill>
                <a:latin typeface="Poppin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4266" y="1685925"/>
            <a:ext cx="103703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JetBrains Mono SemiBold"/>
              </a:rPr>
              <a:t>4.58%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8912" y="2362200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Calculating Expected 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8912" y="2714625"/>
            <a:ext cx="4891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These values are strictly theoretical parameters. For any dataset of size , the expected frequency is computed as: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0812" y="4276725"/>
            <a:ext cx="4967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Lato"/>
              </a:rPr>
              <a:t>BENCHMARK ILLUSTRATION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0812" y="4486275"/>
            <a:ext cx="49672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In a sample of </a:t>
            </a:r>
            <a:r>
              <a:rPr sz="1050" b="1" i="0" u="none">
                <a:solidFill>
                  <a:srgbClr val="334155"/>
                </a:solidFill>
                <a:latin typeface="Lato"/>
              </a:rPr>
              <a:t>N = 10,000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records, the expected count starting with digit 1 is </a:t>
            </a:r>
            <a:r>
              <a:rPr sz="1050" b="1" i="0" u="none">
                <a:solidFill>
                  <a:srgbClr val="334155"/>
                </a:solidFill>
                <a:latin typeface="Lato"/>
              </a:rPr>
              <a:t>10,000 × 0.3010 = 3,010 observations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, while digit 9 expects only </a:t>
            </a:r>
            <a:r>
              <a:rPr sz="1050" b="1" i="0" u="none">
                <a:solidFill>
                  <a:srgbClr val="334155"/>
                </a:solidFill>
                <a:latin typeface="Lato"/>
              </a:rPr>
              <a:t>458 observations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58537" y="2781300"/>
            <a:ext cx="110132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01012" y="3009900"/>
            <a:ext cx="175914" cy="1397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04 Theoretical First-Digit Distribution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838575"/>
            <a:ext cx="5405437" cy="933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276350"/>
            <a:ext cx="5405437" cy="454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Two Independent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828800"/>
            <a:ext cx="4891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A central tenet of our design is the rigorous separation between empirical data and theoretical expectations: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00500"/>
            <a:ext cx="4967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Lato"/>
              </a:rPr>
              <a:t>THE CORE STATISTICAL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210050"/>
            <a:ext cx="49672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3A8A"/>
                </a:solidFill>
                <a:latin typeface="Lato"/>
              </a:rPr>
              <a:t>Is the observed deviation between empirical and theoretical counts greater than what can reasonably be attributed to standard sampling variation?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2212" y="1285875"/>
          <a:ext cx="5386386" cy="452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Digit (d)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Observed Frequency (O_d)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Expected Frequency (E_d)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(30.1%)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(17.6%)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(12.5%)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(9.7%)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(7.9%)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(6.7%)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(5.8%)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(5.1%)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44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Extracted from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Calculated via Benford's Law (4.6%)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4875" y="24003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2400300"/>
            <a:ext cx="4700587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Observed Distribution (O_d):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Derived strictly from the dataset by extracting the first digit of every valid observation.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29337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2933700"/>
            <a:ext cx="4700587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Expected Distribution (E_d):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Determined analytically from the Benford logarithmic function multiplied by total sample size 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28975"/>
            <a:ext cx="110132" cy="1047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272212" y="2428875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56102" y="2428875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11878" y="2428875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212" y="2995612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56102" y="2995612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11878" y="2995612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2212" y="3562350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56102" y="3562350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11878" y="3562350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2212" y="3936206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56102" y="3936206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11878" y="3936206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212" y="4310062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56102" y="4310062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11878" y="4310062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2212" y="4683918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56102" y="4683918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11878" y="4683918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72212" y="5057775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56102" y="5057775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11878" y="5057775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72212" y="5431631"/>
            <a:ext cx="8838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56102" y="5431631"/>
            <a:ext cx="2155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311878" y="5431631"/>
            <a:ext cx="2346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05 Observed vs Expected Distributions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1481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928937"/>
            <a:ext cx="5405437" cy="1481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81525"/>
            <a:ext cx="5405437" cy="947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1276350"/>
            <a:ext cx="5405437" cy="42529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4414837"/>
            <a:ext cx="4891087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2438400"/>
            <a:ext cx="4891087" cy="91975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Null Hypothesis (H₀)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828800"/>
            <a:ext cx="48910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Lato"/>
              </a:rPr>
              <a:t>The observed first-digit distribution is </a:t>
            </a:r>
            <a:r>
              <a:rPr sz="1125" b="1" i="0" u="none">
                <a:solidFill>
                  <a:srgbClr val="1E293B"/>
                </a:solidFill>
                <a:latin typeface="Lato"/>
              </a:rPr>
              <a:t>consistent with</a:t>
            </a:r>
            <a:r>
              <a:rPr sz="1125" b="0" i="0" u="none">
                <a:solidFill>
                  <a:srgbClr val="1E293B"/>
                </a:solidFill>
                <a:latin typeface="Lato"/>
              </a:rPr>
              <a:t> the theoretical Benford distribution.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371725"/>
            <a:ext cx="489108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Any minor differences are attributed solely to random sampling fluctuations.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128962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Alternative Hypothesis (H₁)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481387"/>
            <a:ext cx="48910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Lato"/>
              </a:rPr>
              <a:t>The observed first-digit distribution </a:t>
            </a:r>
            <a:r>
              <a:rPr sz="1125" b="1" i="0" u="none">
                <a:solidFill>
                  <a:srgbClr val="1E293B"/>
                </a:solidFill>
                <a:latin typeface="Lato"/>
              </a:rPr>
              <a:t>differs significantly from</a:t>
            </a:r>
            <a:r>
              <a:rPr sz="1125" b="0" i="0" u="none">
                <a:solidFill>
                  <a:srgbClr val="1E293B"/>
                </a:solidFill>
                <a:latin typeface="Lato"/>
              </a:rPr>
              <a:t> the expected Benford distribution.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024312"/>
            <a:ext cx="489108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Differences exceed standard probabilistic bounds, requiring diagnostic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43450"/>
            <a:ext cx="4967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Lato"/>
              </a:rPr>
              <a:t>DECISION CRITERION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953000"/>
            <a:ext cx="49672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334155"/>
                </a:solidFill>
                <a:latin typeface="Lato"/>
              </a:rPr>
              <a:t>At significance level </a:t>
            </a:r>
            <a:r>
              <a:rPr sz="1087" b="1" i="0" u="none">
                <a:solidFill>
                  <a:srgbClr val="334155"/>
                </a:solidFill>
                <a:latin typeface="Lato"/>
              </a:rPr>
              <a:t>α = 0.05</a:t>
            </a:r>
            <a:r>
              <a:rPr sz="1087" b="0" i="0" u="none">
                <a:solidFill>
                  <a:srgbClr val="334155"/>
                </a:solidFill>
                <a:latin typeface="Lato"/>
              </a:rPr>
              <a:t> with </a:t>
            </a:r>
            <a:r>
              <a:rPr sz="1087" b="1" i="0" u="none">
                <a:solidFill>
                  <a:srgbClr val="334155"/>
                </a:solidFill>
                <a:latin typeface="Lato"/>
              </a:rPr>
              <a:t>degrees of freedom = 8</a:t>
            </a:r>
            <a:r>
              <a:rPr sz="1087" b="0" i="0" u="none">
                <a:solidFill>
                  <a:srgbClr val="334155"/>
                </a:solidFill>
                <a:latin typeface="Lato"/>
              </a:rPr>
              <a:t> (9 categories − 1), a </a:t>
            </a:r>
            <a:r>
              <a:rPr sz="1087" b="1" i="0" u="none">
                <a:solidFill>
                  <a:srgbClr val="334155"/>
                </a:solidFill>
                <a:latin typeface="Lato"/>
              </a:rPr>
              <a:t>p-value &lt; 0.05</a:t>
            </a:r>
            <a:r>
              <a:rPr sz="1087" b="0" i="0" u="none">
                <a:solidFill>
                  <a:srgbClr val="334155"/>
                </a:solidFill>
                <a:latin typeface="Lato"/>
              </a:rPr>
              <a:t> leads to rejection of H₀.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8912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Chi-Square Goodness-of-Fit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8912" y="1828800"/>
            <a:ext cx="4891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The test summarizes discrepancy across all 9 digit classes into a single standardized metric: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787" y="4557712"/>
            <a:ext cx="483560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B48"/>
                </a:solidFill>
                <a:latin typeface="Poppins"/>
              </a:rPr>
              <a:t>Statistical Output Pipeline: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1787" y="4814887"/>
            <a:ext cx="46053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The test statistic and asymptotic p-value serve as the objective basis for flagging datasets or subsets with anomalous digit behavior.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4287" y="4834383"/>
            <a:ext cx="118020" cy="14242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1468" y="2619375"/>
            <a:ext cx="2085826" cy="5578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06 Statistical Hypothesis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111442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285875"/>
          <a:ext cx="11125199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Syllabus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Application Within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Data Import &amp; 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Import, inspect, clean, and format raw numerical dataset fields in 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Summary Statistics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Evaluate mean, dispersion, skewness, and scale across numerical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Graphical Representation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Histograms, digit probability comparisons, and diagnostic comparison plots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Probability Distributions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Theoretical Benford logarithmic distribution as the reference null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Related /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Hypothesis Testing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Formulate H₀/H₁, establish significance thresholds, and draw conclusions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Chi-Square Goodness-of-Fit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Primary statistical engine comparing 9 observed vs expected digit categories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 /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Correlation /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Secondary research questions if dataset features allow multi-variable inquiry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Optional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Lato"/>
                        </a:rPr>
                        <a:t>t-Test / ANOVA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Group-wise subset comparisons if valid categorical strata are present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334155"/>
                          </a:solidFill>
                          <a:latin typeface="Lato"/>
                        </a:rPr>
                        <a:t>Optional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2064543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14700" y="2064543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89790" y="2064543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466975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4700" y="2466975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989790" y="2466975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869406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4700" y="2869406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89790" y="2869406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271837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4700" y="3271837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89790" y="3271837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3674268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14700" y="3674268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89790" y="3674268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4076700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14700" y="4076700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89790" y="4076700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3400" y="4479131"/>
            <a:ext cx="278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14700" y="4479131"/>
            <a:ext cx="6675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89790" y="4479131"/>
            <a:ext cx="1668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2183" y="1762125"/>
            <a:ext cx="523875" cy="221456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2183" y="2164556"/>
            <a:ext cx="523875" cy="221456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2183" y="2566987"/>
            <a:ext cx="523875" cy="22145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4539" y="2969418"/>
            <a:ext cx="919162" cy="22145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2183" y="3371850"/>
            <a:ext cx="523875" cy="221456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3589" y="3774281"/>
            <a:ext cx="881062" cy="221456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0745" y="4176712"/>
            <a:ext cx="666750" cy="221456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0745" y="4579143"/>
            <a:ext cx="666750" cy="221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07 Syllabus Mapping — BMAT202P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" y="3949494"/>
            <a:ext cx="5405437" cy="919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276350"/>
            <a:ext cx="5405437" cy="3243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847849"/>
            <a:ext cx="2703882" cy="809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793" y="1847850"/>
            <a:ext cx="2388393" cy="600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92" y="2672933"/>
            <a:ext cx="2388393" cy="600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2793" y="2562225"/>
            <a:ext cx="2388393" cy="600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Software Stack &amp;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76650"/>
            <a:ext cx="4967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Lato"/>
              </a:rPr>
              <a:t>REPRODUCIBILITY 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033836"/>
            <a:ext cx="4652962" cy="947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endParaRPr lang="en-IN" sz="1012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518"/>
              </a:lnSpc>
            </a:pPr>
            <a:endParaRPr lang="en-IN" sz="1012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518"/>
              </a:lnSpc>
            </a:pPr>
            <a:endParaRPr lang="en-IN" sz="1012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334155"/>
                </a:solidFill>
                <a:latin typeface="Lato"/>
              </a:rPr>
              <a:t>All analysis, from raw CSV ingestion to Chi-square p-value computation and plot generation, is scripted in R for 100% reproducible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8912" y="1476375"/>
            <a:ext cx="5135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B48"/>
                </a:solidFill>
                <a:latin typeface="Poppins"/>
              </a:rPr>
              <a:t>Expected Project 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2" y="1847850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Cleaned, documented real-world numerical dataset in CSV format.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5612" y="2176462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Descriptive summary statistics and exploratory distribution plots.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5612" y="2505075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Extracted observed first-digit frequency distribution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5612" y="2833687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Theoretical Benford expected frequency distributions.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5612" y="3162300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Comparative charts visualizing Observed vs. Benford Expected counts.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5612" y="3490912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Computed Chi-square test statistic ( ) and p-value.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5612" y="3819525"/>
            <a:ext cx="46243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Final statistical decisions and diagnostic anomaly flags.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1952625"/>
            <a:ext cx="962025" cy="1809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B48"/>
                </a:solidFill>
                <a:latin typeface="Lato"/>
              </a:rPr>
              <a:t> R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2171700"/>
            <a:ext cx="2178843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endParaRPr lang="en-IN" sz="900" b="0" i="0" u="none" dirty="0">
              <a:solidFill>
                <a:srgbClr val="64748B"/>
              </a:solidFill>
              <a:latin typeface="Lato"/>
            </a:endParaRPr>
          </a:p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64748B"/>
                </a:solidFill>
                <a:latin typeface="Lato"/>
              </a:rPr>
              <a:t>Primary engine for data cleaning &amp;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7568" y="1952625"/>
            <a:ext cx="1028700" cy="1809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B48"/>
                </a:solidFill>
                <a:latin typeface="Lato"/>
              </a:rPr>
              <a:t>RStudio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7568" y="2171700"/>
            <a:ext cx="21788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64748B"/>
                </a:solidFill>
                <a:latin typeface="Lato"/>
              </a:rPr>
              <a:t>Reproducible script &amp; analysis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2667000"/>
            <a:ext cx="981075" cy="1809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B48"/>
                </a:solidFill>
                <a:latin typeface="Lato"/>
              </a:rPr>
              <a:t>R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75" y="2886075"/>
            <a:ext cx="21788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64748B"/>
                </a:solidFill>
                <a:latin typeface="Lato"/>
              </a:rPr>
              <a:t>Targeted libraries for plots &amp;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7568" y="2667000"/>
            <a:ext cx="1447800" cy="1809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B48"/>
                </a:solidFill>
                <a:latin typeface="Lato"/>
              </a:rPr>
              <a:t>CSV / Tabular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7568" y="2886075"/>
            <a:ext cx="21788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Clean standardized input datasets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0662" y="3520678"/>
            <a:ext cx="142875" cy="160734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1971675"/>
            <a:ext cx="1714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7568" y="1971675"/>
            <a:ext cx="1905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2686050"/>
            <a:ext cx="1905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7568" y="2686050"/>
            <a:ext cx="1524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1876425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2205037"/>
            <a:ext cx="1524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2533650"/>
            <a:ext cx="15240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2862262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319087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3519487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8912" y="3848100"/>
            <a:ext cx="1524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08 Tools &amp; Expected Project Deliverables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76350"/>
            <a:ext cx="5405437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276350"/>
            <a:ext cx="5405437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500187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50" y="1476375"/>
            <a:ext cx="257032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65F46"/>
                </a:solidFill>
                <a:latin typeface="Poppins"/>
              </a:rPr>
              <a:t>What the Project WILL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1895475"/>
            <a:ext cx="46243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The analysis identifies </a:t>
            </a:r>
            <a:r>
              <a:rPr sz="1125" b="1" i="0" u="none">
                <a:solidFill>
                  <a:srgbClr val="0F2B48"/>
                </a:solidFill>
                <a:latin typeface="Lato"/>
              </a:rPr>
              <a:t>statistically significant departures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from expected logarithmic first-digit distributions.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438400"/>
            <a:ext cx="46243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It quantitatively flags records or subgroups whose leading-digit pattern has a low probability under random variation.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981325"/>
            <a:ext cx="46243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It highlights targeted subsets that merit closer auditing and domain review.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862" y="1481137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43712" y="1457325"/>
            <a:ext cx="29003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991B1B"/>
                </a:solidFill>
                <a:latin typeface="Poppins"/>
              </a:rPr>
              <a:t>What the Project Will NOT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6562" y="1876425"/>
            <a:ext cx="46624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A deviation is </a:t>
            </a:r>
            <a:r>
              <a:rPr sz="1125" b="1" i="0" u="none">
                <a:solidFill>
                  <a:srgbClr val="0F2B48"/>
                </a:solidFill>
                <a:latin typeface="Lato"/>
              </a:rPr>
              <a:t>NOT treated as conclusive proof of fraud, fabrication, or intentional manipulation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6562" y="2419350"/>
            <a:ext cx="46624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Legitimate explanations must always be evaluated: constrained ranges, psychological pricing thresholds, or non-multiplicative processes.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562" y="2962275"/>
            <a:ext cx="46624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Statistical flags guide audit priority; they do not replace contextual domain verification.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92405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46697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009900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2" y="1905000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2" y="2447925"/>
            <a:ext cx="1143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2" y="2990850"/>
            <a:ext cx="1143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10 Project Boundaries &amp; Interpretation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762" y="1688306"/>
            <a:ext cx="30384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3536156"/>
            <a:ext cx="4286250" cy="1081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536156"/>
            <a:ext cx="4286250" cy="1081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38900"/>
            <a:ext cx="111442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30841" y="2164556"/>
            <a:ext cx="253031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0F2B48"/>
                </a:solidFill>
                <a:latin typeface="Poppin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9112" y="2964656"/>
            <a:ext cx="3533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Questions, Suggestions &amp; Review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5100" y="4855368"/>
            <a:ext cx="6781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JetBrains Mono"/>
              </a:rPr>
              <a:t>Dr. Tharasi Dilleswar • Shaik Sameer (24BDS1154) • Joshita Chowdary (24BRS1313) • Slot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6543675"/>
            <a:ext cx="2152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Probability and Statistics Project • Review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850" y="654367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Benford’s Law &amp; Chi-Square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0725" y="3736181"/>
            <a:ext cx="39604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B48"/>
                </a:solidFill>
                <a:latin typeface="Poppins"/>
              </a:rPr>
              <a:t>Completed in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0725" y="4031456"/>
            <a:ext cx="37719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64748B"/>
                </a:solidFill>
                <a:latin typeface="Lato"/>
              </a:rPr>
              <a:t>Problem definition, Benford theoretical baseline, hypothesis testing framework, and syllabus alignment.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736181"/>
            <a:ext cx="39604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Poppins"/>
              </a:rPr>
              <a:t>Next Phase (Review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031456"/>
            <a:ext cx="37719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64748B"/>
                </a:solidFill>
                <a:latin typeface="Lato"/>
              </a:rPr>
              <a:t>Final dataset cleaning in R, first-digit extraction script execution, test statistic calculation, and diagnostic visualization.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192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250" y="1426368"/>
            <a:ext cx="100488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https://ekamperi.github.io/images/stars_benford_distrib.png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1659731"/>
            <a:ext cx="10048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ekamperi.github.io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B48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875" y="1028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1521</Words>
  <Application>Microsoft Office PowerPoint</Application>
  <PresentationFormat>Widescreen</PresentationFormat>
  <Paragraphs>227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JetBrains Mono</vt:lpstr>
      <vt:lpstr>JetBrains Mono SemiBold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 hyd</cp:lastModifiedBy>
  <cp:revision>2</cp:revision>
  <dcterms:created xsi:type="dcterms:W3CDTF">2013-01-27T09:14:16Z</dcterms:created>
  <dcterms:modified xsi:type="dcterms:W3CDTF">2026-09-08T10:46:06Z</dcterms:modified>
  <cp:category/>
</cp:coreProperties>
</file>