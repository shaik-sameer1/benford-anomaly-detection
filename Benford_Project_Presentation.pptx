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7A5D8E-45FD-DE27-42C6-B37614FC9B92}">
          <p14:sldIdLst>
            <p14:sldId id="256"/>
          </p14:sldIdLst>
        </p14:section>
        <p14:section name="Why" id="{0E2A7740-FB92-BDB4-2AD5-21CAD807A354}">
          <p14:sldIdLst>
            <p14:sldId id="257"/>
            <p14:sldId id="258"/>
          </p14:sldIdLst>
        </p14:section>
        <p14:section name="Data and method" id="{6C46E114-35CC-2CAD-FD33-752B25FA33A0}">
          <p14:sldIdLst>
            <p14:sldId id="259"/>
            <p14:sldId id="260"/>
            <p14:sldId id="261"/>
            <p14:sldId id="262"/>
          </p14:sldIdLst>
        </p14:section>
        <p14:section name="Implementation" id="{CC0B7EAB-3884-39A0-3241-DA77483997D8}">
          <p14:sldIdLst>
            <p14:sldId id="263"/>
            <p14:sldId id="264"/>
          </p14:sldIdLst>
        </p14:section>
        <p14:section name="Results" id="{EF2AD8DA-A818-215E-40E8-3D98DA514675}">
          <p14:sldIdLst>
            <p14:sldId id="265"/>
            <p14:sldId id="266"/>
            <p14:sldId id="267"/>
          </p14:sldIdLst>
        </p14:section>
        <p14:section name="Wrap-up" id="{80AD5917-5FE6-7AAD-3E47-5E3818A991DA}">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Expected share (%)</c:v>
                </c:pt>
              </c:strCache>
            </c:strRef>
          </c:tx>
          <c:spPr>
            <a:solidFill>
              <a:srgbClr val="E8892B"/>
            </a:solidFill>
            <a:effectLst/>
          </c:spPr>
          <c:invertIfNegative val="0"/>
          <c:dLbls>
            <c:numFmt formatCode="0.0" sourceLinked="0"/>
            <c:spPr>
              <a:noFill/>
              <a:ln>
                <a:noFill/>
              </a:ln>
              <a:effectLst/>
            </c:spPr>
            <c:txPr>
              <a:bodyPr/>
              <a:lstStyle/>
              <a:p>
                <a:pPr>
                  <a:defRPr sz="1200" b="0" i="0" u="none" strike="noStrike">
                    <a:solidFill>
                      <a:srgbClr val="2423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c:v>
                </c:pt>
                <c:pt idx="1">
                  <c:v>2</c:v>
                </c:pt>
                <c:pt idx="2">
                  <c:v>3</c:v>
                </c:pt>
                <c:pt idx="3">
                  <c:v>4</c:v>
                </c:pt>
                <c:pt idx="4">
                  <c:v>5</c:v>
                </c:pt>
                <c:pt idx="5">
                  <c:v>6</c:v>
                </c:pt>
                <c:pt idx="6">
                  <c:v>7</c:v>
                </c:pt>
                <c:pt idx="7">
                  <c:v>8</c:v>
                </c:pt>
                <c:pt idx="8">
                  <c:v>9</c:v>
                </c:pt>
              </c:strCache>
            </c:strRef>
          </c:cat>
          <c:val>
            <c:numRef>
              <c:f>Sheet1!$B$2:$B$10</c:f>
              <c:numCache>
                <c:formatCode>General</c:formatCode>
                <c:ptCount val="9"/>
                <c:pt idx="0">
                  <c:v>30.1</c:v>
                </c:pt>
                <c:pt idx="1">
                  <c:v>17.600000000000001</c:v>
                </c:pt>
                <c:pt idx="2">
                  <c:v>12.5</c:v>
                </c:pt>
                <c:pt idx="3">
                  <c:v>9.6999999999999993</c:v>
                </c:pt>
                <c:pt idx="4">
                  <c:v>7.9</c:v>
                </c:pt>
                <c:pt idx="5">
                  <c:v>6.7</c:v>
                </c:pt>
                <c:pt idx="6">
                  <c:v>5.8</c:v>
                </c:pt>
                <c:pt idx="7">
                  <c:v>5.0999999999999996</c:v>
                </c:pt>
                <c:pt idx="8">
                  <c:v>4.5999999999999996</c:v>
                </c:pt>
              </c:numCache>
            </c:numRef>
          </c:val>
          <c:extLst>
            <c:ext xmlns:c16="http://schemas.microsoft.com/office/drawing/2014/chart" uri="{C3380CC4-5D6E-409C-BE32-E72D297353CC}">
              <c16:uniqueId val="{00000000-F0AC-4A69-9A44-B59F9A3E34C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title>
          <c:tx>
            <c:rich>
              <a:bodyPr/>
              <a:lstStyle/>
              <a:p>
                <a:pPr>
                  <a:defRPr sz="1200" b="0" i="0" u="none" strike="noStrike">
                    <a:solidFill>
                      <a:srgbClr val="6B6459"/>
                    </a:solidFill>
                    <a:latin typeface="+mn-lt"/>
                  </a:defRPr>
                </a:pPr>
                <a:r>
                  <a:rPr lang="en-IN" sz="1200" b="0" i="0" u="none" strike="noStrike">
                    <a:solidFill>
                      <a:srgbClr val="6B6459"/>
                    </a:solidFill>
                    <a:latin typeface="+mn-lt"/>
                  </a:rPr>
                  <a:t>Leading digit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4231F"/>
                </a:solidFill>
                <a:latin typeface="+mn-lt"/>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9525" cap="flat">
              <a:solidFill>
                <a:srgbClr val="D8D0BE"/>
              </a:solidFill>
              <a:prstDash val="solid"/>
              <a:round/>
            </a:ln>
          </c:spPr>
        </c:majorGridlines>
        <c:title>
          <c:tx>
            <c:rich>
              <a:bodyPr/>
              <a:lstStyle/>
              <a:p>
                <a:pPr>
                  <a:defRPr sz="1200" b="0" i="0" u="none" strike="noStrike">
                    <a:solidFill>
                      <a:srgbClr val="6B6459"/>
                    </a:solidFill>
                    <a:latin typeface="+mn-lt"/>
                  </a:defRPr>
                </a:pPr>
                <a:r>
                  <a:rPr lang="en-IN" sz="1200" b="0" i="0" u="none" strike="noStrike">
                    <a:solidFill>
                      <a:srgbClr val="6B6459"/>
                    </a:solidFill>
                    <a:latin typeface="+mn-lt"/>
                  </a:rPr>
                  <a:t>Expected share of numbers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459"/>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447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in one breath: 'We asked whether plain statistics can help spot numbers that look made up.' Mention the course (Probability and Statistics, theory and lab), Dr. Tharasi Dilleswar, and slot F1. Keep this under 20 seconds. Next slide: why this problem is worth caring about.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concrete. Imagine being handed a spreadsheet with tens of thousands of numbers and asked 'does anything look off?' You can't do that by eye. Real numbers tend to follow a quiet digit pattern, and people inventing numbers often don't reproduce it. That makes digits a cheap first filter. Stress the sticky note: we flag, we don't convict. Next: the exact question we asked.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out loud, slowly. Then walk the four objectives left to right: screen real data, check suitability, test with planted errors, and package it as something reusable. Close on the italic line: this project finds unusual patterns, it does not automatically prove fraud. (Check that the wording of the question matches your report.) Next: the real dataset.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real dataset is the World Bank's World Development Indicators: indicators for every country, year by year. Explain that we prepared it in three simple steps. The important point on the right: we look at the data in two ways. In the latest-year view each country appears once, so the observations are independent. In the pooled view the same country shows up again and again, so the independence assumption behind chi-square is weaker. Fill in the exact row counts from your report before presenting. Next: the end-to-end method.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story on one slide, read left to right and then the second row. The step to emphasise is number four: before any test, we ask whether the indicator is even suited to Benford's Law. Many numbers (for example tightly bounded ones) simply aren't. Steps five to seven are the statistics, and step eight is the human part: reading the flags sensibly. Next: what Benford's Law actually expects.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first, then the formula. For many real-world datasets that spread across several orders of magnitude, the number 1 leads about 30 percent of the time and 9 only about 4.6 percent. That uneven staircase is our yardstick. Say clearly: it only works for suitable data, which is why we test suitability before we trust any result. Next: the statistical tools we use to compare real digit counts against this curve.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per card. Chi-square asks 'is the gap bigger than chance?'. The weakness: with very large samples even tiny gaps look significant, which is why we also use MAD, which measures the size of the gap itself, and effect size. Residuals tell us which digits drive a flag. Because we test many indicators, we adjust p-values. And suitability comes first, because a clean test on an unsuitable dataset is still meaningless. Keep formulas off the slide; explain purpose only. Next: how this is all built in R and Shiny.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picture left to right. Two kinds of input: real World Bank data and synthetic data we create ourselves. Both flow through the R functions and the analysis pipeline. Out the other side come CSV tables, figures and reports, and the Shiny dashboard lets anyone explore the same analysis interactively. Underneath it all is an automated test suite. Be explicit: there is no machine learning or AI model here, only classical statistical tests. Next: the dashboard itself.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genuine screenshot from your dashboard here, and number the three regions to match the callouts: where users choose data, where suitability is shown, and where the first-digit results appear. If you can, do a short live demo instead. Make sure the suitability label shown for land area matches the final corrected result (see the open issue on the next slide). Next: what the real-data results show.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table from outputs/tables/chi_square_results.csv, suitability_summary.csv and anomaly_flags.csv, not from memory. Present the findings honestly: some indicators will conform, some will not, and one is flagged as unsuitable. Explain the difference between a statistically significant result and a practically large one (MAD). RESOLVE THE LAND-AREA CONTRADICTION BEFORE YOU PRESENT: the report questions its suitability while the dashboard says it is suitable. Decide which is right from the CSV and the code, then update the report, dashboard and this slide so they agree. Also say clearly which results use the independent latest-year cross-section and which use pooled, repeated country-years. Next: testing the method on data where we know the truth.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real data has no ground truth, we create synthetic data and alter it in three known ways: swapping in round numbers, biasing the leading digits, and multiplying only part of the values. Then we measure how often the method notices. Use only the real detection rates from your experiment output, and be candid about the harder cases: subtle or partial changes are naturally harder to detect. Label everything on this slide as synthetic. Next: how we checked our own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strictly honest here. There is a difference between 'the development tool reported these tests as passing' and 'we re-ran them ourselves and saw them pass'. Show both columns, and only fill in numbers you can support from logs. Then name the three layers of checking: the automated test suite, the pipeline verification, and dashboard testing. Do not claim a test passed unless a log shows it. Next: limits, conclusion and future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limitations, because it shows you understand the method: suitability, rounding and bounds, multiple testing, large-sample sensitivity, and non-independent country-year rows. Then the conclusion: a transparent screening tool, not a lie detector. Future work is clearly labelled proposed, not completed: better-suited datasets, stronger validation, improved visualisation. If the land-area inconsistency is still unresolved, say so here rather than hiding it. Next: references and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thank-you box and invite questions. Likely questions: why Benford's Law, why chi-square and MAD together, how you chose suitability rules, and what the synthetic experiment shows. Check this reference list against the one in your report and add or remove entries so it matches what you actually used (for example, any paper behind the MAD conformity bands).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640080" y="6419088"/>
            <a:ext cx="8229600" cy="274320"/>
          </a:xfrm>
          <a:prstGeom prst="rect">
            <a:avLst/>
          </a:prstGeom>
          <a:noFill/>
          <a:ln/>
        </p:spPr>
        <p:txBody>
          <a:bodyPr wrap="square" lIns="0" tIns="0" rIns="0" bIns="0" rtlCol="0" anchor="ctr"/>
          <a:lstStyle/>
          <a:p>
            <a:pPr marL="0" indent="0">
              <a:buNone/>
            </a:pPr>
            <a:r>
              <a:rPr lang="en-US" sz="1000" dirty="0">
                <a:solidFill>
                  <a:schemeClr val="tx2"/>
                </a:solidFill>
              </a:rPr>
              <a:t>Can Statistics Detect Fake Data?  ·  VIT Vellore  ·  BMAT202L / BMAT202P</a:t>
            </a:r>
            <a:endParaRPr lang="en-US" sz="10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6583680" cy="868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photo" descr="Pencil resting on a printed chart"/>
          <p:cNvPicPr>
            <a:picLocks noChangeAspect="1"/>
          </p:cNvPicPr>
          <p:nvPr/>
        </p:nvPicPr>
        <p:blipFill>
          <a:blip r:embed="rId3"/>
          <a:stretch>
            <a:fillRect/>
          </a:stretch>
        </p:blipFill>
        <p:spPr>
          <a:xfrm>
            <a:off x="0" y="0"/>
            <a:ext cx="6766560" cy="6858000"/>
          </a:xfrm>
          <a:prstGeom prst="rect">
            <a:avLst/>
          </a:prstGeom>
        </p:spPr>
      </p:pic>
      <p:sp>
        <p:nvSpPr>
          <p:cNvPr id="3" name="Text 0"/>
          <p:cNvSpPr txBox="1"/>
          <p:nvPr/>
        </p:nvSpPr>
        <p:spPr>
          <a:xfrm>
            <a:off x="7223760" y="594360"/>
            <a:ext cx="4480560" cy="274320"/>
          </a:xfrm>
          <a:prstGeom prst="rect">
            <a:avLst/>
          </a:prstGeom>
          <a:noFill/>
          <a:ln/>
        </p:spPr>
        <p:txBody>
          <a:bodyPr wrap="square" lIns="0" tIns="0" rIns="0" bIns="0" rtlCol="0" anchor="t"/>
          <a:lstStyle/>
          <a:p>
            <a:pPr marL="0" indent="0">
              <a:buNone/>
            </a:pPr>
            <a:r>
              <a:rPr lang="en-US" sz="1200" b="1" dirty="0">
                <a:solidFill>
                  <a:schemeClr val="accent1"/>
                </a:solidFill>
              </a:rPr>
              <a:t>BMAT202L  ·  BMAT202P  |  SLOT F1</a:t>
            </a:r>
            <a:endParaRPr lang="en-US" sz="1200" dirty="0"/>
          </a:p>
        </p:txBody>
      </p:sp>
      <p:sp>
        <p:nvSpPr>
          <p:cNvPr id="4" name="Text 1"/>
          <p:cNvSpPr txBox="1"/>
          <p:nvPr/>
        </p:nvSpPr>
        <p:spPr>
          <a:xfrm>
            <a:off x="7223760" y="1051560"/>
            <a:ext cx="4480560" cy="173736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Can Statistics Detect Fake Data?</a:t>
            </a:r>
            <a:endParaRPr lang="en-US" sz="3800" dirty="0"/>
          </a:p>
        </p:txBody>
      </p:sp>
      <p:sp>
        <p:nvSpPr>
          <p:cNvPr id="5" name="Text 2"/>
          <p:cNvSpPr txBox="1"/>
          <p:nvPr/>
        </p:nvSpPr>
        <p:spPr>
          <a:xfrm>
            <a:off x="7223760" y="2880360"/>
            <a:ext cx="4480560" cy="914400"/>
          </a:xfrm>
          <a:prstGeom prst="rect">
            <a:avLst/>
          </a:prstGeom>
          <a:noFill/>
          <a:ln/>
        </p:spPr>
        <p:txBody>
          <a:bodyPr wrap="square" lIns="0" tIns="0" rIns="0" bIns="0" rtlCol="0" anchor="t"/>
          <a:lstStyle/>
          <a:p>
            <a:pPr marL="0" indent="0">
              <a:buNone/>
            </a:pPr>
            <a:r>
              <a:rPr lang="en-US" sz="1500" dirty="0">
                <a:solidFill>
                  <a:schemeClr val="bg2"/>
                </a:solidFill>
              </a:rPr>
              <a:t>Identifying anomalies and outliers in real datasets using Benford’s Law and Chi-Square Goodness-of-Fit</a:t>
            </a:r>
            <a:endParaRPr lang="en-US" sz="1500" dirty="0"/>
          </a:p>
        </p:txBody>
      </p:sp>
      <p:sp>
        <p:nvSpPr>
          <p:cNvPr id="6" name="cover rule"/>
          <p:cNvSpPr/>
          <p:nvPr/>
        </p:nvSpPr>
        <p:spPr>
          <a:xfrm>
            <a:off x="7223760" y="4023360"/>
            <a:ext cx="4480560" cy="0"/>
          </a:xfrm>
          <a:prstGeom prst="line">
            <a:avLst/>
          </a:prstGeom>
          <a:noFill/>
          <a:ln w="19050">
            <a:solidFill>
              <a:schemeClr val="accent1"/>
            </a:solidFill>
            <a:prstDash val="solid"/>
          </a:ln>
        </p:spPr>
      </p:sp>
      <p:sp>
        <p:nvSpPr>
          <p:cNvPr id="7" name="Text 4"/>
          <p:cNvSpPr txBox="1"/>
          <p:nvPr/>
        </p:nvSpPr>
        <p:spPr>
          <a:xfrm>
            <a:off x="7223760" y="4206240"/>
            <a:ext cx="4480560" cy="731520"/>
          </a:xfrm>
          <a:prstGeom prst="rect">
            <a:avLst/>
          </a:prstGeom>
          <a:noFill/>
          <a:ln/>
        </p:spPr>
        <p:txBody>
          <a:bodyPr wrap="square" lIns="0" tIns="0" rIns="0" bIns="0" rtlCol="0" anchor="t"/>
          <a:lstStyle/>
          <a:p>
            <a:pPr marL="0" indent="0">
              <a:buNone/>
            </a:pPr>
            <a:r>
              <a:rPr lang="en-US" sz="1700" b="1" dirty="0">
                <a:solidFill>
                  <a:schemeClr val="bg1"/>
                </a:solidFill>
              </a:rPr>
              <a:t>Shaik Sameer — 24BDS1154</a:t>
            </a:r>
            <a:endParaRPr lang="en-US" sz="1700" dirty="0"/>
          </a:p>
          <a:p>
            <a:pPr marL="0" indent="0">
              <a:buNone/>
            </a:pPr>
            <a:r>
              <a:rPr lang="en-US" sz="1700" dirty="0">
                <a:solidFill>
                  <a:schemeClr val="bg1"/>
                </a:solidFill>
              </a:rPr>
              <a:t>Joshita Chowdary — 24BRS1313</a:t>
            </a:r>
            <a:endParaRPr lang="en-US" sz="1700" dirty="0"/>
          </a:p>
        </p:txBody>
      </p:sp>
      <p:sp>
        <p:nvSpPr>
          <p:cNvPr id="8" name="Text 5"/>
          <p:cNvSpPr txBox="1"/>
          <p:nvPr/>
        </p:nvSpPr>
        <p:spPr>
          <a:xfrm>
            <a:off x="7223760" y="5074920"/>
            <a:ext cx="4480560" cy="640080"/>
          </a:xfrm>
          <a:prstGeom prst="rect">
            <a:avLst/>
          </a:prstGeom>
          <a:noFill/>
          <a:ln/>
        </p:spPr>
        <p:txBody>
          <a:bodyPr wrap="square" lIns="0" tIns="0" rIns="0" bIns="0" rtlCol="0" anchor="t"/>
          <a:lstStyle/>
          <a:p>
            <a:pPr marL="0" indent="0">
              <a:buNone/>
            </a:pPr>
            <a:r>
              <a:rPr lang="en-US" sz="1400" dirty="0">
                <a:solidFill>
                  <a:schemeClr val="bg2"/>
                </a:solidFill>
              </a:rPr>
              <a:t>Faculty: Dr. Tharasi Dilleswar</a:t>
            </a:r>
            <a:endParaRPr lang="en-US" sz="1400" dirty="0"/>
          </a:p>
          <a:p>
            <a:pPr marL="0" indent="0">
              <a:buNone/>
            </a:pPr>
            <a:r>
              <a:rPr lang="en-US" sz="1400" dirty="0">
                <a:solidFill>
                  <a:schemeClr val="bg2"/>
                </a:solidFill>
              </a:rPr>
              <a:t>VIT Chennai</a:t>
            </a:r>
          </a:p>
          <a:p>
            <a:pPr marL="0" indent="0">
              <a:buNone/>
            </a:pPr>
            <a:endParaRPr lang="en-US" sz="1400" dirty="0"/>
          </a:p>
        </p:txBody>
      </p:sp>
      <p:sp>
        <p:nvSpPr>
          <p:cNvPr id="9" name="Text 6"/>
          <p:cNvSpPr txBox="1"/>
          <p:nvPr/>
        </p:nvSpPr>
        <p:spPr>
          <a:xfrm>
            <a:off x="7223760" y="5943600"/>
            <a:ext cx="4480560" cy="457200"/>
          </a:xfrm>
          <a:prstGeom prst="rect">
            <a:avLst/>
          </a:prstGeom>
          <a:noFill/>
          <a:ln/>
        </p:spPr>
        <p:txBody>
          <a:bodyPr wrap="square" lIns="0" tIns="0" rIns="0" bIns="0" rtlCol="0" anchor="t"/>
          <a:lstStyle/>
          <a:p>
            <a:pPr marL="0" indent="0">
              <a:buNone/>
            </a:pPr>
            <a:r>
              <a:rPr lang="en-US" sz="1200" dirty="0">
                <a:solidFill>
                  <a:schemeClr val="bg2"/>
                </a:solidFill>
              </a:rPr>
              <a:t>Probability and Statistics Lab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Nobody can eyeball a million numbers</a:t>
            </a:r>
            <a:endParaRPr lang="en-US" sz="3400" dirty="0"/>
          </a:p>
        </p:txBody>
      </p:sp>
      <p:sp>
        <p:nvSpPr>
          <p:cNvPr id="3" name="badge1"/>
          <p:cNvSpPr/>
          <p:nvPr/>
        </p:nvSpPr>
        <p:spPr>
          <a:xfrm>
            <a:off x="640080" y="1645920"/>
            <a:ext cx="548640" cy="548640"/>
          </a:xfrm>
          <a:prstGeom prst="ellipse">
            <a:avLst/>
          </a:prstGeom>
          <a:solidFill>
            <a:schemeClr val="accent1"/>
          </a:solidFill>
          <a:ln/>
        </p:spPr>
      </p:sp>
      <p:sp>
        <p:nvSpPr>
          <p:cNvPr id="4" name="Text 2"/>
          <p:cNvSpPr txBox="1"/>
          <p:nvPr/>
        </p:nvSpPr>
        <p:spPr>
          <a:xfrm>
            <a:off x="640080" y="164592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5" name="Text 3"/>
          <p:cNvSpPr txBox="1"/>
          <p:nvPr/>
        </p:nvSpPr>
        <p:spPr>
          <a:xfrm>
            <a:off x="1417320" y="1627632"/>
            <a:ext cx="5669280" cy="365760"/>
          </a:xfrm>
          <a:prstGeom prst="rect">
            <a:avLst/>
          </a:prstGeom>
          <a:noFill/>
          <a:ln/>
        </p:spPr>
        <p:txBody>
          <a:bodyPr wrap="square" lIns="0" tIns="0" rIns="0" bIns="0" rtlCol="0" anchor="t"/>
          <a:lstStyle/>
          <a:p>
            <a:pPr marL="0" indent="0">
              <a:buNone/>
            </a:pPr>
            <a:r>
              <a:rPr lang="en-US" sz="2100" b="1" dirty="0">
                <a:solidFill>
                  <a:schemeClr val="tx1"/>
                </a:solidFill>
              </a:rPr>
              <a:t>Big tables hide oddities</a:t>
            </a:r>
            <a:endParaRPr lang="en-US" sz="2100" dirty="0"/>
          </a:p>
        </p:txBody>
      </p:sp>
      <p:sp>
        <p:nvSpPr>
          <p:cNvPr id="6" name="Text 4"/>
          <p:cNvSpPr txBox="1"/>
          <p:nvPr/>
        </p:nvSpPr>
        <p:spPr>
          <a:xfrm>
            <a:off x="1417320" y="2057400"/>
            <a:ext cx="5669280" cy="822960"/>
          </a:xfrm>
          <a:prstGeom prst="rect">
            <a:avLst/>
          </a:prstGeom>
          <a:noFill/>
          <a:ln/>
        </p:spPr>
        <p:txBody>
          <a:bodyPr wrap="square" lIns="0" tIns="0" rIns="0" bIns="0" rtlCol="0" anchor="t"/>
          <a:lstStyle/>
          <a:p>
            <a:pPr marL="0" indent="0">
              <a:buNone/>
            </a:pPr>
            <a:r>
              <a:rPr lang="en-US" sz="1600" dirty="0">
                <a:solidFill>
                  <a:schemeClr val="tx2"/>
                </a:solidFill>
              </a:rPr>
              <a:t>Thousands of country-year values scroll past; a person checking by hand will miss patterns.</a:t>
            </a:r>
            <a:endParaRPr lang="en-US" sz="1600" dirty="0"/>
          </a:p>
        </p:txBody>
      </p:sp>
      <p:sp>
        <p:nvSpPr>
          <p:cNvPr id="7" name="badge2"/>
          <p:cNvSpPr/>
          <p:nvPr/>
        </p:nvSpPr>
        <p:spPr>
          <a:xfrm>
            <a:off x="640080" y="3108960"/>
            <a:ext cx="548640" cy="548640"/>
          </a:xfrm>
          <a:prstGeom prst="ellipse">
            <a:avLst/>
          </a:prstGeom>
          <a:solidFill>
            <a:schemeClr val="accent1"/>
          </a:solidFill>
          <a:ln/>
        </p:spPr>
      </p:sp>
      <p:sp>
        <p:nvSpPr>
          <p:cNvPr id="8" name="Text 6"/>
          <p:cNvSpPr txBox="1"/>
          <p:nvPr/>
        </p:nvSpPr>
        <p:spPr>
          <a:xfrm>
            <a:off x="640080" y="310896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9" name="Text 7"/>
          <p:cNvSpPr txBox="1"/>
          <p:nvPr/>
        </p:nvSpPr>
        <p:spPr>
          <a:xfrm>
            <a:off x="1417320" y="3090672"/>
            <a:ext cx="5669280" cy="365760"/>
          </a:xfrm>
          <a:prstGeom prst="rect">
            <a:avLst/>
          </a:prstGeom>
          <a:noFill/>
          <a:ln/>
        </p:spPr>
        <p:txBody>
          <a:bodyPr wrap="square" lIns="0" tIns="0" rIns="0" bIns="0" rtlCol="0" anchor="t"/>
          <a:lstStyle/>
          <a:p>
            <a:pPr marL="0" indent="0">
              <a:buNone/>
            </a:pPr>
            <a:r>
              <a:rPr lang="en-US" sz="2100" b="1" dirty="0">
                <a:solidFill>
                  <a:schemeClr val="tx1"/>
                </a:solidFill>
              </a:rPr>
              <a:t>Invented numbers leak habits</a:t>
            </a:r>
            <a:endParaRPr lang="en-US" sz="2100" dirty="0"/>
          </a:p>
        </p:txBody>
      </p:sp>
      <p:sp>
        <p:nvSpPr>
          <p:cNvPr id="10" name="Text 8"/>
          <p:cNvSpPr txBox="1"/>
          <p:nvPr/>
        </p:nvSpPr>
        <p:spPr>
          <a:xfrm>
            <a:off x="1417320" y="3520440"/>
            <a:ext cx="5669280" cy="822960"/>
          </a:xfrm>
          <a:prstGeom prst="rect">
            <a:avLst/>
          </a:prstGeom>
          <a:noFill/>
          <a:ln/>
        </p:spPr>
        <p:txBody>
          <a:bodyPr wrap="square" lIns="0" tIns="0" rIns="0" bIns="0" rtlCol="0" anchor="t"/>
          <a:lstStyle/>
          <a:p>
            <a:pPr marL="0" indent="0">
              <a:buNone/>
            </a:pPr>
            <a:r>
              <a:rPr lang="en-US" sz="1600" dirty="0">
                <a:solidFill>
                  <a:schemeClr val="tx2"/>
                </a:solidFill>
              </a:rPr>
              <a:t>People favour round values and certain leading digits, and that can leave a trace.</a:t>
            </a:r>
            <a:endParaRPr lang="en-US" sz="1600" dirty="0"/>
          </a:p>
        </p:txBody>
      </p:sp>
      <p:sp>
        <p:nvSpPr>
          <p:cNvPr id="11" name="badge3"/>
          <p:cNvSpPr/>
          <p:nvPr/>
        </p:nvSpPr>
        <p:spPr>
          <a:xfrm>
            <a:off x="640080" y="4572000"/>
            <a:ext cx="548640" cy="548640"/>
          </a:xfrm>
          <a:prstGeom prst="ellipse">
            <a:avLst/>
          </a:prstGeom>
          <a:solidFill>
            <a:schemeClr val="accent1"/>
          </a:solidFill>
          <a:ln/>
        </p:spPr>
      </p:sp>
      <p:sp>
        <p:nvSpPr>
          <p:cNvPr id="12" name="Text 10"/>
          <p:cNvSpPr txBox="1"/>
          <p:nvPr/>
        </p:nvSpPr>
        <p:spPr>
          <a:xfrm>
            <a:off x="640080" y="457200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3" name="Text 11"/>
          <p:cNvSpPr txBox="1"/>
          <p:nvPr/>
        </p:nvSpPr>
        <p:spPr>
          <a:xfrm>
            <a:off x="1417320" y="4553712"/>
            <a:ext cx="5669280" cy="365760"/>
          </a:xfrm>
          <a:prstGeom prst="rect">
            <a:avLst/>
          </a:prstGeom>
          <a:noFill/>
          <a:ln/>
        </p:spPr>
        <p:txBody>
          <a:bodyPr wrap="square" lIns="0" tIns="0" rIns="0" bIns="0" rtlCol="0" anchor="t"/>
          <a:lstStyle/>
          <a:p>
            <a:pPr marL="0" indent="0">
              <a:buNone/>
            </a:pPr>
            <a:r>
              <a:rPr lang="en-US" sz="2100" b="1" dirty="0">
                <a:solidFill>
                  <a:schemeClr val="tx1"/>
                </a:solidFill>
              </a:rPr>
              <a:t>Statistics gives us a first filter</a:t>
            </a:r>
            <a:endParaRPr lang="en-US" sz="2100" dirty="0"/>
          </a:p>
        </p:txBody>
      </p:sp>
      <p:sp>
        <p:nvSpPr>
          <p:cNvPr id="14" name="Text 12"/>
          <p:cNvSpPr txBox="1"/>
          <p:nvPr/>
        </p:nvSpPr>
        <p:spPr>
          <a:xfrm>
            <a:off x="1417320" y="4983480"/>
            <a:ext cx="5669280" cy="822960"/>
          </a:xfrm>
          <a:prstGeom prst="rect">
            <a:avLst/>
          </a:prstGeom>
          <a:noFill/>
          <a:ln/>
        </p:spPr>
        <p:txBody>
          <a:bodyPr wrap="square" lIns="0" tIns="0" rIns="0" bIns="0" rtlCol="0" anchor="t"/>
          <a:lstStyle/>
          <a:p>
            <a:pPr marL="0" indent="0">
              <a:buNone/>
            </a:pPr>
            <a:r>
              <a:rPr lang="en-US" sz="1600" dirty="0">
                <a:solidFill>
                  <a:schemeClr val="tx2"/>
                </a:solidFill>
              </a:rPr>
              <a:t>Test the digits, then take a closer look only where they disagree with what we expect.</a:t>
            </a:r>
            <a:endParaRPr lang="en-US" sz="1600" dirty="0"/>
          </a:p>
        </p:txBody>
      </p:sp>
      <p:sp>
        <p:nvSpPr>
          <p:cNvPr id="15" name="dark card"/>
          <p:cNvSpPr/>
          <p:nvPr/>
        </p:nvSpPr>
        <p:spPr>
          <a:xfrm>
            <a:off x="7680960" y="1645920"/>
            <a:ext cx="3840480" cy="3017520"/>
          </a:xfrm>
          <a:prstGeom prst="roundRect">
            <a:avLst>
              <a:gd name="adj" fmla="val 2424"/>
            </a:avLst>
          </a:prstGeom>
          <a:solidFill>
            <a:schemeClr val="tx1"/>
          </a:solidFill>
          <a:ln/>
          <a:effectLst>
            <a:outerShdw blurRad="76200" dist="25400" dir="5400000" algn="bl" rotWithShape="0">
              <a:srgbClr val="000000">
                <a:alpha val="14000"/>
              </a:srgbClr>
            </a:outerShdw>
          </a:effectLst>
        </p:spPr>
      </p:sp>
      <p:sp>
        <p:nvSpPr>
          <p:cNvPr id="16" name="Text 14"/>
          <p:cNvSpPr txBox="1"/>
          <p:nvPr/>
        </p:nvSpPr>
        <p:spPr>
          <a:xfrm>
            <a:off x="8001000" y="1920240"/>
            <a:ext cx="3200400" cy="274320"/>
          </a:xfrm>
          <a:prstGeom prst="rect">
            <a:avLst/>
          </a:prstGeom>
          <a:noFill/>
          <a:ln/>
        </p:spPr>
        <p:txBody>
          <a:bodyPr wrap="square" lIns="0" tIns="0" rIns="0" bIns="0" rtlCol="0" anchor="t"/>
          <a:lstStyle/>
          <a:p>
            <a:pPr marL="0" indent="0">
              <a:buNone/>
            </a:pPr>
            <a:r>
              <a:rPr lang="en-US" sz="1200" b="1" dirty="0">
                <a:solidFill>
                  <a:schemeClr val="accent1"/>
                </a:solidFill>
              </a:rPr>
              <a:t>WHY DIGITS?</a:t>
            </a:r>
            <a:endParaRPr lang="en-US" sz="1200" dirty="0"/>
          </a:p>
        </p:txBody>
      </p:sp>
      <p:sp>
        <p:nvSpPr>
          <p:cNvPr id="17" name="Text 15"/>
          <p:cNvSpPr txBox="1"/>
          <p:nvPr/>
        </p:nvSpPr>
        <p:spPr>
          <a:xfrm>
            <a:off x="8001000" y="2286000"/>
            <a:ext cx="3200400" cy="2103120"/>
          </a:xfrm>
          <a:prstGeom prst="rect">
            <a:avLst/>
          </a:prstGeom>
          <a:noFill/>
          <a:ln/>
        </p:spPr>
        <p:txBody>
          <a:bodyPr wrap="square" lIns="0" tIns="0" rIns="0" bIns="0" rtlCol="0" anchor="t"/>
          <a:lstStyle/>
          <a:p>
            <a:pPr marL="0" indent="0">
              <a:buNone/>
            </a:pPr>
            <a:r>
              <a:rPr lang="en-US" sz="2500" dirty="0">
                <a:solidFill>
                  <a:schemeClr val="bg1"/>
                </a:solidFill>
                <a:latin typeface="Cambria" pitchFamily="34" charset="0"/>
                <a:ea typeface="Cambria" pitchFamily="34" charset="-122"/>
                <a:cs typeface="Cambria" pitchFamily="34" charset="-120"/>
              </a:rPr>
              <a:t>Real-world numbers follow quiet patterns. Made-up ones often don’t.</a:t>
            </a:r>
            <a:endParaRPr lang="en-US" sz="2500" dirty="0"/>
          </a:p>
        </p:txBody>
      </p:sp>
      <p:sp>
        <p:nvSpPr>
          <p:cNvPr id="18" name="sticky note"/>
          <p:cNvSpPr/>
          <p:nvPr/>
        </p:nvSpPr>
        <p:spPr>
          <a:xfrm rot="-120000">
            <a:off x="7498080" y="4892040"/>
            <a:ext cx="4114800" cy="1234440"/>
          </a:xfrm>
          <a:prstGeom prst="rect">
            <a:avLst/>
          </a:prstGeom>
          <a:solidFill>
            <a:schemeClr val="accent6"/>
          </a:solidFill>
          <a:ln/>
          <a:effectLst>
            <a:outerShdw blurRad="76200" dist="25400" dir="5400000" algn="bl" rotWithShape="0">
              <a:srgbClr val="000000">
                <a:alpha val="14000"/>
              </a:srgbClr>
            </a:outerShdw>
          </a:effectLst>
        </p:spPr>
        <p:txBody>
          <a:bodyPr wrap="square" lIns="2286" tIns="2286" rIns="2286" bIns="2286" rtlCol="0" anchor="t"/>
          <a:lstStyle/>
          <a:p>
            <a:pPr marL="0" indent="0">
              <a:spcAft>
                <a:spcPts val="600"/>
              </a:spcAft>
              <a:buNone/>
            </a:pPr>
            <a:r>
              <a:rPr lang="en-US" sz="1200" b="1" dirty="0">
                <a:solidFill>
                  <a:schemeClr val="tx2"/>
                </a:solidFill>
              </a:rPr>
              <a:t>IN PLAIN WORDS</a:t>
            </a:r>
            <a:endParaRPr lang="en-US" sz="1200" dirty="0"/>
          </a:p>
          <a:p>
            <a:pPr marL="0" indent="0">
              <a:buNone/>
            </a:pPr>
            <a:r>
              <a:rPr lang="en-US" sz="1600" dirty="0">
                <a:solidFill>
                  <a:schemeClr val="tx1"/>
                </a:solidFill>
              </a:rPr>
              <a:t>We screen; we don’t accuse. An odd pattern says “look here”, never “this is fraud”.</a:t>
            </a:r>
            <a:endParaRPr lang="en-US" sz="12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What we set out to ask</a:t>
            </a:r>
            <a:endParaRPr lang="en-US" sz="3400" dirty="0"/>
          </a:p>
        </p:txBody>
      </p:sp>
      <p:sp>
        <p:nvSpPr>
          <p:cNvPr id="3" name="question card"/>
          <p:cNvSpPr/>
          <p:nvPr/>
        </p:nvSpPr>
        <p:spPr>
          <a:xfrm>
            <a:off x="640080" y="1554480"/>
            <a:ext cx="10881360" cy="1600200"/>
          </a:xfrm>
          <a:prstGeom prst="roundRect">
            <a:avLst>
              <a:gd name="adj" fmla="val 4571"/>
            </a:avLst>
          </a:prstGeom>
          <a:solidFill>
            <a:schemeClr val="tx1"/>
          </a:solidFill>
          <a:ln/>
          <a:effectLst>
            <a:outerShdw blurRad="76200" dist="25400" dir="5400000" algn="bl" rotWithShape="0">
              <a:srgbClr val="000000">
                <a:alpha val="14000"/>
              </a:srgbClr>
            </a:outerShdw>
          </a:effectLst>
        </p:spPr>
      </p:sp>
      <p:sp>
        <p:nvSpPr>
          <p:cNvPr id="4" name="Text 2"/>
          <p:cNvSpPr txBox="1"/>
          <p:nvPr/>
        </p:nvSpPr>
        <p:spPr>
          <a:xfrm>
            <a:off x="1005840" y="1783080"/>
            <a:ext cx="5486400" cy="274320"/>
          </a:xfrm>
          <a:prstGeom prst="rect">
            <a:avLst/>
          </a:prstGeom>
          <a:noFill/>
          <a:ln/>
        </p:spPr>
        <p:txBody>
          <a:bodyPr wrap="square" lIns="0" tIns="0" rIns="0" bIns="0" rtlCol="0" anchor="t"/>
          <a:lstStyle/>
          <a:p>
            <a:pPr marL="0" indent="0">
              <a:buNone/>
            </a:pPr>
            <a:r>
              <a:rPr lang="en-US" sz="1200" b="1" dirty="0">
                <a:solidFill>
                  <a:schemeClr val="accent1"/>
                </a:solidFill>
              </a:rPr>
              <a:t>OUR RESEARCH QUESTION</a:t>
            </a:r>
            <a:endParaRPr lang="en-US" sz="1200" dirty="0"/>
          </a:p>
        </p:txBody>
      </p:sp>
      <p:sp>
        <p:nvSpPr>
          <p:cNvPr id="5" name="Text 3"/>
          <p:cNvSpPr txBox="1"/>
          <p:nvPr/>
        </p:nvSpPr>
        <p:spPr>
          <a:xfrm>
            <a:off x="1005840" y="2103120"/>
            <a:ext cx="10149840" cy="914400"/>
          </a:xfrm>
          <a:prstGeom prst="rect">
            <a:avLst/>
          </a:prstGeom>
          <a:noFill/>
          <a:ln/>
        </p:spPr>
        <p:txBody>
          <a:bodyPr wrap="square" lIns="0" tIns="0" rIns="0" bIns="0" rtlCol="0" anchor="t"/>
          <a:lstStyle/>
          <a:p>
            <a:pPr marL="0" indent="0">
              <a:buNone/>
            </a:pPr>
            <a:r>
              <a:rPr lang="en-US" sz="2300" i="1" dirty="0">
                <a:solidFill>
                  <a:schemeClr val="bg1"/>
                </a:solidFill>
                <a:latin typeface="Cambria" pitchFamily="34" charset="0"/>
                <a:ea typeface="Cambria" pitchFamily="34" charset="-122"/>
                <a:cs typeface="Cambria" pitchFamily="34" charset="-120"/>
              </a:rPr>
              <a:t>Can Benford’s Law and a chi-square goodness-of-fit test flag unusual patterns in real datasets, and how well do they catch known alterations?</a:t>
            </a:r>
            <a:endParaRPr lang="en-US" sz="2300" dirty="0"/>
          </a:p>
        </p:txBody>
      </p:sp>
      <p:sp>
        <p:nvSpPr>
          <p:cNvPr id="6" name="objective card 1"/>
          <p:cNvSpPr/>
          <p:nvPr/>
        </p:nvSpPr>
        <p:spPr>
          <a:xfrm>
            <a:off x="640080" y="3429000"/>
            <a:ext cx="2514600"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7" name="badge1"/>
          <p:cNvSpPr/>
          <p:nvPr/>
        </p:nvSpPr>
        <p:spPr>
          <a:xfrm>
            <a:off x="868680" y="3639312"/>
            <a:ext cx="457200" cy="457200"/>
          </a:xfrm>
          <a:prstGeom prst="ellipse">
            <a:avLst/>
          </a:prstGeom>
          <a:solidFill>
            <a:schemeClr val="accent2"/>
          </a:solidFill>
          <a:ln/>
        </p:spPr>
      </p:sp>
      <p:sp>
        <p:nvSpPr>
          <p:cNvPr id="8" name="Text 6"/>
          <p:cNvSpPr txBox="1"/>
          <p:nvPr/>
        </p:nvSpPr>
        <p:spPr>
          <a:xfrm>
            <a:off x="868680" y="363931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9" name="Text 7"/>
          <p:cNvSpPr txBox="1"/>
          <p:nvPr/>
        </p:nvSpPr>
        <p:spPr>
          <a:xfrm>
            <a:off x="868680" y="363931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Text 8"/>
          <p:cNvSpPr txBox="1"/>
          <p:nvPr/>
        </p:nvSpPr>
        <p:spPr>
          <a:xfrm>
            <a:off x="868680" y="4251960"/>
            <a:ext cx="2103120" cy="320040"/>
          </a:xfrm>
          <a:prstGeom prst="rect">
            <a:avLst/>
          </a:prstGeom>
          <a:noFill/>
          <a:ln/>
        </p:spPr>
        <p:txBody>
          <a:bodyPr wrap="square" lIns="0" tIns="0" rIns="0" bIns="0" rtlCol="0" anchor="t"/>
          <a:lstStyle/>
          <a:p>
            <a:pPr marL="0" indent="0">
              <a:buNone/>
            </a:pPr>
            <a:r>
              <a:rPr lang="en-US" sz="1700" b="1" dirty="0">
                <a:solidFill>
                  <a:schemeClr val="tx1"/>
                </a:solidFill>
              </a:rPr>
              <a:t>Screen real data</a:t>
            </a:r>
            <a:endParaRPr lang="en-US" sz="1700" dirty="0"/>
          </a:p>
        </p:txBody>
      </p:sp>
      <p:sp>
        <p:nvSpPr>
          <p:cNvPr id="11" name="Text 9"/>
          <p:cNvSpPr txBox="1"/>
          <p:nvPr/>
        </p:nvSpPr>
        <p:spPr>
          <a:xfrm>
            <a:off x="868680" y="4617720"/>
            <a:ext cx="2103120" cy="868680"/>
          </a:xfrm>
          <a:prstGeom prst="rect">
            <a:avLst/>
          </a:prstGeom>
          <a:noFill/>
          <a:ln/>
        </p:spPr>
        <p:txBody>
          <a:bodyPr wrap="square" lIns="0" tIns="0" rIns="0" bIns="0" rtlCol="0" anchor="t"/>
          <a:lstStyle/>
          <a:p>
            <a:pPr marL="0" indent="0">
              <a:buNone/>
            </a:pPr>
            <a:r>
              <a:rPr lang="en-US" sz="1400" dirty="0">
                <a:solidFill>
                  <a:schemeClr val="tx2"/>
                </a:solidFill>
              </a:rPr>
              <a:t>Test World Bank indicators against the expected first-digit pattern.</a:t>
            </a:r>
            <a:endParaRPr lang="en-US" sz="1400" dirty="0"/>
          </a:p>
        </p:txBody>
      </p:sp>
      <p:sp>
        <p:nvSpPr>
          <p:cNvPr id="12" name="objective card 2"/>
          <p:cNvSpPr/>
          <p:nvPr/>
        </p:nvSpPr>
        <p:spPr>
          <a:xfrm>
            <a:off x="3426257" y="3429000"/>
            <a:ext cx="2514600"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13" name="badge2"/>
          <p:cNvSpPr/>
          <p:nvPr/>
        </p:nvSpPr>
        <p:spPr>
          <a:xfrm>
            <a:off x="3654857" y="3639312"/>
            <a:ext cx="457200" cy="457200"/>
          </a:xfrm>
          <a:prstGeom prst="ellipse">
            <a:avLst/>
          </a:prstGeom>
          <a:solidFill>
            <a:schemeClr val="accent2"/>
          </a:solidFill>
          <a:ln/>
        </p:spPr>
      </p:sp>
      <p:sp>
        <p:nvSpPr>
          <p:cNvPr id="14" name="Text 12"/>
          <p:cNvSpPr txBox="1"/>
          <p:nvPr/>
        </p:nvSpPr>
        <p:spPr>
          <a:xfrm>
            <a:off x="3654857" y="363931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5" name="Text 13"/>
          <p:cNvSpPr txBox="1"/>
          <p:nvPr/>
        </p:nvSpPr>
        <p:spPr>
          <a:xfrm>
            <a:off x="3654857" y="363931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6" name="Text 14"/>
          <p:cNvSpPr txBox="1"/>
          <p:nvPr/>
        </p:nvSpPr>
        <p:spPr>
          <a:xfrm>
            <a:off x="3654857" y="4251960"/>
            <a:ext cx="2103120" cy="320040"/>
          </a:xfrm>
          <a:prstGeom prst="rect">
            <a:avLst/>
          </a:prstGeom>
          <a:noFill/>
          <a:ln/>
        </p:spPr>
        <p:txBody>
          <a:bodyPr wrap="square" lIns="0" tIns="0" rIns="0" bIns="0" rtlCol="0" anchor="t"/>
          <a:lstStyle/>
          <a:p>
            <a:pPr marL="0" indent="0">
              <a:buNone/>
            </a:pPr>
            <a:r>
              <a:rPr lang="en-US" sz="1700" b="1" dirty="0">
                <a:solidFill>
                  <a:schemeClr val="tx1"/>
                </a:solidFill>
              </a:rPr>
              <a:t>Check suitability first</a:t>
            </a:r>
            <a:endParaRPr lang="en-US" sz="1700" dirty="0"/>
          </a:p>
        </p:txBody>
      </p:sp>
      <p:sp>
        <p:nvSpPr>
          <p:cNvPr id="17" name="Text 15"/>
          <p:cNvSpPr txBox="1"/>
          <p:nvPr/>
        </p:nvSpPr>
        <p:spPr>
          <a:xfrm>
            <a:off x="3654857" y="4617720"/>
            <a:ext cx="2103120" cy="868680"/>
          </a:xfrm>
          <a:prstGeom prst="rect">
            <a:avLst/>
          </a:prstGeom>
          <a:noFill/>
          <a:ln/>
        </p:spPr>
        <p:txBody>
          <a:bodyPr wrap="square" lIns="0" tIns="0" rIns="0" bIns="0" rtlCol="0" anchor="t"/>
          <a:lstStyle/>
          <a:p>
            <a:pPr marL="0" indent="0">
              <a:buNone/>
            </a:pPr>
            <a:r>
              <a:rPr lang="en-US" sz="1400" dirty="0">
                <a:solidFill>
                  <a:schemeClr val="tx2"/>
                </a:solidFill>
              </a:rPr>
              <a:t>Ask whether Benford’s Law is a fair yardstick before testing.</a:t>
            </a:r>
            <a:endParaRPr lang="en-US" sz="1400" dirty="0"/>
          </a:p>
        </p:txBody>
      </p:sp>
      <p:sp>
        <p:nvSpPr>
          <p:cNvPr id="18" name="objective card 3"/>
          <p:cNvSpPr/>
          <p:nvPr/>
        </p:nvSpPr>
        <p:spPr>
          <a:xfrm>
            <a:off x="6212434" y="3429000"/>
            <a:ext cx="2514600"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19" name="badge3"/>
          <p:cNvSpPr/>
          <p:nvPr/>
        </p:nvSpPr>
        <p:spPr>
          <a:xfrm>
            <a:off x="6441034" y="3639312"/>
            <a:ext cx="457200" cy="457200"/>
          </a:xfrm>
          <a:prstGeom prst="ellipse">
            <a:avLst/>
          </a:prstGeom>
          <a:solidFill>
            <a:schemeClr val="accent2"/>
          </a:solidFill>
          <a:ln/>
        </p:spPr>
      </p:sp>
      <p:sp>
        <p:nvSpPr>
          <p:cNvPr id="20" name="Text 18"/>
          <p:cNvSpPr txBox="1"/>
          <p:nvPr/>
        </p:nvSpPr>
        <p:spPr>
          <a:xfrm>
            <a:off x="6441034" y="363931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1" name="Text 19"/>
          <p:cNvSpPr txBox="1"/>
          <p:nvPr/>
        </p:nvSpPr>
        <p:spPr>
          <a:xfrm>
            <a:off x="6441034" y="363931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2" name="Text 20"/>
          <p:cNvSpPr txBox="1"/>
          <p:nvPr/>
        </p:nvSpPr>
        <p:spPr>
          <a:xfrm>
            <a:off x="6441034" y="4251960"/>
            <a:ext cx="2103120" cy="320040"/>
          </a:xfrm>
          <a:prstGeom prst="rect">
            <a:avLst/>
          </a:prstGeom>
          <a:noFill/>
          <a:ln/>
        </p:spPr>
        <p:txBody>
          <a:bodyPr wrap="square" lIns="0" tIns="0" rIns="0" bIns="0" rtlCol="0" anchor="t"/>
          <a:lstStyle/>
          <a:p>
            <a:pPr marL="0" indent="0">
              <a:buNone/>
            </a:pPr>
            <a:r>
              <a:rPr lang="en-US" sz="1700" b="1" dirty="0">
                <a:solidFill>
                  <a:schemeClr val="tx1"/>
                </a:solidFill>
              </a:rPr>
              <a:t>Plant known errors</a:t>
            </a:r>
            <a:endParaRPr lang="en-US" sz="1700" dirty="0"/>
          </a:p>
        </p:txBody>
      </p:sp>
      <p:sp>
        <p:nvSpPr>
          <p:cNvPr id="23" name="Text 21"/>
          <p:cNvSpPr txBox="1"/>
          <p:nvPr/>
        </p:nvSpPr>
        <p:spPr>
          <a:xfrm>
            <a:off x="6441034" y="4617720"/>
            <a:ext cx="2103120" cy="868680"/>
          </a:xfrm>
          <a:prstGeom prst="rect">
            <a:avLst/>
          </a:prstGeom>
          <a:noFill/>
          <a:ln/>
        </p:spPr>
        <p:txBody>
          <a:bodyPr wrap="square" lIns="0" tIns="0" rIns="0" bIns="0" rtlCol="0" anchor="t"/>
          <a:lstStyle/>
          <a:p>
            <a:pPr marL="0" indent="0">
              <a:buNone/>
            </a:pPr>
            <a:r>
              <a:rPr lang="en-US" sz="1400" dirty="0">
                <a:solidFill>
                  <a:schemeClr val="tx2"/>
                </a:solidFill>
              </a:rPr>
              <a:t>Alter synthetic data in controlled ways and see what gets caught.</a:t>
            </a:r>
            <a:endParaRPr lang="en-US" sz="1400" dirty="0"/>
          </a:p>
        </p:txBody>
      </p:sp>
      <p:sp>
        <p:nvSpPr>
          <p:cNvPr id="24" name="objective card 4"/>
          <p:cNvSpPr/>
          <p:nvPr/>
        </p:nvSpPr>
        <p:spPr>
          <a:xfrm>
            <a:off x="8998610" y="3429000"/>
            <a:ext cx="2514600"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25" name="badge4"/>
          <p:cNvSpPr/>
          <p:nvPr/>
        </p:nvSpPr>
        <p:spPr>
          <a:xfrm>
            <a:off x="9227210" y="3639312"/>
            <a:ext cx="457200" cy="457200"/>
          </a:xfrm>
          <a:prstGeom prst="ellipse">
            <a:avLst/>
          </a:prstGeom>
          <a:solidFill>
            <a:schemeClr val="accent2"/>
          </a:solidFill>
          <a:ln/>
        </p:spPr>
      </p:sp>
      <p:sp>
        <p:nvSpPr>
          <p:cNvPr id="26" name="Text 24"/>
          <p:cNvSpPr txBox="1"/>
          <p:nvPr/>
        </p:nvSpPr>
        <p:spPr>
          <a:xfrm>
            <a:off x="9227210" y="363931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7" name="Text 25"/>
          <p:cNvSpPr txBox="1"/>
          <p:nvPr/>
        </p:nvSpPr>
        <p:spPr>
          <a:xfrm>
            <a:off x="9227210" y="363931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8" name="Text 26"/>
          <p:cNvSpPr txBox="1"/>
          <p:nvPr/>
        </p:nvSpPr>
        <p:spPr>
          <a:xfrm>
            <a:off x="9227210" y="4251960"/>
            <a:ext cx="2103120" cy="320040"/>
          </a:xfrm>
          <a:prstGeom prst="rect">
            <a:avLst/>
          </a:prstGeom>
          <a:noFill/>
          <a:ln/>
        </p:spPr>
        <p:txBody>
          <a:bodyPr wrap="square" lIns="0" tIns="0" rIns="0" bIns="0" rtlCol="0" anchor="t"/>
          <a:lstStyle/>
          <a:p>
            <a:pPr marL="0" indent="0">
              <a:buNone/>
            </a:pPr>
            <a:r>
              <a:rPr lang="en-US" sz="1700" b="1" dirty="0">
                <a:solidFill>
                  <a:schemeClr val="tx1"/>
                </a:solidFill>
              </a:rPr>
              <a:t>Build it to be reused</a:t>
            </a:r>
            <a:endParaRPr lang="en-US" sz="1700" dirty="0"/>
          </a:p>
        </p:txBody>
      </p:sp>
      <p:sp>
        <p:nvSpPr>
          <p:cNvPr id="29" name="Text 27"/>
          <p:cNvSpPr txBox="1"/>
          <p:nvPr/>
        </p:nvSpPr>
        <p:spPr>
          <a:xfrm>
            <a:off x="9227210" y="4617720"/>
            <a:ext cx="2103120" cy="868680"/>
          </a:xfrm>
          <a:prstGeom prst="rect">
            <a:avLst/>
          </a:prstGeom>
          <a:noFill/>
          <a:ln/>
        </p:spPr>
        <p:txBody>
          <a:bodyPr wrap="square" lIns="0" tIns="0" rIns="0" bIns="0" rtlCol="0" anchor="t"/>
          <a:lstStyle/>
          <a:p>
            <a:pPr marL="0" indent="0">
              <a:buNone/>
            </a:pPr>
            <a:r>
              <a:rPr lang="en-US" sz="1400" dirty="0">
                <a:solidFill>
                  <a:schemeClr val="tx2"/>
                </a:solidFill>
              </a:rPr>
              <a:t>A reproducible R pipeline plus an interactive Shiny dashboard.</a:t>
            </a:r>
            <a:endParaRPr lang="en-US" sz="1400" dirty="0"/>
          </a:p>
        </p:txBody>
      </p:sp>
      <p:sp>
        <p:nvSpPr>
          <p:cNvPr id="30" name="Text 28"/>
          <p:cNvSpPr txBox="1"/>
          <p:nvPr/>
        </p:nvSpPr>
        <p:spPr>
          <a:xfrm>
            <a:off x="640080" y="5760720"/>
            <a:ext cx="10881360" cy="365760"/>
          </a:xfrm>
          <a:prstGeom prst="rect">
            <a:avLst/>
          </a:prstGeom>
          <a:noFill/>
          <a:ln/>
        </p:spPr>
        <p:txBody>
          <a:bodyPr wrap="square" lIns="0" tIns="0" rIns="0" bIns="0" rtlCol="0" anchor="t"/>
          <a:lstStyle/>
          <a:p>
            <a:pPr marL="0" indent="0">
              <a:buNone/>
            </a:pPr>
            <a:r>
              <a:rPr lang="en-US" sz="1600" i="1" dirty="0">
                <a:solidFill>
                  <a:schemeClr val="tx2"/>
                </a:solidFill>
              </a:rPr>
              <a:t>The goal is to find unusual statistical patterns, not to prove fraud automatically.</a:t>
            </a:r>
            <a:endParaRPr lang="en-US" sz="1600" dirty="0"/>
          </a:p>
        </p:txBody>
      </p:sp>
      <p:sp>
        <p:nvSpPr>
          <p:cNvPr id="31"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Where the numbers come from</a:t>
            </a:r>
            <a:endParaRPr lang="en-US" sz="3400" dirty="0"/>
          </a:p>
        </p:txBody>
      </p:sp>
      <p:sp>
        <p:nvSpPr>
          <p:cNvPr id="3" name="dataset card"/>
          <p:cNvSpPr/>
          <p:nvPr/>
        </p:nvSpPr>
        <p:spPr>
          <a:xfrm>
            <a:off x="640080" y="1554480"/>
            <a:ext cx="5212080" cy="4526280"/>
          </a:xfrm>
          <a:prstGeom prst="roundRect">
            <a:avLst>
              <a:gd name="adj" fmla="val 1616"/>
            </a:avLst>
          </a:prstGeom>
          <a:solidFill>
            <a:schemeClr val="bg2"/>
          </a:solidFill>
          <a:ln/>
          <a:effectLst>
            <a:outerShdw blurRad="76200" dist="25400" dir="5400000" algn="bl" rotWithShape="0">
              <a:srgbClr val="000000">
                <a:alpha val="14000"/>
              </a:srgbClr>
            </a:outerShdw>
          </a:effectLst>
        </p:spPr>
      </p:sp>
      <p:sp>
        <p:nvSpPr>
          <p:cNvPr id="4" name="chip"/>
          <p:cNvSpPr/>
          <p:nvPr/>
        </p:nvSpPr>
        <p:spPr>
          <a:xfrm>
            <a:off x="960120" y="1828800"/>
            <a:ext cx="118872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tx1"/>
                </a:solidFill>
              </a:rPr>
              <a:t>REAL DATA</a:t>
            </a:r>
            <a:endParaRPr lang="en-US" sz="1100" dirty="0"/>
          </a:p>
        </p:txBody>
      </p:sp>
      <p:sp>
        <p:nvSpPr>
          <p:cNvPr id="5" name="Text 3"/>
          <p:cNvSpPr txBox="1"/>
          <p:nvPr/>
        </p:nvSpPr>
        <p:spPr>
          <a:xfrm>
            <a:off x="960120" y="2240280"/>
            <a:ext cx="4572000" cy="548640"/>
          </a:xfrm>
          <a:prstGeom prst="rect">
            <a:avLst/>
          </a:prstGeom>
          <a:noFill/>
          <a:ln/>
        </p:spPr>
        <p:txBody>
          <a:bodyPr wrap="square" lIns="0" tIns="0" rIns="0" bIns="0" rtlCol="0" anchor="t"/>
          <a:lstStyle/>
          <a:p>
            <a:pPr marL="0" indent="0">
              <a:buNone/>
            </a:pPr>
            <a:r>
              <a:rPr lang="en-US" sz="2800" b="1" dirty="0">
                <a:solidFill>
                  <a:schemeClr val="tx1"/>
                </a:solidFill>
                <a:latin typeface="Cambria" pitchFamily="34" charset="0"/>
                <a:ea typeface="Cambria" pitchFamily="34" charset="-122"/>
                <a:cs typeface="Cambria" pitchFamily="34" charset="-120"/>
              </a:rPr>
              <a:t>World Bank WDI</a:t>
            </a:r>
            <a:endParaRPr lang="en-US" sz="2800" dirty="0"/>
          </a:p>
        </p:txBody>
      </p:sp>
      <p:sp>
        <p:nvSpPr>
          <p:cNvPr id="6" name="Text 4"/>
          <p:cNvSpPr txBox="1"/>
          <p:nvPr/>
        </p:nvSpPr>
        <p:spPr>
          <a:xfrm>
            <a:off x="960120" y="2880360"/>
            <a:ext cx="4572000" cy="1097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Country-by-year development indicators</a:t>
            </a:r>
            <a:endParaRPr lang="en-US" sz="1500" dirty="0"/>
          </a:p>
          <a:p>
            <a:pPr marL="342900" indent="-342900">
              <a:spcAft>
                <a:spcPts val="600"/>
              </a:spcAft>
              <a:buSzPct val="100000"/>
              <a:buChar char="•"/>
            </a:pPr>
            <a:r>
              <a:rPr lang="en-US" sz="1500" dirty="0">
                <a:solidFill>
                  <a:schemeClr val="tx1"/>
                </a:solidFill>
              </a:rPr>
              <a:t>Example indicator assessed: AG.LND.TOTL.K2 (land area, km²)</a:t>
            </a:r>
            <a:endParaRPr lang="en-US" sz="1500" dirty="0"/>
          </a:p>
        </p:txBody>
      </p:sp>
      <p:sp>
        <p:nvSpPr>
          <p:cNvPr id="7" name="Text 5"/>
          <p:cNvSpPr txBox="1"/>
          <p:nvPr/>
        </p:nvSpPr>
        <p:spPr>
          <a:xfrm>
            <a:off x="960120" y="4069080"/>
            <a:ext cx="3657600" cy="274320"/>
          </a:xfrm>
          <a:prstGeom prst="rect">
            <a:avLst/>
          </a:prstGeom>
          <a:noFill/>
          <a:ln/>
        </p:spPr>
        <p:txBody>
          <a:bodyPr wrap="square" lIns="0" tIns="0" rIns="0" bIns="0" rtlCol="0" anchor="t"/>
          <a:lstStyle/>
          <a:p>
            <a:pPr marL="0" indent="0">
              <a:buNone/>
            </a:pPr>
            <a:r>
              <a:rPr lang="en-US" sz="1200" b="1" dirty="0">
                <a:solidFill>
                  <a:schemeClr val="tx2"/>
                </a:solidFill>
              </a:rPr>
              <a:t>PREPARATION</a:t>
            </a:r>
            <a:endParaRPr lang="en-US" sz="1200" dirty="0"/>
          </a:p>
        </p:txBody>
      </p:sp>
      <p:sp>
        <p:nvSpPr>
          <p:cNvPr id="8" name="Text 6"/>
          <p:cNvSpPr txBox="1"/>
          <p:nvPr/>
        </p:nvSpPr>
        <p:spPr>
          <a:xfrm>
            <a:off x="960120" y="4389120"/>
            <a:ext cx="4572000" cy="91440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1  Select indicators</a:t>
            </a:r>
            <a:endParaRPr lang="en-US" sz="1500" dirty="0"/>
          </a:p>
          <a:p>
            <a:pPr marL="0" indent="0">
              <a:spcAft>
                <a:spcPts val="400"/>
              </a:spcAft>
              <a:buNone/>
            </a:pPr>
            <a:r>
              <a:rPr lang="en-US" sz="1500" dirty="0">
                <a:solidFill>
                  <a:schemeClr val="tx1"/>
                </a:solidFill>
              </a:rPr>
              <a:t>2  Clean the values</a:t>
            </a:r>
            <a:endParaRPr lang="en-US" sz="1500" dirty="0"/>
          </a:p>
          <a:p>
            <a:pPr marL="0" indent="0">
              <a:spcAft>
                <a:spcPts val="400"/>
              </a:spcAft>
              <a:buNone/>
            </a:pPr>
            <a:r>
              <a:rPr lang="en-US" sz="1500" dirty="0">
                <a:solidFill>
                  <a:schemeClr val="tx1"/>
                </a:solidFill>
              </a:rPr>
              <a:t>3  Reshape into country-year rows</a:t>
            </a:r>
            <a:endParaRPr lang="en-US" sz="1500" dirty="0"/>
          </a:p>
        </p:txBody>
      </p:sp>
      <p:sp>
        <p:nvSpPr>
          <p:cNvPr id="9" name="chip"/>
          <p:cNvSpPr/>
          <p:nvPr/>
        </p:nvSpPr>
        <p:spPr>
          <a:xfrm>
            <a:off x="960120" y="5532120"/>
            <a:ext cx="2651760" cy="310896"/>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b="1" dirty="0">
                <a:solidFill>
                  <a:schemeClr val="tx1"/>
                </a:solidFill>
              </a:rPr>
              <a:t>Row counts: fill from report</a:t>
            </a:r>
            <a:endParaRPr lang="en-US" sz="1100" dirty="0"/>
          </a:p>
        </p:txBody>
      </p:sp>
      <p:sp>
        <p:nvSpPr>
          <p:cNvPr id="10" name="latest year card"/>
          <p:cNvSpPr/>
          <p:nvPr/>
        </p:nvSpPr>
        <p:spPr>
          <a:xfrm>
            <a:off x="6217920" y="1554480"/>
            <a:ext cx="5303520" cy="2103120"/>
          </a:xfrm>
          <a:prstGeom prst="roundRect">
            <a:avLst>
              <a:gd name="adj" fmla="val 3478"/>
            </a:avLst>
          </a:prstGeom>
          <a:solidFill>
            <a:schemeClr val="bg2"/>
          </a:solidFill>
          <a:ln/>
          <a:effectLst>
            <a:outerShdw blurRad="76200" dist="25400" dir="5400000" algn="bl" rotWithShape="0">
              <a:srgbClr val="000000">
                <a:alpha val="14000"/>
              </a:srgbClr>
            </a:outerShdw>
          </a:effectLst>
        </p:spPr>
      </p:sp>
      <p:sp>
        <p:nvSpPr>
          <p:cNvPr id="11" name="Text 9"/>
          <p:cNvSpPr txBox="1"/>
          <p:nvPr/>
        </p:nvSpPr>
        <p:spPr>
          <a:xfrm>
            <a:off x="6537960" y="1783080"/>
            <a:ext cx="4663440" cy="365760"/>
          </a:xfrm>
          <a:prstGeom prst="rect">
            <a:avLst/>
          </a:prstGeom>
          <a:noFill/>
          <a:ln/>
        </p:spPr>
        <p:txBody>
          <a:bodyPr wrap="square" lIns="0" tIns="0" rIns="0" bIns="0" rtlCol="0" anchor="t"/>
          <a:lstStyle/>
          <a:p>
            <a:pPr marL="0" indent="0">
              <a:buNone/>
            </a:pPr>
            <a:r>
              <a:rPr lang="en-US" sz="2000" b="1" dirty="0">
                <a:solidFill>
                  <a:schemeClr val="tx1"/>
                </a:solidFill>
              </a:rPr>
              <a:t>Latest-year cross-section</a:t>
            </a:r>
            <a:endParaRPr lang="en-US" sz="2000" dirty="0"/>
          </a:p>
        </p:txBody>
      </p:sp>
      <p:sp>
        <p:nvSpPr>
          <p:cNvPr id="12" name="Text 10"/>
          <p:cNvSpPr txBox="1"/>
          <p:nvPr/>
        </p:nvSpPr>
        <p:spPr>
          <a:xfrm>
            <a:off x="6537960" y="2286000"/>
            <a:ext cx="4663440" cy="1188720"/>
          </a:xfrm>
          <a:prstGeom prst="rect">
            <a:avLst/>
          </a:prstGeom>
          <a:noFill/>
          <a:ln/>
        </p:spPr>
        <p:txBody>
          <a:bodyPr wrap="square" lIns="0" tIns="0" rIns="0" bIns="0" rtlCol="0" anchor="t"/>
          <a:lstStyle/>
          <a:p>
            <a:pPr marL="0" indent="0">
              <a:buNone/>
            </a:pPr>
            <a:r>
              <a:rPr lang="en-US" sz="1500" dirty="0">
                <a:solidFill>
                  <a:schemeClr val="tx2"/>
                </a:solidFill>
              </a:rPr>
              <a:t>Each country appears once, so observations are independent. This is the cleanest view for a chi-square test.</a:t>
            </a:r>
            <a:endParaRPr lang="en-US" sz="1500" dirty="0"/>
          </a:p>
        </p:txBody>
      </p:sp>
      <p:sp>
        <p:nvSpPr>
          <p:cNvPr id="13" name="pooled card"/>
          <p:cNvSpPr/>
          <p:nvPr/>
        </p:nvSpPr>
        <p:spPr>
          <a:xfrm>
            <a:off x="6217920" y="3977640"/>
            <a:ext cx="5303520" cy="2103120"/>
          </a:xfrm>
          <a:prstGeom prst="roundRect">
            <a:avLst>
              <a:gd name="adj" fmla="val 3478"/>
            </a:avLst>
          </a:prstGeom>
          <a:solidFill>
            <a:schemeClr val="bg2"/>
          </a:solidFill>
          <a:ln/>
          <a:effectLst>
            <a:outerShdw blurRad="76200" dist="25400" dir="5400000" algn="bl" rotWithShape="0">
              <a:srgbClr val="000000">
                <a:alpha val="14000"/>
              </a:srgbClr>
            </a:outerShdw>
          </a:effectLst>
        </p:spPr>
      </p:sp>
      <p:sp>
        <p:nvSpPr>
          <p:cNvPr id="14" name="Text 12"/>
          <p:cNvSpPr txBox="1"/>
          <p:nvPr/>
        </p:nvSpPr>
        <p:spPr>
          <a:xfrm>
            <a:off x="6537960" y="4206240"/>
            <a:ext cx="4663440" cy="365760"/>
          </a:xfrm>
          <a:prstGeom prst="rect">
            <a:avLst/>
          </a:prstGeom>
          <a:noFill/>
          <a:ln/>
        </p:spPr>
        <p:txBody>
          <a:bodyPr wrap="square" lIns="0" tIns="0" rIns="0" bIns="0" rtlCol="0" anchor="t"/>
          <a:lstStyle/>
          <a:p>
            <a:pPr marL="0" indent="0">
              <a:buNone/>
            </a:pPr>
            <a:r>
              <a:rPr lang="en-US" sz="2000" b="1" dirty="0">
                <a:solidFill>
                  <a:schemeClr val="tx1"/>
                </a:solidFill>
              </a:rPr>
              <a:t>Pooled country-years</a:t>
            </a:r>
            <a:endParaRPr lang="en-US" sz="2000" dirty="0"/>
          </a:p>
        </p:txBody>
      </p:sp>
      <p:sp>
        <p:nvSpPr>
          <p:cNvPr id="15" name="Text 13"/>
          <p:cNvSpPr txBox="1"/>
          <p:nvPr/>
        </p:nvSpPr>
        <p:spPr>
          <a:xfrm>
            <a:off x="6537960" y="4709160"/>
            <a:ext cx="4663440" cy="1188720"/>
          </a:xfrm>
          <a:prstGeom prst="rect">
            <a:avLst/>
          </a:prstGeom>
          <a:noFill/>
          <a:ln/>
        </p:spPr>
        <p:txBody>
          <a:bodyPr wrap="square" lIns="0" tIns="0" rIns="0" bIns="0" rtlCol="0" anchor="t"/>
          <a:lstStyle/>
          <a:p>
            <a:pPr marL="0" indent="0">
              <a:buNone/>
            </a:pPr>
            <a:r>
              <a:rPr lang="en-US" sz="1500" dirty="0">
                <a:solidFill>
                  <a:schemeClr val="tx2"/>
                </a:solidFill>
              </a:rPr>
              <a:t>The same country repeats across years, so observations are not independent. Treat these p-values with extra caution.</a:t>
            </a:r>
            <a:endParaRPr lang="en-US" sz="15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From raw table to a careful verdict</a:t>
            </a:r>
            <a:endParaRPr lang="en-US" sz="3400" dirty="0"/>
          </a:p>
        </p:txBody>
      </p:sp>
      <p:sp>
        <p:nvSpPr>
          <p:cNvPr id="3" name="step card 1"/>
          <p:cNvSpPr/>
          <p:nvPr/>
        </p:nvSpPr>
        <p:spPr>
          <a:xfrm>
            <a:off x="640080" y="1600200"/>
            <a:ext cx="2514600" cy="1920240"/>
          </a:xfrm>
          <a:prstGeom prst="roundRect">
            <a:avLst>
              <a:gd name="adj" fmla="val 3810"/>
            </a:avLst>
          </a:prstGeom>
          <a:solidFill>
            <a:schemeClr val="bg2"/>
          </a:solidFill>
          <a:ln/>
          <a:effectLst>
            <a:outerShdw blurRad="76200" dist="25400" dir="5400000" algn="bl" rotWithShape="0">
              <a:srgbClr val="000000">
                <a:alpha val="14000"/>
              </a:srgbClr>
            </a:outerShdw>
          </a:effectLst>
        </p:spPr>
      </p:sp>
      <p:sp>
        <p:nvSpPr>
          <p:cNvPr id="4" name="badge1"/>
          <p:cNvSpPr/>
          <p:nvPr/>
        </p:nvSpPr>
        <p:spPr>
          <a:xfrm>
            <a:off x="868680" y="1828800"/>
            <a:ext cx="502920" cy="502920"/>
          </a:xfrm>
          <a:prstGeom prst="ellipse">
            <a:avLst/>
          </a:prstGeom>
          <a:solidFill>
            <a:schemeClr val="accent2"/>
          </a:solidFill>
          <a:ln/>
        </p:spPr>
      </p:sp>
      <p:sp>
        <p:nvSpPr>
          <p:cNvPr id="5" name="Text 3"/>
          <p:cNvSpPr txBox="1"/>
          <p:nvPr/>
        </p:nvSpPr>
        <p:spPr>
          <a:xfrm>
            <a:off x="868680" y="1828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868680" y="18288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868680" y="2468880"/>
            <a:ext cx="2103120" cy="365760"/>
          </a:xfrm>
          <a:prstGeom prst="rect">
            <a:avLst/>
          </a:prstGeom>
          <a:noFill/>
          <a:ln/>
        </p:spPr>
        <p:txBody>
          <a:bodyPr wrap="square" lIns="0" tIns="0" rIns="0" bIns="0" rtlCol="0" anchor="t"/>
          <a:lstStyle/>
          <a:p>
            <a:pPr marL="0" indent="0">
              <a:buNone/>
            </a:pPr>
            <a:r>
              <a:rPr lang="en-US" sz="1800" b="1" dirty="0">
                <a:solidFill>
                  <a:schemeClr val="tx1"/>
                </a:solidFill>
              </a:rPr>
              <a:t>Data selection</a:t>
            </a:r>
            <a:endParaRPr lang="en-US" sz="1800" dirty="0"/>
          </a:p>
        </p:txBody>
      </p:sp>
      <p:sp>
        <p:nvSpPr>
          <p:cNvPr id="8" name="Text 6"/>
          <p:cNvSpPr txBox="1"/>
          <p:nvPr/>
        </p:nvSpPr>
        <p:spPr>
          <a:xfrm>
            <a:off x="868680" y="2880360"/>
            <a:ext cx="2103120" cy="548640"/>
          </a:xfrm>
          <a:prstGeom prst="rect">
            <a:avLst/>
          </a:prstGeom>
          <a:noFill/>
          <a:ln/>
        </p:spPr>
        <p:txBody>
          <a:bodyPr wrap="square" lIns="0" tIns="0" rIns="0" bIns="0" rtlCol="0" anchor="t"/>
          <a:lstStyle/>
          <a:p>
            <a:pPr marL="0" indent="0">
              <a:buNone/>
            </a:pPr>
            <a:r>
              <a:rPr lang="en-US" sz="1400" dirty="0">
                <a:solidFill>
                  <a:schemeClr val="tx2"/>
                </a:solidFill>
              </a:rPr>
              <a:t>Pick WDI indicators</a:t>
            </a:r>
            <a:endParaRPr lang="en-US" sz="1400" dirty="0"/>
          </a:p>
        </p:txBody>
      </p:sp>
      <p:sp>
        <p:nvSpPr>
          <p:cNvPr id="9" name="arrow"/>
          <p:cNvSpPr/>
          <p:nvPr/>
        </p:nvSpPr>
        <p:spPr>
          <a:xfrm>
            <a:off x="3182112" y="2560320"/>
            <a:ext cx="228600" cy="0"/>
          </a:xfrm>
          <a:prstGeom prst="line">
            <a:avLst/>
          </a:prstGeom>
          <a:noFill/>
          <a:ln w="28575">
            <a:solidFill>
              <a:schemeClr val="tx2"/>
            </a:solidFill>
            <a:prstDash val="solid"/>
            <a:tailEnd type="triangle"/>
          </a:ln>
        </p:spPr>
      </p:sp>
      <p:sp>
        <p:nvSpPr>
          <p:cNvPr id="10" name="step card 2"/>
          <p:cNvSpPr/>
          <p:nvPr/>
        </p:nvSpPr>
        <p:spPr>
          <a:xfrm>
            <a:off x="3426257" y="1600200"/>
            <a:ext cx="2514600" cy="1920240"/>
          </a:xfrm>
          <a:prstGeom prst="roundRect">
            <a:avLst>
              <a:gd name="adj" fmla="val 3810"/>
            </a:avLst>
          </a:prstGeom>
          <a:solidFill>
            <a:schemeClr val="bg2"/>
          </a:solidFill>
          <a:ln/>
          <a:effectLst>
            <a:outerShdw blurRad="76200" dist="25400" dir="5400000" algn="bl" rotWithShape="0">
              <a:srgbClr val="000000">
                <a:alpha val="14000"/>
              </a:srgbClr>
            </a:outerShdw>
          </a:effectLst>
        </p:spPr>
      </p:sp>
      <p:sp>
        <p:nvSpPr>
          <p:cNvPr id="11" name="badge2"/>
          <p:cNvSpPr/>
          <p:nvPr/>
        </p:nvSpPr>
        <p:spPr>
          <a:xfrm>
            <a:off x="3654857" y="1828800"/>
            <a:ext cx="502920" cy="502920"/>
          </a:xfrm>
          <a:prstGeom prst="ellipse">
            <a:avLst/>
          </a:prstGeom>
          <a:solidFill>
            <a:schemeClr val="accent2"/>
          </a:solidFill>
          <a:ln/>
        </p:spPr>
      </p:sp>
      <p:sp>
        <p:nvSpPr>
          <p:cNvPr id="12" name="Text 10"/>
          <p:cNvSpPr txBox="1"/>
          <p:nvPr/>
        </p:nvSpPr>
        <p:spPr>
          <a:xfrm>
            <a:off x="3654857" y="1828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3" name="Text 11"/>
          <p:cNvSpPr txBox="1"/>
          <p:nvPr/>
        </p:nvSpPr>
        <p:spPr>
          <a:xfrm>
            <a:off x="3654857" y="18288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4" name="Text 12"/>
          <p:cNvSpPr txBox="1"/>
          <p:nvPr/>
        </p:nvSpPr>
        <p:spPr>
          <a:xfrm>
            <a:off x="3654857" y="2468880"/>
            <a:ext cx="2103120" cy="365760"/>
          </a:xfrm>
          <a:prstGeom prst="rect">
            <a:avLst/>
          </a:prstGeom>
          <a:noFill/>
          <a:ln/>
        </p:spPr>
        <p:txBody>
          <a:bodyPr wrap="square" lIns="0" tIns="0" rIns="0" bIns="0" rtlCol="0" anchor="t"/>
          <a:lstStyle/>
          <a:p>
            <a:pPr marL="0" indent="0">
              <a:buNone/>
            </a:pPr>
            <a:r>
              <a:rPr lang="en-US" sz="1800" b="1" dirty="0">
                <a:solidFill>
                  <a:schemeClr val="tx1"/>
                </a:solidFill>
              </a:rPr>
              <a:t>Clean and reshape</a:t>
            </a:r>
            <a:endParaRPr lang="en-US" sz="1800" dirty="0"/>
          </a:p>
        </p:txBody>
      </p:sp>
      <p:sp>
        <p:nvSpPr>
          <p:cNvPr id="15" name="Text 13"/>
          <p:cNvSpPr txBox="1"/>
          <p:nvPr/>
        </p:nvSpPr>
        <p:spPr>
          <a:xfrm>
            <a:off x="3654857" y="2880360"/>
            <a:ext cx="2103120" cy="548640"/>
          </a:xfrm>
          <a:prstGeom prst="rect">
            <a:avLst/>
          </a:prstGeom>
          <a:noFill/>
          <a:ln/>
        </p:spPr>
        <p:txBody>
          <a:bodyPr wrap="square" lIns="0" tIns="0" rIns="0" bIns="0" rtlCol="0" anchor="t"/>
          <a:lstStyle/>
          <a:p>
            <a:pPr marL="0" indent="0">
              <a:buNone/>
            </a:pPr>
            <a:r>
              <a:rPr lang="en-US" sz="1400" dirty="0">
                <a:solidFill>
                  <a:schemeClr val="tx2"/>
                </a:solidFill>
              </a:rPr>
              <a:t>Tidy country-year rows</a:t>
            </a:r>
            <a:endParaRPr lang="en-US" sz="1400" dirty="0"/>
          </a:p>
        </p:txBody>
      </p:sp>
      <p:sp>
        <p:nvSpPr>
          <p:cNvPr id="16" name="arrow"/>
          <p:cNvSpPr/>
          <p:nvPr/>
        </p:nvSpPr>
        <p:spPr>
          <a:xfrm>
            <a:off x="5968289" y="2560320"/>
            <a:ext cx="228600" cy="0"/>
          </a:xfrm>
          <a:prstGeom prst="line">
            <a:avLst/>
          </a:prstGeom>
          <a:noFill/>
          <a:ln w="28575">
            <a:solidFill>
              <a:schemeClr val="tx2"/>
            </a:solidFill>
            <a:prstDash val="solid"/>
            <a:tailEnd type="triangle"/>
          </a:ln>
        </p:spPr>
      </p:sp>
      <p:sp>
        <p:nvSpPr>
          <p:cNvPr id="17" name="step card 3"/>
          <p:cNvSpPr/>
          <p:nvPr/>
        </p:nvSpPr>
        <p:spPr>
          <a:xfrm>
            <a:off x="6212434" y="1600200"/>
            <a:ext cx="2514600" cy="1920240"/>
          </a:xfrm>
          <a:prstGeom prst="roundRect">
            <a:avLst>
              <a:gd name="adj" fmla="val 3810"/>
            </a:avLst>
          </a:prstGeom>
          <a:solidFill>
            <a:schemeClr val="bg2"/>
          </a:solidFill>
          <a:ln/>
          <a:effectLst>
            <a:outerShdw blurRad="76200" dist="25400" dir="5400000" algn="bl" rotWithShape="0">
              <a:srgbClr val="000000">
                <a:alpha val="14000"/>
              </a:srgbClr>
            </a:outerShdw>
          </a:effectLst>
        </p:spPr>
      </p:sp>
      <p:sp>
        <p:nvSpPr>
          <p:cNvPr id="18" name="badge3"/>
          <p:cNvSpPr/>
          <p:nvPr/>
        </p:nvSpPr>
        <p:spPr>
          <a:xfrm>
            <a:off x="6441034" y="1828800"/>
            <a:ext cx="502920" cy="502920"/>
          </a:xfrm>
          <a:prstGeom prst="ellipse">
            <a:avLst/>
          </a:prstGeom>
          <a:solidFill>
            <a:schemeClr val="accent2"/>
          </a:solidFill>
          <a:ln/>
        </p:spPr>
      </p:sp>
      <p:sp>
        <p:nvSpPr>
          <p:cNvPr id="19" name="Text 17"/>
          <p:cNvSpPr txBox="1"/>
          <p:nvPr/>
        </p:nvSpPr>
        <p:spPr>
          <a:xfrm>
            <a:off x="6441034" y="1828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0" name="Text 18"/>
          <p:cNvSpPr txBox="1"/>
          <p:nvPr/>
        </p:nvSpPr>
        <p:spPr>
          <a:xfrm>
            <a:off x="6441034" y="18288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21" name="Text 19"/>
          <p:cNvSpPr txBox="1"/>
          <p:nvPr/>
        </p:nvSpPr>
        <p:spPr>
          <a:xfrm>
            <a:off x="6441034" y="2468880"/>
            <a:ext cx="2103120" cy="365760"/>
          </a:xfrm>
          <a:prstGeom prst="rect">
            <a:avLst/>
          </a:prstGeom>
          <a:noFill/>
          <a:ln/>
        </p:spPr>
        <p:txBody>
          <a:bodyPr wrap="square" lIns="0" tIns="0" rIns="0" bIns="0" rtlCol="0" anchor="t"/>
          <a:lstStyle/>
          <a:p>
            <a:pPr marL="0" indent="0">
              <a:buNone/>
            </a:pPr>
            <a:r>
              <a:rPr lang="en-US" sz="1800" b="1" dirty="0">
                <a:solidFill>
                  <a:schemeClr val="tx1"/>
                </a:solidFill>
              </a:rPr>
              <a:t>Exploratory analysis</a:t>
            </a:r>
            <a:endParaRPr lang="en-US" sz="1800" dirty="0"/>
          </a:p>
        </p:txBody>
      </p:sp>
      <p:sp>
        <p:nvSpPr>
          <p:cNvPr id="22" name="Text 20"/>
          <p:cNvSpPr txBox="1"/>
          <p:nvPr/>
        </p:nvSpPr>
        <p:spPr>
          <a:xfrm>
            <a:off x="6441034" y="2880360"/>
            <a:ext cx="2103120" cy="548640"/>
          </a:xfrm>
          <a:prstGeom prst="rect">
            <a:avLst/>
          </a:prstGeom>
          <a:noFill/>
          <a:ln/>
        </p:spPr>
        <p:txBody>
          <a:bodyPr wrap="square" lIns="0" tIns="0" rIns="0" bIns="0" rtlCol="0" anchor="t"/>
          <a:lstStyle/>
          <a:p>
            <a:pPr marL="0" indent="0">
              <a:buNone/>
            </a:pPr>
            <a:r>
              <a:rPr lang="en-US" sz="1400" dirty="0">
                <a:solidFill>
                  <a:schemeClr val="tx2"/>
                </a:solidFill>
              </a:rPr>
              <a:t>Look before testing</a:t>
            </a:r>
            <a:endParaRPr lang="en-US" sz="1400" dirty="0"/>
          </a:p>
        </p:txBody>
      </p:sp>
      <p:sp>
        <p:nvSpPr>
          <p:cNvPr id="23" name="arrow"/>
          <p:cNvSpPr/>
          <p:nvPr/>
        </p:nvSpPr>
        <p:spPr>
          <a:xfrm>
            <a:off x="8754466" y="2560320"/>
            <a:ext cx="228600" cy="0"/>
          </a:xfrm>
          <a:prstGeom prst="line">
            <a:avLst/>
          </a:prstGeom>
          <a:noFill/>
          <a:ln w="28575">
            <a:solidFill>
              <a:schemeClr val="tx2"/>
            </a:solidFill>
            <a:prstDash val="solid"/>
            <a:tailEnd type="triangle"/>
          </a:ln>
        </p:spPr>
      </p:sp>
      <p:sp>
        <p:nvSpPr>
          <p:cNvPr id="24" name="step card 4"/>
          <p:cNvSpPr/>
          <p:nvPr/>
        </p:nvSpPr>
        <p:spPr>
          <a:xfrm>
            <a:off x="8998610" y="1600200"/>
            <a:ext cx="2514600" cy="1920240"/>
          </a:xfrm>
          <a:prstGeom prst="roundRect">
            <a:avLst>
              <a:gd name="adj" fmla="val 3810"/>
            </a:avLst>
          </a:prstGeom>
          <a:solidFill>
            <a:schemeClr val="bg2"/>
          </a:solidFill>
          <a:ln/>
          <a:effectLst>
            <a:outerShdw blurRad="76200" dist="25400" dir="5400000" algn="bl" rotWithShape="0">
              <a:srgbClr val="000000">
                <a:alpha val="14000"/>
              </a:srgbClr>
            </a:outerShdw>
          </a:effectLst>
        </p:spPr>
      </p:sp>
      <p:sp>
        <p:nvSpPr>
          <p:cNvPr id="25" name="badge4"/>
          <p:cNvSpPr/>
          <p:nvPr/>
        </p:nvSpPr>
        <p:spPr>
          <a:xfrm>
            <a:off x="9227210" y="1828800"/>
            <a:ext cx="502920" cy="502920"/>
          </a:xfrm>
          <a:prstGeom prst="ellipse">
            <a:avLst/>
          </a:prstGeom>
          <a:solidFill>
            <a:schemeClr val="accent2"/>
          </a:solidFill>
          <a:ln/>
        </p:spPr>
      </p:sp>
      <p:sp>
        <p:nvSpPr>
          <p:cNvPr id="26" name="Text 24"/>
          <p:cNvSpPr txBox="1"/>
          <p:nvPr/>
        </p:nvSpPr>
        <p:spPr>
          <a:xfrm>
            <a:off x="9227210" y="1828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7" name="Text 25"/>
          <p:cNvSpPr txBox="1"/>
          <p:nvPr/>
        </p:nvSpPr>
        <p:spPr>
          <a:xfrm>
            <a:off x="9227210" y="18288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8" name="Text 26"/>
          <p:cNvSpPr txBox="1"/>
          <p:nvPr/>
        </p:nvSpPr>
        <p:spPr>
          <a:xfrm>
            <a:off x="9227210" y="2468880"/>
            <a:ext cx="2103120" cy="365760"/>
          </a:xfrm>
          <a:prstGeom prst="rect">
            <a:avLst/>
          </a:prstGeom>
          <a:noFill/>
          <a:ln/>
        </p:spPr>
        <p:txBody>
          <a:bodyPr wrap="square" lIns="0" tIns="0" rIns="0" bIns="0" rtlCol="0" anchor="t"/>
          <a:lstStyle/>
          <a:p>
            <a:pPr marL="0" indent="0">
              <a:buNone/>
            </a:pPr>
            <a:r>
              <a:rPr lang="en-US" sz="1800" b="1" dirty="0">
                <a:solidFill>
                  <a:schemeClr val="tx1"/>
                </a:solidFill>
              </a:rPr>
              <a:t>Suitability check</a:t>
            </a:r>
            <a:endParaRPr lang="en-US" sz="1800" dirty="0"/>
          </a:p>
        </p:txBody>
      </p:sp>
      <p:sp>
        <p:nvSpPr>
          <p:cNvPr id="29" name="Text 27"/>
          <p:cNvSpPr txBox="1"/>
          <p:nvPr/>
        </p:nvSpPr>
        <p:spPr>
          <a:xfrm>
            <a:off x="9227210" y="2880360"/>
            <a:ext cx="2103120" cy="548640"/>
          </a:xfrm>
          <a:prstGeom prst="rect">
            <a:avLst/>
          </a:prstGeom>
          <a:noFill/>
          <a:ln/>
        </p:spPr>
        <p:txBody>
          <a:bodyPr wrap="square" lIns="0" tIns="0" rIns="0" bIns="0" rtlCol="0" anchor="t"/>
          <a:lstStyle/>
          <a:p>
            <a:pPr marL="0" indent="0">
              <a:buNone/>
            </a:pPr>
            <a:r>
              <a:rPr lang="en-US" sz="1400" dirty="0">
                <a:solidFill>
                  <a:schemeClr val="tx2"/>
                </a:solidFill>
              </a:rPr>
              <a:t>Is Benford a fair yardstick?</a:t>
            </a:r>
            <a:endParaRPr lang="en-US" sz="1400" dirty="0"/>
          </a:p>
        </p:txBody>
      </p:sp>
      <p:sp>
        <p:nvSpPr>
          <p:cNvPr id="30" name="step card 5"/>
          <p:cNvSpPr/>
          <p:nvPr/>
        </p:nvSpPr>
        <p:spPr>
          <a:xfrm>
            <a:off x="640080" y="3886200"/>
            <a:ext cx="2514600" cy="1920240"/>
          </a:xfrm>
          <a:prstGeom prst="roundRect">
            <a:avLst>
              <a:gd name="adj" fmla="val 3810"/>
            </a:avLst>
          </a:prstGeom>
          <a:solidFill>
            <a:schemeClr val="bg2"/>
          </a:solidFill>
          <a:ln/>
          <a:effectLst>
            <a:outerShdw blurRad="76200" dist="25400" dir="5400000" algn="bl" rotWithShape="0">
              <a:srgbClr val="000000">
                <a:alpha val="14000"/>
              </a:srgbClr>
            </a:outerShdw>
          </a:effectLst>
        </p:spPr>
      </p:sp>
      <p:sp>
        <p:nvSpPr>
          <p:cNvPr id="31" name="badge5"/>
          <p:cNvSpPr/>
          <p:nvPr/>
        </p:nvSpPr>
        <p:spPr>
          <a:xfrm>
            <a:off x="868680" y="4114800"/>
            <a:ext cx="502920" cy="502920"/>
          </a:xfrm>
          <a:prstGeom prst="ellipse">
            <a:avLst/>
          </a:prstGeom>
          <a:solidFill>
            <a:schemeClr val="accent2"/>
          </a:solidFill>
          <a:ln/>
        </p:spPr>
      </p:sp>
      <p:sp>
        <p:nvSpPr>
          <p:cNvPr id="32" name="Text 30"/>
          <p:cNvSpPr txBox="1"/>
          <p:nvPr/>
        </p:nvSpPr>
        <p:spPr>
          <a:xfrm>
            <a:off x="868680" y="4114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33" name="Text 31"/>
          <p:cNvSpPr txBox="1"/>
          <p:nvPr/>
        </p:nvSpPr>
        <p:spPr>
          <a:xfrm>
            <a:off x="868680" y="41148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4" name="Text 32"/>
          <p:cNvSpPr txBox="1"/>
          <p:nvPr/>
        </p:nvSpPr>
        <p:spPr>
          <a:xfrm>
            <a:off x="868680" y="4754880"/>
            <a:ext cx="2103120" cy="365760"/>
          </a:xfrm>
          <a:prstGeom prst="rect">
            <a:avLst/>
          </a:prstGeom>
          <a:noFill/>
          <a:ln/>
        </p:spPr>
        <p:txBody>
          <a:bodyPr wrap="square" lIns="0" tIns="0" rIns="0" bIns="0" rtlCol="0" anchor="t"/>
          <a:lstStyle/>
          <a:p>
            <a:pPr marL="0" indent="0">
              <a:buNone/>
            </a:pPr>
            <a:r>
              <a:rPr lang="en-US" sz="1800" b="1" dirty="0">
                <a:solidFill>
                  <a:schemeClr val="tx1"/>
                </a:solidFill>
              </a:rPr>
              <a:t>Digit extraction</a:t>
            </a:r>
            <a:endParaRPr lang="en-US" sz="1800" dirty="0"/>
          </a:p>
        </p:txBody>
      </p:sp>
      <p:sp>
        <p:nvSpPr>
          <p:cNvPr id="35" name="Text 33"/>
          <p:cNvSpPr txBox="1"/>
          <p:nvPr/>
        </p:nvSpPr>
        <p:spPr>
          <a:xfrm>
            <a:off x="868680" y="5166360"/>
            <a:ext cx="2103120" cy="548640"/>
          </a:xfrm>
          <a:prstGeom prst="rect">
            <a:avLst/>
          </a:prstGeom>
          <a:noFill/>
          <a:ln/>
        </p:spPr>
        <p:txBody>
          <a:bodyPr wrap="square" lIns="0" tIns="0" rIns="0" bIns="0" rtlCol="0" anchor="t"/>
          <a:lstStyle/>
          <a:p>
            <a:pPr marL="0" indent="0">
              <a:buNone/>
            </a:pPr>
            <a:r>
              <a:rPr lang="en-US" sz="1400" dirty="0">
                <a:solidFill>
                  <a:schemeClr val="tx2"/>
                </a:solidFill>
              </a:rPr>
              <a:t>Pull each leading digit</a:t>
            </a:r>
            <a:endParaRPr lang="en-US" sz="1400" dirty="0"/>
          </a:p>
        </p:txBody>
      </p:sp>
      <p:sp>
        <p:nvSpPr>
          <p:cNvPr id="36" name="arrow"/>
          <p:cNvSpPr/>
          <p:nvPr/>
        </p:nvSpPr>
        <p:spPr>
          <a:xfrm>
            <a:off x="3182112" y="4846320"/>
            <a:ext cx="228600" cy="0"/>
          </a:xfrm>
          <a:prstGeom prst="line">
            <a:avLst/>
          </a:prstGeom>
          <a:noFill/>
          <a:ln w="28575">
            <a:solidFill>
              <a:schemeClr val="tx2"/>
            </a:solidFill>
            <a:prstDash val="solid"/>
            <a:tailEnd type="triangle"/>
          </a:ln>
        </p:spPr>
      </p:sp>
      <p:sp>
        <p:nvSpPr>
          <p:cNvPr id="37" name="step card 6"/>
          <p:cNvSpPr/>
          <p:nvPr/>
        </p:nvSpPr>
        <p:spPr>
          <a:xfrm>
            <a:off x="3426257" y="3886200"/>
            <a:ext cx="2514600" cy="1920240"/>
          </a:xfrm>
          <a:prstGeom prst="roundRect">
            <a:avLst>
              <a:gd name="adj" fmla="val 3810"/>
            </a:avLst>
          </a:prstGeom>
          <a:solidFill>
            <a:schemeClr val="bg2"/>
          </a:solidFill>
          <a:ln/>
          <a:effectLst>
            <a:outerShdw blurRad="76200" dist="25400" dir="5400000" algn="bl" rotWithShape="0">
              <a:srgbClr val="000000">
                <a:alpha val="14000"/>
              </a:srgbClr>
            </a:outerShdw>
          </a:effectLst>
        </p:spPr>
      </p:sp>
      <p:sp>
        <p:nvSpPr>
          <p:cNvPr id="38" name="badge6"/>
          <p:cNvSpPr/>
          <p:nvPr/>
        </p:nvSpPr>
        <p:spPr>
          <a:xfrm>
            <a:off x="3654857" y="4114800"/>
            <a:ext cx="502920" cy="502920"/>
          </a:xfrm>
          <a:prstGeom prst="ellipse">
            <a:avLst/>
          </a:prstGeom>
          <a:solidFill>
            <a:schemeClr val="accent2"/>
          </a:solidFill>
          <a:ln/>
        </p:spPr>
      </p:sp>
      <p:sp>
        <p:nvSpPr>
          <p:cNvPr id="39" name="Text 37"/>
          <p:cNvSpPr txBox="1"/>
          <p:nvPr/>
        </p:nvSpPr>
        <p:spPr>
          <a:xfrm>
            <a:off x="3654857" y="4114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6</a:t>
            </a:r>
            <a:endParaRPr lang="en-US" sz="1600" dirty="0"/>
          </a:p>
        </p:txBody>
      </p:sp>
      <p:sp>
        <p:nvSpPr>
          <p:cNvPr id="40" name="Text 38"/>
          <p:cNvSpPr txBox="1"/>
          <p:nvPr/>
        </p:nvSpPr>
        <p:spPr>
          <a:xfrm>
            <a:off x="3654857" y="41148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41" name="Text 39"/>
          <p:cNvSpPr txBox="1"/>
          <p:nvPr/>
        </p:nvSpPr>
        <p:spPr>
          <a:xfrm>
            <a:off x="3654857" y="4754880"/>
            <a:ext cx="2103120" cy="365760"/>
          </a:xfrm>
          <a:prstGeom prst="rect">
            <a:avLst/>
          </a:prstGeom>
          <a:noFill/>
          <a:ln/>
        </p:spPr>
        <p:txBody>
          <a:bodyPr wrap="square" lIns="0" tIns="0" rIns="0" bIns="0" rtlCol="0" anchor="t"/>
          <a:lstStyle/>
          <a:p>
            <a:pPr marL="0" indent="0">
              <a:buNone/>
            </a:pPr>
            <a:r>
              <a:rPr lang="en-US" sz="1800" b="1" dirty="0">
                <a:solidFill>
                  <a:schemeClr val="tx1"/>
                </a:solidFill>
              </a:rPr>
              <a:t>Statistical testing</a:t>
            </a:r>
            <a:endParaRPr lang="en-US" sz="1800" dirty="0"/>
          </a:p>
        </p:txBody>
      </p:sp>
      <p:sp>
        <p:nvSpPr>
          <p:cNvPr id="42" name="Text 40"/>
          <p:cNvSpPr txBox="1"/>
          <p:nvPr/>
        </p:nvSpPr>
        <p:spPr>
          <a:xfrm>
            <a:off x="3654857" y="5166360"/>
            <a:ext cx="2103120" cy="548640"/>
          </a:xfrm>
          <a:prstGeom prst="rect">
            <a:avLst/>
          </a:prstGeom>
          <a:noFill/>
          <a:ln/>
        </p:spPr>
        <p:txBody>
          <a:bodyPr wrap="square" lIns="0" tIns="0" rIns="0" bIns="0" rtlCol="0" anchor="t"/>
          <a:lstStyle/>
          <a:p>
            <a:pPr marL="0" indent="0">
              <a:buNone/>
            </a:pPr>
            <a:r>
              <a:rPr lang="en-US" sz="1400" dirty="0">
                <a:solidFill>
                  <a:schemeClr val="tx2"/>
                </a:solidFill>
              </a:rPr>
              <a:t>Chi-square, MAD, residuals</a:t>
            </a:r>
            <a:endParaRPr lang="en-US" sz="1400" dirty="0"/>
          </a:p>
        </p:txBody>
      </p:sp>
      <p:sp>
        <p:nvSpPr>
          <p:cNvPr id="43" name="arrow"/>
          <p:cNvSpPr/>
          <p:nvPr/>
        </p:nvSpPr>
        <p:spPr>
          <a:xfrm>
            <a:off x="5968289" y="4846320"/>
            <a:ext cx="228600" cy="0"/>
          </a:xfrm>
          <a:prstGeom prst="line">
            <a:avLst/>
          </a:prstGeom>
          <a:noFill/>
          <a:ln w="28575">
            <a:solidFill>
              <a:schemeClr val="tx2"/>
            </a:solidFill>
            <a:prstDash val="solid"/>
            <a:tailEnd type="triangle"/>
          </a:ln>
        </p:spPr>
      </p:sp>
      <p:sp>
        <p:nvSpPr>
          <p:cNvPr id="44" name="step card 7"/>
          <p:cNvSpPr/>
          <p:nvPr/>
        </p:nvSpPr>
        <p:spPr>
          <a:xfrm>
            <a:off x="6212434" y="3886200"/>
            <a:ext cx="2514600" cy="1920240"/>
          </a:xfrm>
          <a:prstGeom prst="roundRect">
            <a:avLst>
              <a:gd name="adj" fmla="val 3810"/>
            </a:avLst>
          </a:prstGeom>
          <a:solidFill>
            <a:schemeClr val="bg2"/>
          </a:solidFill>
          <a:ln/>
          <a:effectLst>
            <a:outerShdw blurRad="76200" dist="25400" dir="5400000" algn="bl" rotWithShape="0">
              <a:srgbClr val="000000">
                <a:alpha val="14000"/>
              </a:srgbClr>
            </a:outerShdw>
          </a:effectLst>
        </p:spPr>
      </p:sp>
      <p:sp>
        <p:nvSpPr>
          <p:cNvPr id="45" name="badge7"/>
          <p:cNvSpPr/>
          <p:nvPr/>
        </p:nvSpPr>
        <p:spPr>
          <a:xfrm>
            <a:off x="6441034" y="4114800"/>
            <a:ext cx="502920" cy="502920"/>
          </a:xfrm>
          <a:prstGeom prst="ellipse">
            <a:avLst/>
          </a:prstGeom>
          <a:solidFill>
            <a:schemeClr val="accent2"/>
          </a:solidFill>
          <a:ln/>
        </p:spPr>
      </p:sp>
      <p:sp>
        <p:nvSpPr>
          <p:cNvPr id="46" name="Text 44"/>
          <p:cNvSpPr txBox="1"/>
          <p:nvPr/>
        </p:nvSpPr>
        <p:spPr>
          <a:xfrm>
            <a:off x="6441034" y="4114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7</a:t>
            </a:r>
            <a:endParaRPr lang="en-US" sz="1600" dirty="0"/>
          </a:p>
        </p:txBody>
      </p:sp>
      <p:sp>
        <p:nvSpPr>
          <p:cNvPr id="47" name="Text 45"/>
          <p:cNvSpPr txBox="1"/>
          <p:nvPr/>
        </p:nvSpPr>
        <p:spPr>
          <a:xfrm>
            <a:off x="6441034" y="41148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7</a:t>
            </a:r>
            <a:endParaRPr lang="en-US" sz="1800" dirty="0"/>
          </a:p>
        </p:txBody>
      </p:sp>
      <p:sp>
        <p:nvSpPr>
          <p:cNvPr id="48" name="Text 46"/>
          <p:cNvSpPr txBox="1"/>
          <p:nvPr/>
        </p:nvSpPr>
        <p:spPr>
          <a:xfrm>
            <a:off x="6441034" y="4754880"/>
            <a:ext cx="2103120" cy="365760"/>
          </a:xfrm>
          <a:prstGeom prst="rect">
            <a:avLst/>
          </a:prstGeom>
          <a:noFill/>
          <a:ln/>
        </p:spPr>
        <p:txBody>
          <a:bodyPr wrap="square" lIns="0" tIns="0" rIns="0" bIns="0" rtlCol="0" anchor="t"/>
          <a:lstStyle/>
          <a:p>
            <a:pPr marL="0" indent="0">
              <a:buNone/>
            </a:pPr>
            <a:r>
              <a:rPr lang="en-US" sz="1800" b="1" dirty="0">
                <a:solidFill>
                  <a:schemeClr val="tx1"/>
                </a:solidFill>
              </a:rPr>
              <a:t>Anomaly flagging</a:t>
            </a:r>
            <a:endParaRPr lang="en-US" sz="1800" dirty="0"/>
          </a:p>
        </p:txBody>
      </p:sp>
      <p:sp>
        <p:nvSpPr>
          <p:cNvPr id="49" name="Text 47"/>
          <p:cNvSpPr txBox="1"/>
          <p:nvPr/>
        </p:nvSpPr>
        <p:spPr>
          <a:xfrm>
            <a:off x="6441034" y="5166360"/>
            <a:ext cx="2103120" cy="548640"/>
          </a:xfrm>
          <a:prstGeom prst="rect">
            <a:avLst/>
          </a:prstGeom>
          <a:noFill/>
          <a:ln/>
        </p:spPr>
        <p:txBody>
          <a:bodyPr wrap="square" lIns="0" tIns="0" rIns="0" bIns="0" rtlCol="0" anchor="t"/>
          <a:lstStyle/>
          <a:p>
            <a:pPr marL="0" indent="0">
              <a:buNone/>
            </a:pPr>
            <a:r>
              <a:rPr lang="en-US" sz="1400" dirty="0">
                <a:solidFill>
                  <a:schemeClr val="tx2"/>
                </a:solidFill>
              </a:rPr>
              <a:t>Adjusted p-values and effect</a:t>
            </a:r>
            <a:endParaRPr lang="en-US" sz="1400" dirty="0"/>
          </a:p>
        </p:txBody>
      </p:sp>
      <p:sp>
        <p:nvSpPr>
          <p:cNvPr id="50" name="arrow"/>
          <p:cNvSpPr/>
          <p:nvPr/>
        </p:nvSpPr>
        <p:spPr>
          <a:xfrm>
            <a:off x="8754466" y="4846320"/>
            <a:ext cx="228600" cy="0"/>
          </a:xfrm>
          <a:prstGeom prst="line">
            <a:avLst/>
          </a:prstGeom>
          <a:noFill/>
          <a:ln w="28575">
            <a:solidFill>
              <a:schemeClr val="tx2"/>
            </a:solidFill>
            <a:prstDash val="solid"/>
            <a:tailEnd type="triangle"/>
          </a:ln>
        </p:spPr>
      </p:sp>
      <p:sp>
        <p:nvSpPr>
          <p:cNvPr id="51" name="step card 8"/>
          <p:cNvSpPr/>
          <p:nvPr/>
        </p:nvSpPr>
        <p:spPr>
          <a:xfrm>
            <a:off x="8998610" y="3886200"/>
            <a:ext cx="2514600" cy="1920240"/>
          </a:xfrm>
          <a:prstGeom prst="roundRect">
            <a:avLst>
              <a:gd name="adj" fmla="val 3810"/>
            </a:avLst>
          </a:prstGeom>
          <a:solidFill>
            <a:schemeClr val="tx1"/>
          </a:solidFill>
          <a:ln/>
          <a:effectLst>
            <a:outerShdw blurRad="76200" dist="25400" dir="5400000" algn="bl" rotWithShape="0">
              <a:srgbClr val="000000">
                <a:alpha val="14000"/>
              </a:srgbClr>
            </a:outerShdw>
          </a:effectLst>
        </p:spPr>
      </p:sp>
      <p:sp>
        <p:nvSpPr>
          <p:cNvPr id="52" name="badge8"/>
          <p:cNvSpPr/>
          <p:nvPr/>
        </p:nvSpPr>
        <p:spPr>
          <a:xfrm>
            <a:off x="9227210" y="4114800"/>
            <a:ext cx="502920" cy="502920"/>
          </a:xfrm>
          <a:prstGeom prst="ellipse">
            <a:avLst/>
          </a:prstGeom>
          <a:solidFill>
            <a:schemeClr val="accent1"/>
          </a:solidFill>
          <a:ln/>
        </p:spPr>
      </p:sp>
      <p:sp>
        <p:nvSpPr>
          <p:cNvPr id="53" name="Text 51"/>
          <p:cNvSpPr txBox="1"/>
          <p:nvPr/>
        </p:nvSpPr>
        <p:spPr>
          <a:xfrm>
            <a:off x="9227210" y="411480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8</a:t>
            </a:r>
            <a:endParaRPr lang="en-US" sz="1600" dirty="0"/>
          </a:p>
        </p:txBody>
      </p:sp>
      <p:sp>
        <p:nvSpPr>
          <p:cNvPr id="54" name="Text 52"/>
          <p:cNvSpPr txBox="1"/>
          <p:nvPr/>
        </p:nvSpPr>
        <p:spPr>
          <a:xfrm>
            <a:off x="9227210" y="4754880"/>
            <a:ext cx="2103120" cy="365760"/>
          </a:xfrm>
          <a:prstGeom prst="rect">
            <a:avLst/>
          </a:prstGeom>
          <a:noFill/>
          <a:ln/>
        </p:spPr>
        <p:txBody>
          <a:bodyPr wrap="square" lIns="0" tIns="0" rIns="0" bIns="0" rtlCol="0" anchor="t"/>
          <a:lstStyle/>
          <a:p>
            <a:pPr marL="0" indent="0">
              <a:buNone/>
            </a:pPr>
            <a:r>
              <a:rPr lang="en-US" sz="1800" b="1" dirty="0">
                <a:solidFill>
                  <a:schemeClr val="bg1"/>
                </a:solidFill>
              </a:rPr>
              <a:t>Interpretation</a:t>
            </a:r>
            <a:endParaRPr lang="en-US" sz="1800" dirty="0"/>
          </a:p>
        </p:txBody>
      </p:sp>
      <p:sp>
        <p:nvSpPr>
          <p:cNvPr id="55" name="Text 53"/>
          <p:cNvSpPr txBox="1"/>
          <p:nvPr/>
        </p:nvSpPr>
        <p:spPr>
          <a:xfrm>
            <a:off x="9227210" y="5166360"/>
            <a:ext cx="2103120" cy="548640"/>
          </a:xfrm>
          <a:prstGeom prst="rect">
            <a:avLst/>
          </a:prstGeom>
          <a:noFill/>
          <a:ln/>
        </p:spPr>
        <p:txBody>
          <a:bodyPr wrap="square" lIns="0" tIns="0" rIns="0" bIns="0" rtlCol="0" anchor="t"/>
          <a:lstStyle/>
          <a:p>
            <a:pPr marL="0" indent="0">
              <a:buNone/>
            </a:pPr>
            <a:r>
              <a:rPr lang="en-US" sz="1400" dirty="0">
                <a:solidFill>
                  <a:schemeClr val="bg2"/>
                </a:solidFill>
              </a:rPr>
              <a:t>A reason to look, not proof</a:t>
            </a:r>
            <a:endParaRPr lang="en-US" sz="1400" dirty="0"/>
          </a:p>
        </p:txBody>
      </p:sp>
      <p:sp>
        <p:nvSpPr>
          <p:cNvPr id="56"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What does “normal” look like?</a:t>
            </a:r>
            <a:endParaRPr lang="en-US" sz="3400" dirty="0"/>
          </a:p>
        </p:txBody>
      </p:sp>
      <p:graphicFrame>
        <p:nvGraphicFramePr>
          <p:cNvPr id="3" name="Chart 0"/>
          <p:cNvGraphicFramePr/>
          <p:nvPr/>
        </p:nvGraphicFramePr>
        <p:xfrm>
          <a:off x="640080" y="1463040"/>
          <a:ext cx="70408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640080" y="5760720"/>
            <a:ext cx="7040880" cy="320040"/>
          </a:xfrm>
          <a:prstGeom prst="rect">
            <a:avLst/>
          </a:prstGeom>
          <a:noFill/>
          <a:ln/>
        </p:spPr>
        <p:txBody>
          <a:bodyPr wrap="square" lIns="0" tIns="0" rIns="0" bIns="0" rtlCol="0" anchor="t"/>
          <a:lstStyle/>
          <a:p>
            <a:pPr marL="0" indent="0">
              <a:buNone/>
            </a:pPr>
            <a:r>
              <a:rPr lang="en-US" sz="1200" i="1" dirty="0">
                <a:solidFill>
                  <a:schemeClr val="tx2"/>
                </a:solidFill>
              </a:rPr>
              <a:t>Expected first-digit frequencies under Benford’s Law (theoretical values).</a:t>
            </a:r>
            <a:endParaRPr lang="en-US" sz="1200" dirty="0"/>
          </a:p>
        </p:txBody>
      </p:sp>
      <p:sp>
        <p:nvSpPr>
          <p:cNvPr id="5" name="formula card"/>
          <p:cNvSpPr/>
          <p:nvPr/>
        </p:nvSpPr>
        <p:spPr>
          <a:xfrm>
            <a:off x="8046720" y="1554480"/>
            <a:ext cx="3474720" cy="2103120"/>
          </a:xfrm>
          <a:prstGeom prst="roundRect">
            <a:avLst>
              <a:gd name="adj" fmla="val 3478"/>
            </a:avLst>
          </a:prstGeom>
          <a:solidFill>
            <a:schemeClr val="tx1"/>
          </a:solidFill>
          <a:ln/>
          <a:effectLst>
            <a:outerShdw blurRad="76200" dist="25400" dir="5400000" algn="bl" rotWithShape="0">
              <a:srgbClr val="000000">
                <a:alpha val="14000"/>
              </a:srgbClr>
            </a:outerShdw>
          </a:effectLst>
        </p:spPr>
      </p:sp>
      <p:sp>
        <p:nvSpPr>
          <p:cNvPr id="6" name="Text 3"/>
          <p:cNvSpPr txBox="1"/>
          <p:nvPr/>
        </p:nvSpPr>
        <p:spPr>
          <a:xfrm>
            <a:off x="8321040" y="1783080"/>
            <a:ext cx="3017520" cy="274320"/>
          </a:xfrm>
          <a:prstGeom prst="rect">
            <a:avLst/>
          </a:prstGeom>
          <a:noFill/>
          <a:ln/>
        </p:spPr>
        <p:txBody>
          <a:bodyPr wrap="square" lIns="0" tIns="0" rIns="0" bIns="0" rtlCol="0" anchor="t"/>
          <a:lstStyle/>
          <a:p>
            <a:pPr marL="0" indent="0">
              <a:buNone/>
            </a:pPr>
            <a:r>
              <a:rPr lang="en-US" sz="1200" b="1" dirty="0">
                <a:solidFill>
                  <a:schemeClr val="accent1"/>
                </a:solidFill>
              </a:rPr>
              <a:t>EXPECTED SHARE OF DIGIT d</a:t>
            </a:r>
            <a:endParaRPr lang="en-US" sz="1200" dirty="0"/>
          </a:p>
        </p:txBody>
      </p:sp>
      <p:sp>
        <p:nvSpPr>
          <p:cNvPr id="7" name="Text 4"/>
          <p:cNvSpPr txBox="1"/>
          <p:nvPr/>
        </p:nvSpPr>
        <p:spPr>
          <a:xfrm>
            <a:off x="8321040" y="2240280"/>
            <a:ext cx="3017520" cy="731520"/>
          </a:xfrm>
          <a:prstGeom prst="rect">
            <a:avLst/>
          </a:prstGeom>
          <a:noFill/>
          <a:ln/>
        </p:spPr>
        <p:txBody>
          <a:bodyPr wrap="square" lIns="0" tIns="0" rIns="0" bIns="0" rtlCol="0" anchor="t"/>
          <a:lstStyle/>
          <a:p>
            <a:pPr marL="0" indent="0">
              <a:buNone/>
            </a:pPr>
            <a:r>
              <a:rPr lang="en-US" sz="2600" dirty="0">
                <a:solidFill>
                  <a:schemeClr val="bg1"/>
                </a:solidFill>
                <a:latin typeface="Cambria" pitchFamily="34" charset="0"/>
                <a:ea typeface="Cambria" pitchFamily="34" charset="-122"/>
                <a:cs typeface="Cambria" pitchFamily="34" charset="-120"/>
              </a:rPr>
              <a:t>P(d) = log₁₀(1 + 1/d)</a:t>
            </a:r>
            <a:endParaRPr lang="en-US" sz="2600" dirty="0"/>
          </a:p>
        </p:txBody>
      </p:sp>
      <p:sp>
        <p:nvSpPr>
          <p:cNvPr id="8" name="Text 5"/>
          <p:cNvSpPr txBox="1"/>
          <p:nvPr/>
        </p:nvSpPr>
        <p:spPr>
          <a:xfrm>
            <a:off x="8321040" y="3017520"/>
            <a:ext cx="3017520" cy="365760"/>
          </a:xfrm>
          <a:prstGeom prst="rect">
            <a:avLst/>
          </a:prstGeom>
          <a:noFill/>
          <a:ln/>
        </p:spPr>
        <p:txBody>
          <a:bodyPr wrap="square" lIns="0" tIns="0" rIns="0" bIns="0" rtlCol="0" anchor="t"/>
          <a:lstStyle/>
          <a:p>
            <a:pPr marL="0" indent="0">
              <a:buNone/>
            </a:pPr>
            <a:r>
              <a:rPr lang="en-US" sz="1400" dirty="0">
                <a:solidFill>
                  <a:schemeClr val="bg2"/>
                </a:solidFill>
              </a:rPr>
              <a:t>for d = 1, 2, …, 9</a:t>
            </a:r>
            <a:endParaRPr lang="en-US" sz="1400" dirty="0"/>
          </a:p>
        </p:txBody>
      </p:sp>
      <p:sp>
        <p:nvSpPr>
          <p:cNvPr id="9" name="sticky note"/>
          <p:cNvSpPr/>
          <p:nvPr/>
        </p:nvSpPr>
        <p:spPr>
          <a:xfrm rot="90000">
            <a:off x="7955280" y="4023360"/>
            <a:ext cx="3566160" cy="1737360"/>
          </a:xfrm>
          <a:prstGeom prst="rect">
            <a:avLst/>
          </a:prstGeom>
          <a:solidFill>
            <a:schemeClr val="accent6"/>
          </a:solidFill>
          <a:ln/>
          <a:effectLst>
            <a:outerShdw blurRad="76200" dist="25400" dir="5400000" algn="bl" rotWithShape="0">
              <a:srgbClr val="000000">
                <a:alpha val="14000"/>
              </a:srgbClr>
            </a:outerShdw>
          </a:effectLst>
        </p:spPr>
        <p:txBody>
          <a:bodyPr wrap="square" lIns="2286" tIns="2286" rIns="2286" bIns="2286" rtlCol="0" anchor="t"/>
          <a:lstStyle/>
          <a:p>
            <a:pPr marL="0" indent="0">
              <a:spcAft>
                <a:spcPts val="600"/>
              </a:spcAft>
              <a:buNone/>
            </a:pPr>
            <a:r>
              <a:rPr lang="en-US" sz="1200" b="1" dirty="0">
                <a:solidFill>
                  <a:schemeClr val="tx2"/>
                </a:solidFill>
              </a:rPr>
              <a:t>IN PLAIN WORDS</a:t>
            </a:r>
            <a:endParaRPr lang="en-US" sz="1200" dirty="0"/>
          </a:p>
          <a:p>
            <a:pPr marL="0" indent="0">
              <a:buNone/>
            </a:pPr>
            <a:r>
              <a:rPr lang="en-US" sz="1600" dirty="0">
                <a:solidFill>
                  <a:schemeClr val="tx1"/>
                </a:solidFill>
              </a:rPr>
              <a:t>About 3 in 10 numbers start with a 1. Fewer than 1 in 20 start with a 9.</a:t>
            </a:r>
            <a:endParaRPr lang="en-US" sz="12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The toolkit, in plain English</a:t>
            </a:r>
            <a:endParaRPr lang="en-US" sz="3400" dirty="0"/>
          </a:p>
        </p:txBody>
      </p:sp>
      <p:sp>
        <p:nvSpPr>
          <p:cNvPr id="3" name="method card 1"/>
          <p:cNvSpPr/>
          <p:nvPr/>
        </p:nvSpPr>
        <p:spPr>
          <a:xfrm>
            <a:off x="640080" y="1554480"/>
            <a:ext cx="3456432"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4" name="badge1"/>
          <p:cNvSpPr/>
          <p:nvPr/>
        </p:nvSpPr>
        <p:spPr>
          <a:xfrm>
            <a:off x="868680" y="1783080"/>
            <a:ext cx="411480" cy="411480"/>
          </a:xfrm>
          <a:prstGeom prst="ellipse">
            <a:avLst/>
          </a:prstGeom>
          <a:solidFill>
            <a:schemeClr val="accent2"/>
          </a:solidFill>
          <a:ln/>
        </p:spPr>
      </p:sp>
      <p:sp>
        <p:nvSpPr>
          <p:cNvPr id="5" name="Text 3"/>
          <p:cNvSpPr txBox="1"/>
          <p:nvPr/>
        </p:nvSpPr>
        <p:spPr>
          <a:xfrm>
            <a:off x="868680" y="178308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868680" y="17830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1417320" y="1755648"/>
            <a:ext cx="2450592" cy="685800"/>
          </a:xfrm>
          <a:prstGeom prst="rect">
            <a:avLst/>
          </a:prstGeom>
          <a:noFill/>
          <a:ln/>
        </p:spPr>
        <p:txBody>
          <a:bodyPr wrap="square" lIns="0" tIns="0" rIns="0" bIns="0" rtlCol="0" anchor="t"/>
          <a:lstStyle/>
          <a:p>
            <a:pPr marL="0" indent="0">
              <a:buNone/>
            </a:pPr>
            <a:r>
              <a:rPr lang="en-US" sz="1800" b="1" dirty="0">
                <a:solidFill>
                  <a:schemeClr val="tx1"/>
                </a:solidFill>
              </a:rPr>
              <a:t>Chi-square goodness-of-fit</a:t>
            </a:r>
            <a:endParaRPr lang="en-US" sz="1800" dirty="0"/>
          </a:p>
        </p:txBody>
      </p:sp>
      <p:sp>
        <p:nvSpPr>
          <p:cNvPr id="8" name="Text 6"/>
          <p:cNvSpPr txBox="1"/>
          <p:nvPr/>
        </p:nvSpPr>
        <p:spPr>
          <a:xfrm>
            <a:off x="868680" y="2606040"/>
            <a:ext cx="2999232" cy="1051560"/>
          </a:xfrm>
          <a:prstGeom prst="rect">
            <a:avLst/>
          </a:prstGeom>
          <a:noFill/>
          <a:ln/>
        </p:spPr>
        <p:txBody>
          <a:bodyPr wrap="square" lIns="0" tIns="0" rIns="0" bIns="0" rtlCol="0" anchor="t"/>
          <a:lstStyle/>
          <a:p>
            <a:pPr marL="0" indent="0">
              <a:buNone/>
            </a:pPr>
            <a:r>
              <a:rPr lang="en-US" sz="1400" dirty="0">
                <a:solidFill>
                  <a:schemeClr val="tx2"/>
                </a:solidFill>
              </a:rPr>
              <a:t>Are the observed digit counts too far from the expected ones to be down to chance?</a:t>
            </a:r>
            <a:endParaRPr lang="en-US" sz="1400" dirty="0"/>
          </a:p>
        </p:txBody>
      </p:sp>
      <p:sp>
        <p:nvSpPr>
          <p:cNvPr id="9" name="method card 2"/>
          <p:cNvSpPr/>
          <p:nvPr/>
        </p:nvSpPr>
        <p:spPr>
          <a:xfrm>
            <a:off x="4370832" y="1554480"/>
            <a:ext cx="3456432"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10" name="badge2"/>
          <p:cNvSpPr/>
          <p:nvPr/>
        </p:nvSpPr>
        <p:spPr>
          <a:xfrm>
            <a:off x="4599432" y="1783080"/>
            <a:ext cx="411480" cy="411480"/>
          </a:xfrm>
          <a:prstGeom prst="ellipse">
            <a:avLst/>
          </a:prstGeom>
          <a:solidFill>
            <a:schemeClr val="accent2"/>
          </a:solidFill>
          <a:ln/>
        </p:spPr>
      </p:sp>
      <p:sp>
        <p:nvSpPr>
          <p:cNvPr id="11" name="Text 9"/>
          <p:cNvSpPr txBox="1"/>
          <p:nvPr/>
        </p:nvSpPr>
        <p:spPr>
          <a:xfrm>
            <a:off x="4599432" y="178308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2" name="Text 10"/>
          <p:cNvSpPr txBox="1"/>
          <p:nvPr/>
        </p:nvSpPr>
        <p:spPr>
          <a:xfrm>
            <a:off x="4599432" y="17830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Text 11"/>
          <p:cNvSpPr txBox="1"/>
          <p:nvPr/>
        </p:nvSpPr>
        <p:spPr>
          <a:xfrm>
            <a:off x="5148072" y="1755648"/>
            <a:ext cx="2450592" cy="685800"/>
          </a:xfrm>
          <a:prstGeom prst="rect">
            <a:avLst/>
          </a:prstGeom>
          <a:noFill/>
          <a:ln/>
        </p:spPr>
        <p:txBody>
          <a:bodyPr wrap="square" lIns="0" tIns="0" rIns="0" bIns="0" rtlCol="0" anchor="t"/>
          <a:lstStyle/>
          <a:p>
            <a:pPr marL="0" indent="0">
              <a:buNone/>
            </a:pPr>
            <a:r>
              <a:rPr lang="en-US" sz="1800" b="1" dirty="0">
                <a:solidFill>
                  <a:schemeClr val="tx1"/>
                </a:solidFill>
              </a:rPr>
              <a:t>MAD and conformity bands</a:t>
            </a:r>
            <a:endParaRPr lang="en-US" sz="1800" dirty="0"/>
          </a:p>
        </p:txBody>
      </p:sp>
      <p:sp>
        <p:nvSpPr>
          <p:cNvPr id="14" name="Text 12"/>
          <p:cNvSpPr txBox="1"/>
          <p:nvPr/>
        </p:nvSpPr>
        <p:spPr>
          <a:xfrm>
            <a:off x="4599432" y="2606040"/>
            <a:ext cx="2999232" cy="1051560"/>
          </a:xfrm>
          <a:prstGeom prst="rect">
            <a:avLst/>
          </a:prstGeom>
          <a:noFill/>
          <a:ln/>
        </p:spPr>
        <p:txBody>
          <a:bodyPr wrap="square" lIns="0" tIns="0" rIns="0" bIns="0" rtlCol="0" anchor="t"/>
          <a:lstStyle/>
          <a:p>
            <a:pPr marL="0" indent="0">
              <a:buNone/>
            </a:pPr>
            <a:r>
              <a:rPr lang="en-US" sz="1400" dirty="0">
                <a:solidFill>
                  <a:schemeClr val="tx2"/>
                </a:solidFill>
              </a:rPr>
              <a:t>How big is the gap, whatever the sample size? Nigrini bands: close ≤ 0.006, acceptable ≤ 0.012, marginal ≤ 0.015, beyond that nonconforming.</a:t>
            </a:r>
            <a:endParaRPr lang="en-US" sz="1400" dirty="0"/>
          </a:p>
        </p:txBody>
      </p:sp>
      <p:sp>
        <p:nvSpPr>
          <p:cNvPr id="15" name="method card 3"/>
          <p:cNvSpPr/>
          <p:nvPr/>
        </p:nvSpPr>
        <p:spPr>
          <a:xfrm>
            <a:off x="8101584" y="1554480"/>
            <a:ext cx="3456432"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16" name="badge3"/>
          <p:cNvSpPr/>
          <p:nvPr/>
        </p:nvSpPr>
        <p:spPr>
          <a:xfrm>
            <a:off x="8330184" y="1783080"/>
            <a:ext cx="411480" cy="411480"/>
          </a:xfrm>
          <a:prstGeom prst="ellipse">
            <a:avLst/>
          </a:prstGeom>
          <a:solidFill>
            <a:schemeClr val="accent2"/>
          </a:solidFill>
          <a:ln/>
        </p:spPr>
      </p:sp>
      <p:sp>
        <p:nvSpPr>
          <p:cNvPr id="17" name="Text 15"/>
          <p:cNvSpPr txBox="1"/>
          <p:nvPr/>
        </p:nvSpPr>
        <p:spPr>
          <a:xfrm>
            <a:off x="8330184" y="178308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8" name="Text 16"/>
          <p:cNvSpPr txBox="1"/>
          <p:nvPr/>
        </p:nvSpPr>
        <p:spPr>
          <a:xfrm>
            <a:off x="8330184" y="17830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9" name="Text 17"/>
          <p:cNvSpPr txBox="1"/>
          <p:nvPr/>
        </p:nvSpPr>
        <p:spPr>
          <a:xfrm>
            <a:off x="8878824" y="1755648"/>
            <a:ext cx="2450592" cy="685800"/>
          </a:xfrm>
          <a:prstGeom prst="rect">
            <a:avLst/>
          </a:prstGeom>
          <a:noFill/>
          <a:ln/>
        </p:spPr>
        <p:txBody>
          <a:bodyPr wrap="square" lIns="0" tIns="0" rIns="0" bIns="0" rtlCol="0" anchor="t"/>
          <a:lstStyle/>
          <a:p>
            <a:pPr marL="0" indent="0">
              <a:buNone/>
            </a:pPr>
            <a:r>
              <a:rPr lang="en-US" sz="1800" b="1" dirty="0">
                <a:solidFill>
                  <a:schemeClr val="tx1"/>
                </a:solidFill>
              </a:rPr>
              <a:t>Residuals and effect size</a:t>
            </a:r>
            <a:endParaRPr lang="en-US" sz="1800" dirty="0"/>
          </a:p>
        </p:txBody>
      </p:sp>
      <p:sp>
        <p:nvSpPr>
          <p:cNvPr id="20" name="Text 18"/>
          <p:cNvSpPr txBox="1"/>
          <p:nvPr/>
        </p:nvSpPr>
        <p:spPr>
          <a:xfrm>
            <a:off x="8330184" y="2606040"/>
            <a:ext cx="2999232" cy="1051560"/>
          </a:xfrm>
          <a:prstGeom prst="rect">
            <a:avLst/>
          </a:prstGeom>
          <a:noFill/>
          <a:ln/>
        </p:spPr>
        <p:txBody>
          <a:bodyPr wrap="square" lIns="0" tIns="0" rIns="0" bIns="0" rtlCol="0" anchor="t"/>
          <a:lstStyle/>
          <a:p>
            <a:pPr marL="0" indent="0">
              <a:buNone/>
            </a:pPr>
            <a:r>
              <a:rPr lang="en-US" sz="1400" dirty="0">
                <a:solidFill>
                  <a:schemeClr val="tx2"/>
                </a:solidFill>
              </a:rPr>
              <a:t>Which digits are off, in which direction, and is the departure large enough to matter?</a:t>
            </a:r>
            <a:endParaRPr lang="en-US" sz="1400" dirty="0"/>
          </a:p>
        </p:txBody>
      </p:sp>
      <p:sp>
        <p:nvSpPr>
          <p:cNvPr id="21" name="method card 4"/>
          <p:cNvSpPr/>
          <p:nvPr/>
        </p:nvSpPr>
        <p:spPr>
          <a:xfrm>
            <a:off x="640080" y="3886200"/>
            <a:ext cx="5317236"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22" name="badge4"/>
          <p:cNvSpPr/>
          <p:nvPr/>
        </p:nvSpPr>
        <p:spPr>
          <a:xfrm>
            <a:off x="868680" y="4114800"/>
            <a:ext cx="411480" cy="411480"/>
          </a:xfrm>
          <a:prstGeom prst="ellipse">
            <a:avLst/>
          </a:prstGeom>
          <a:solidFill>
            <a:schemeClr val="accent2"/>
          </a:solidFill>
          <a:ln/>
        </p:spPr>
      </p:sp>
      <p:sp>
        <p:nvSpPr>
          <p:cNvPr id="23" name="Text 21"/>
          <p:cNvSpPr txBox="1"/>
          <p:nvPr/>
        </p:nvSpPr>
        <p:spPr>
          <a:xfrm>
            <a:off x="868680" y="411480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4" name="Text 22"/>
          <p:cNvSpPr txBox="1"/>
          <p:nvPr/>
        </p:nvSpPr>
        <p:spPr>
          <a:xfrm>
            <a:off x="868680" y="411480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5" name="Text 23"/>
          <p:cNvSpPr txBox="1"/>
          <p:nvPr/>
        </p:nvSpPr>
        <p:spPr>
          <a:xfrm>
            <a:off x="1417320" y="4087368"/>
            <a:ext cx="4311396" cy="685800"/>
          </a:xfrm>
          <a:prstGeom prst="rect">
            <a:avLst/>
          </a:prstGeom>
          <a:noFill/>
          <a:ln/>
        </p:spPr>
        <p:txBody>
          <a:bodyPr wrap="square" lIns="0" tIns="0" rIns="0" bIns="0" rtlCol="0" anchor="t"/>
          <a:lstStyle/>
          <a:p>
            <a:pPr marL="0" indent="0">
              <a:buNone/>
            </a:pPr>
            <a:r>
              <a:rPr lang="en-US" sz="1800" b="1" dirty="0">
                <a:solidFill>
                  <a:schemeClr val="tx1"/>
                </a:solidFill>
              </a:rPr>
              <a:t>Multiple-testing correction</a:t>
            </a:r>
            <a:endParaRPr lang="en-US" sz="1800" dirty="0"/>
          </a:p>
        </p:txBody>
      </p:sp>
      <p:sp>
        <p:nvSpPr>
          <p:cNvPr id="26" name="Text 24"/>
          <p:cNvSpPr txBox="1"/>
          <p:nvPr/>
        </p:nvSpPr>
        <p:spPr>
          <a:xfrm>
            <a:off x="868680" y="4754880"/>
            <a:ext cx="4860036" cy="1051560"/>
          </a:xfrm>
          <a:prstGeom prst="rect">
            <a:avLst/>
          </a:prstGeom>
          <a:noFill/>
          <a:ln/>
        </p:spPr>
        <p:txBody>
          <a:bodyPr wrap="square" lIns="0" tIns="0" rIns="0" bIns="0" rtlCol="0" anchor="t"/>
          <a:lstStyle/>
          <a:p>
            <a:pPr marL="0" indent="0">
              <a:buNone/>
            </a:pPr>
            <a:r>
              <a:rPr lang="en-US" sz="1400" dirty="0">
                <a:solidFill>
                  <a:schemeClr val="tx2"/>
                </a:solidFill>
              </a:rPr>
              <a:t>We test many indicators at once, so p-values are adjusted to limit false alarms.</a:t>
            </a:r>
            <a:endParaRPr lang="en-US" sz="1400" dirty="0"/>
          </a:p>
        </p:txBody>
      </p:sp>
      <p:sp>
        <p:nvSpPr>
          <p:cNvPr id="27" name="method card 5"/>
          <p:cNvSpPr/>
          <p:nvPr/>
        </p:nvSpPr>
        <p:spPr>
          <a:xfrm>
            <a:off x="6231636" y="3886200"/>
            <a:ext cx="5317236"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28" name="badge5"/>
          <p:cNvSpPr/>
          <p:nvPr/>
        </p:nvSpPr>
        <p:spPr>
          <a:xfrm>
            <a:off x="6460236" y="4114800"/>
            <a:ext cx="411480" cy="411480"/>
          </a:xfrm>
          <a:prstGeom prst="ellipse">
            <a:avLst/>
          </a:prstGeom>
          <a:solidFill>
            <a:schemeClr val="accent2"/>
          </a:solidFill>
          <a:ln/>
        </p:spPr>
      </p:sp>
      <p:sp>
        <p:nvSpPr>
          <p:cNvPr id="29" name="Text 27"/>
          <p:cNvSpPr txBox="1"/>
          <p:nvPr/>
        </p:nvSpPr>
        <p:spPr>
          <a:xfrm>
            <a:off x="6460236" y="411480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30" name="Text 28"/>
          <p:cNvSpPr txBox="1"/>
          <p:nvPr/>
        </p:nvSpPr>
        <p:spPr>
          <a:xfrm>
            <a:off x="6460236" y="411480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31" name="Text 29"/>
          <p:cNvSpPr txBox="1"/>
          <p:nvPr/>
        </p:nvSpPr>
        <p:spPr>
          <a:xfrm>
            <a:off x="7008876" y="4087368"/>
            <a:ext cx="4311396" cy="685800"/>
          </a:xfrm>
          <a:prstGeom prst="rect">
            <a:avLst/>
          </a:prstGeom>
          <a:noFill/>
          <a:ln/>
        </p:spPr>
        <p:txBody>
          <a:bodyPr wrap="square" lIns="0" tIns="0" rIns="0" bIns="0" rtlCol="0" anchor="t"/>
          <a:lstStyle/>
          <a:p>
            <a:pPr marL="0" indent="0">
              <a:buNone/>
            </a:pPr>
            <a:r>
              <a:rPr lang="en-US" sz="1800" b="1" dirty="0">
                <a:solidFill>
                  <a:schemeClr val="tx1"/>
                </a:solidFill>
              </a:rPr>
              <a:t>Suitability and validity checks</a:t>
            </a:r>
            <a:endParaRPr lang="en-US" sz="1800" dirty="0"/>
          </a:p>
        </p:txBody>
      </p:sp>
      <p:sp>
        <p:nvSpPr>
          <p:cNvPr id="32" name="Text 30"/>
          <p:cNvSpPr txBox="1"/>
          <p:nvPr/>
        </p:nvSpPr>
        <p:spPr>
          <a:xfrm>
            <a:off x="6460236" y="4754880"/>
            <a:ext cx="4860036" cy="1051560"/>
          </a:xfrm>
          <a:prstGeom prst="rect">
            <a:avLst/>
          </a:prstGeom>
          <a:noFill/>
          <a:ln/>
        </p:spPr>
        <p:txBody>
          <a:bodyPr wrap="square" lIns="0" tIns="0" rIns="0" bIns="0" rtlCol="0" anchor="t"/>
          <a:lstStyle/>
          <a:p>
            <a:pPr marL="0" indent="0">
              <a:buNone/>
            </a:pPr>
            <a:r>
              <a:rPr lang="en-US" sz="1400" dirty="0">
                <a:solidFill>
                  <a:schemeClr val="tx2"/>
                </a:solidFill>
              </a:rPr>
              <a:t>Does the data span enough magnitudes for Benford’s Law to be a fair benchmark at all?</a:t>
            </a:r>
            <a:endParaRPr lang="en-US" sz="1400" dirty="0"/>
          </a:p>
        </p:txBody>
      </p:sp>
      <p:sp>
        <p:nvSpPr>
          <p:cNvPr id="33"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How it is built</a:t>
            </a:r>
            <a:endParaRPr lang="en-US" sz="3400" dirty="0"/>
          </a:p>
        </p:txBody>
      </p:sp>
      <p:sp>
        <p:nvSpPr>
          <p:cNvPr id="3" name="source real"/>
          <p:cNvSpPr/>
          <p:nvPr/>
        </p:nvSpPr>
        <p:spPr>
          <a:xfrm>
            <a:off x="640080" y="1554480"/>
            <a:ext cx="2560320" cy="1234440"/>
          </a:xfrm>
          <a:prstGeom prst="roundRect">
            <a:avLst>
              <a:gd name="adj" fmla="val 5926"/>
            </a:avLst>
          </a:prstGeom>
          <a:solidFill>
            <a:schemeClr val="accent2"/>
          </a:solidFill>
          <a:ln/>
          <a:effectLst>
            <a:outerShdw blurRad="76200" dist="25400" dir="5400000" algn="bl" rotWithShape="0">
              <a:srgbClr val="000000">
                <a:alpha val="14000"/>
              </a:srgbClr>
            </a:outerShdw>
          </a:effectLst>
        </p:spPr>
      </p:sp>
      <p:sp>
        <p:nvSpPr>
          <p:cNvPr id="4" name="Text 2"/>
          <p:cNvSpPr txBox="1"/>
          <p:nvPr/>
        </p:nvSpPr>
        <p:spPr>
          <a:xfrm>
            <a:off x="868680" y="1737360"/>
            <a:ext cx="2103120" cy="411480"/>
          </a:xfrm>
          <a:prstGeom prst="rect">
            <a:avLst/>
          </a:prstGeom>
          <a:noFill/>
          <a:ln/>
        </p:spPr>
        <p:txBody>
          <a:bodyPr wrap="square" lIns="0" tIns="0" rIns="0" bIns="0" rtlCol="0" anchor="t"/>
          <a:lstStyle/>
          <a:p>
            <a:pPr marL="0" indent="0">
              <a:buNone/>
            </a:pPr>
            <a:r>
              <a:rPr lang="en-US" sz="1800" b="1" dirty="0">
                <a:solidFill>
                  <a:schemeClr val="bg1"/>
                </a:solidFill>
              </a:rPr>
              <a:t>World Bank WDI</a:t>
            </a:r>
            <a:endParaRPr lang="en-US" sz="1800" dirty="0"/>
          </a:p>
        </p:txBody>
      </p:sp>
      <p:sp>
        <p:nvSpPr>
          <p:cNvPr id="5" name="Text 3"/>
          <p:cNvSpPr txBox="1"/>
          <p:nvPr/>
        </p:nvSpPr>
        <p:spPr>
          <a:xfrm>
            <a:off x="868680" y="2176272"/>
            <a:ext cx="2103120" cy="502920"/>
          </a:xfrm>
          <a:prstGeom prst="rect">
            <a:avLst/>
          </a:prstGeom>
          <a:noFill/>
          <a:ln/>
        </p:spPr>
        <p:txBody>
          <a:bodyPr wrap="square" lIns="0" tIns="0" rIns="0" bIns="0" rtlCol="0" anchor="t"/>
          <a:lstStyle/>
          <a:p>
            <a:pPr marL="0" indent="0">
              <a:buNone/>
            </a:pPr>
            <a:r>
              <a:rPr lang="en-US" sz="1400" dirty="0">
                <a:solidFill>
                  <a:schemeClr val="bg1"/>
                </a:solidFill>
              </a:rPr>
              <a:t>Real indicators</a:t>
            </a:r>
            <a:endParaRPr lang="en-US" sz="1400" dirty="0"/>
          </a:p>
        </p:txBody>
      </p:sp>
      <p:sp>
        <p:nvSpPr>
          <p:cNvPr id="6" name="source synthetic"/>
          <p:cNvSpPr/>
          <p:nvPr/>
        </p:nvSpPr>
        <p:spPr>
          <a:xfrm>
            <a:off x="640080" y="3063240"/>
            <a:ext cx="2560320" cy="1234440"/>
          </a:xfrm>
          <a:prstGeom prst="roundRect">
            <a:avLst>
              <a:gd name="adj" fmla="val 5926"/>
            </a:avLst>
          </a:prstGeom>
          <a:solidFill>
            <a:schemeClr val="accent2"/>
          </a:solidFill>
          <a:ln/>
          <a:effectLst>
            <a:outerShdw blurRad="76200" dist="25400" dir="5400000" algn="bl" rotWithShape="0">
              <a:srgbClr val="000000">
                <a:alpha val="14000"/>
              </a:srgbClr>
            </a:outerShdw>
          </a:effectLst>
        </p:spPr>
      </p:sp>
      <p:sp>
        <p:nvSpPr>
          <p:cNvPr id="7" name="Text 5"/>
          <p:cNvSpPr txBox="1"/>
          <p:nvPr/>
        </p:nvSpPr>
        <p:spPr>
          <a:xfrm>
            <a:off x="868680" y="3246120"/>
            <a:ext cx="2103120" cy="411480"/>
          </a:xfrm>
          <a:prstGeom prst="rect">
            <a:avLst/>
          </a:prstGeom>
          <a:noFill/>
          <a:ln/>
        </p:spPr>
        <p:txBody>
          <a:bodyPr wrap="square" lIns="0" tIns="0" rIns="0" bIns="0" rtlCol="0" anchor="t"/>
          <a:lstStyle/>
          <a:p>
            <a:pPr marL="0" indent="0">
              <a:buNone/>
            </a:pPr>
            <a:r>
              <a:rPr lang="en-US" sz="1800" b="1" dirty="0">
                <a:solidFill>
                  <a:schemeClr val="bg1"/>
                </a:solidFill>
              </a:rPr>
              <a:t>Synthetic test data</a:t>
            </a:r>
            <a:endParaRPr lang="en-US" sz="1800" dirty="0"/>
          </a:p>
        </p:txBody>
      </p:sp>
      <p:sp>
        <p:nvSpPr>
          <p:cNvPr id="8" name="Text 6"/>
          <p:cNvSpPr txBox="1"/>
          <p:nvPr/>
        </p:nvSpPr>
        <p:spPr>
          <a:xfrm>
            <a:off x="868680" y="3685032"/>
            <a:ext cx="2103120" cy="502920"/>
          </a:xfrm>
          <a:prstGeom prst="rect">
            <a:avLst/>
          </a:prstGeom>
          <a:noFill/>
          <a:ln/>
        </p:spPr>
        <p:txBody>
          <a:bodyPr wrap="square" lIns="0" tIns="0" rIns="0" bIns="0" rtlCol="0" anchor="t"/>
          <a:lstStyle/>
          <a:p>
            <a:pPr marL="0" indent="0">
              <a:buNone/>
            </a:pPr>
            <a:r>
              <a:rPr lang="en-US" sz="1400" dirty="0">
                <a:solidFill>
                  <a:schemeClr val="bg1"/>
                </a:solidFill>
              </a:rPr>
              <a:t>Known alterations</a:t>
            </a:r>
            <a:endParaRPr lang="en-US" sz="1400" dirty="0"/>
          </a:p>
        </p:txBody>
      </p:sp>
      <p:sp>
        <p:nvSpPr>
          <p:cNvPr id="9" name="R processing"/>
          <p:cNvSpPr/>
          <p:nvPr/>
        </p:nvSpPr>
        <p:spPr>
          <a:xfrm>
            <a:off x="3749040" y="1554480"/>
            <a:ext cx="2926080" cy="2743200"/>
          </a:xfrm>
          <a:prstGeom prst="roundRect">
            <a:avLst>
              <a:gd name="adj" fmla="val 2667"/>
            </a:avLst>
          </a:prstGeom>
          <a:solidFill>
            <a:schemeClr val="tx1"/>
          </a:solidFill>
          <a:ln/>
          <a:effectLst>
            <a:outerShdw blurRad="76200" dist="25400" dir="5400000" algn="bl" rotWithShape="0">
              <a:srgbClr val="000000">
                <a:alpha val="14000"/>
              </a:srgbClr>
            </a:outerShdw>
          </a:effectLst>
        </p:spPr>
      </p:sp>
      <p:sp>
        <p:nvSpPr>
          <p:cNvPr id="10" name="Text 8"/>
          <p:cNvSpPr txBox="1"/>
          <p:nvPr/>
        </p:nvSpPr>
        <p:spPr>
          <a:xfrm>
            <a:off x="3977640" y="1737360"/>
            <a:ext cx="2468880" cy="822960"/>
          </a:xfrm>
          <a:prstGeom prst="rect">
            <a:avLst/>
          </a:prstGeom>
          <a:noFill/>
          <a:ln/>
        </p:spPr>
        <p:txBody>
          <a:bodyPr wrap="square" lIns="0" tIns="0" rIns="0" bIns="0" rtlCol="0" anchor="t"/>
          <a:lstStyle/>
          <a:p>
            <a:pPr marL="0" indent="0">
              <a:buNone/>
            </a:pPr>
            <a:r>
              <a:rPr lang="en-US" sz="1800" b="1" dirty="0">
                <a:solidFill>
                  <a:schemeClr val="bg1"/>
                </a:solidFill>
              </a:rPr>
              <a:t>R processing and statistical functions</a:t>
            </a:r>
            <a:endParaRPr lang="en-US" sz="1800" dirty="0"/>
          </a:p>
        </p:txBody>
      </p:sp>
      <p:sp>
        <p:nvSpPr>
          <p:cNvPr id="11" name="Text 9"/>
          <p:cNvSpPr txBox="1"/>
          <p:nvPr/>
        </p:nvSpPr>
        <p:spPr>
          <a:xfrm>
            <a:off x="3977640" y="2560320"/>
            <a:ext cx="2468880" cy="274320"/>
          </a:xfrm>
          <a:prstGeom prst="rect">
            <a:avLst/>
          </a:prstGeom>
          <a:noFill/>
          <a:ln/>
        </p:spPr>
        <p:txBody>
          <a:bodyPr wrap="square" lIns="0" tIns="0" rIns="0" bIns="0" rtlCol="0" anchor="t"/>
          <a:lstStyle/>
          <a:p>
            <a:pPr marL="0" indent="0">
              <a:buNone/>
            </a:pPr>
            <a:r>
              <a:rPr lang="en-US" sz="1300" dirty="0">
                <a:solidFill>
                  <a:schemeClr val="accent1"/>
                </a:solidFill>
              </a:rPr>
              <a:t>R/benford.R</a:t>
            </a:r>
            <a:endParaRPr lang="en-US" sz="1300" dirty="0"/>
          </a:p>
        </p:txBody>
      </p:sp>
      <p:sp>
        <p:nvSpPr>
          <p:cNvPr id="12" name="Text 10"/>
          <p:cNvSpPr txBox="1"/>
          <p:nvPr/>
        </p:nvSpPr>
        <p:spPr>
          <a:xfrm>
            <a:off x="3977640" y="3108960"/>
            <a:ext cx="2468880" cy="365760"/>
          </a:xfrm>
          <a:prstGeom prst="rect">
            <a:avLst/>
          </a:prstGeom>
          <a:noFill/>
          <a:ln/>
        </p:spPr>
        <p:txBody>
          <a:bodyPr wrap="square" lIns="0" tIns="0" rIns="0" bIns="0" rtlCol="0" anchor="t"/>
          <a:lstStyle/>
          <a:p>
            <a:pPr marL="0" indent="0">
              <a:buNone/>
            </a:pPr>
            <a:r>
              <a:rPr lang="en-US" sz="1600" b="1" dirty="0">
                <a:solidFill>
                  <a:schemeClr val="bg1"/>
                </a:solidFill>
              </a:rPr>
              <a:t>Analysis pipeline</a:t>
            </a:r>
            <a:endParaRPr lang="en-US" sz="1600" dirty="0"/>
          </a:p>
        </p:txBody>
      </p:sp>
      <p:sp>
        <p:nvSpPr>
          <p:cNvPr id="13" name="Text 11"/>
          <p:cNvSpPr txBox="1"/>
          <p:nvPr/>
        </p:nvSpPr>
        <p:spPr>
          <a:xfrm>
            <a:off x="3977640" y="3474720"/>
            <a:ext cx="2468880" cy="274320"/>
          </a:xfrm>
          <a:prstGeom prst="rect">
            <a:avLst/>
          </a:prstGeom>
          <a:noFill/>
          <a:ln/>
        </p:spPr>
        <p:txBody>
          <a:bodyPr wrap="square" lIns="0" tIns="0" rIns="0" bIns="0" rtlCol="0" anchor="t"/>
          <a:lstStyle/>
          <a:p>
            <a:pPr marL="0" indent="0">
              <a:buNone/>
            </a:pPr>
            <a:r>
              <a:rPr lang="en-US" sz="1300" dirty="0">
                <a:solidFill>
                  <a:schemeClr val="accent1"/>
                </a:solidFill>
              </a:rPr>
              <a:t>scripts/run_all.R</a:t>
            </a:r>
            <a:endParaRPr lang="en-US" sz="1300" dirty="0"/>
          </a:p>
        </p:txBody>
      </p:sp>
      <p:sp>
        <p:nvSpPr>
          <p:cNvPr id="14" name="shiny"/>
          <p:cNvSpPr/>
          <p:nvPr/>
        </p:nvSpPr>
        <p:spPr>
          <a:xfrm>
            <a:off x="7223760" y="1554480"/>
            <a:ext cx="4297680" cy="1234440"/>
          </a:xfrm>
          <a:prstGeom prst="roundRect">
            <a:avLst>
              <a:gd name="adj" fmla="val 5926"/>
            </a:avLst>
          </a:prstGeom>
          <a:solidFill>
            <a:schemeClr val="bg2"/>
          </a:solidFill>
          <a:ln/>
          <a:effectLst>
            <a:outerShdw blurRad="76200" dist="25400" dir="5400000" algn="bl" rotWithShape="0">
              <a:srgbClr val="000000">
                <a:alpha val="14000"/>
              </a:srgbClr>
            </a:outerShdw>
          </a:effectLst>
        </p:spPr>
      </p:sp>
      <p:sp>
        <p:nvSpPr>
          <p:cNvPr id="15" name="Text 13"/>
          <p:cNvSpPr txBox="1"/>
          <p:nvPr/>
        </p:nvSpPr>
        <p:spPr>
          <a:xfrm>
            <a:off x="7452360" y="1737360"/>
            <a:ext cx="3840480" cy="411480"/>
          </a:xfrm>
          <a:prstGeom prst="rect">
            <a:avLst/>
          </a:prstGeom>
          <a:noFill/>
          <a:ln/>
        </p:spPr>
        <p:txBody>
          <a:bodyPr wrap="square" lIns="0" tIns="0" rIns="0" bIns="0" rtlCol="0" anchor="t"/>
          <a:lstStyle/>
          <a:p>
            <a:pPr marL="0" indent="0">
              <a:buNone/>
            </a:pPr>
            <a:r>
              <a:rPr lang="en-US" sz="1800" b="1" dirty="0">
                <a:solidFill>
                  <a:schemeClr val="tx1"/>
                </a:solidFill>
              </a:rPr>
              <a:t>Shiny interactive dashboard</a:t>
            </a:r>
            <a:endParaRPr lang="en-US" sz="1800" dirty="0"/>
          </a:p>
        </p:txBody>
      </p:sp>
      <p:sp>
        <p:nvSpPr>
          <p:cNvPr id="16" name="Text 14"/>
          <p:cNvSpPr txBox="1"/>
          <p:nvPr/>
        </p:nvSpPr>
        <p:spPr>
          <a:xfrm>
            <a:off x="7452360" y="2176272"/>
            <a:ext cx="3840480" cy="502920"/>
          </a:xfrm>
          <a:prstGeom prst="rect">
            <a:avLst/>
          </a:prstGeom>
          <a:noFill/>
          <a:ln/>
        </p:spPr>
        <p:txBody>
          <a:bodyPr wrap="square" lIns="0" tIns="0" rIns="0" bIns="0" rtlCol="0" anchor="t"/>
          <a:lstStyle/>
          <a:p>
            <a:pPr marL="0" indent="0">
              <a:buNone/>
            </a:pPr>
            <a:r>
              <a:rPr lang="en-US" sz="1400" dirty="0">
                <a:solidFill>
                  <a:schemeClr val="tx2"/>
                </a:solidFill>
              </a:rPr>
              <a:t>app.R</a:t>
            </a:r>
            <a:endParaRPr lang="en-US" sz="1400" dirty="0"/>
          </a:p>
        </p:txBody>
      </p:sp>
      <p:sp>
        <p:nvSpPr>
          <p:cNvPr id="17" name="outputs"/>
          <p:cNvSpPr/>
          <p:nvPr/>
        </p:nvSpPr>
        <p:spPr>
          <a:xfrm>
            <a:off x="7223760" y="3063240"/>
            <a:ext cx="4297680" cy="1234440"/>
          </a:xfrm>
          <a:prstGeom prst="roundRect">
            <a:avLst>
              <a:gd name="adj" fmla="val 5926"/>
            </a:avLst>
          </a:prstGeom>
          <a:solidFill>
            <a:schemeClr val="bg2"/>
          </a:solidFill>
          <a:ln/>
          <a:effectLst>
            <a:outerShdw blurRad="76200" dist="25400" dir="5400000" algn="bl" rotWithShape="0">
              <a:srgbClr val="000000">
                <a:alpha val="14000"/>
              </a:srgbClr>
            </a:outerShdw>
          </a:effectLst>
        </p:spPr>
      </p:sp>
      <p:sp>
        <p:nvSpPr>
          <p:cNvPr id="18" name="Text 16"/>
          <p:cNvSpPr txBox="1"/>
          <p:nvPr/>
        </p:nvSpPr>
        <p:spPr>
          <a:xfrm>
            <a:off x="7452360" y="3246120"/>
            <a:ext cx="3840480" cy="411480"/>
          </a:xfrm>
          <a:prstGeom prst="rect">
            <a:avLst/>
          </a:prstGeom>
          <a:noFill/>
          <a:ln/>
        </p:spPr>
        <p:txBody>
          <a:bodyPr wrap="square" lIns="0" tIns="0" rIns="0" bIns="0" rtlCol="0" anchor="t"/>
          <a:lstStyle/>
          <a:p>
            <a:pPr marL="0" indent="0">
              <a:buNone/>
            </a:pPr>
            <a:r>
              <a:rPr lang="en-US" sz="1800" b="1" dirty="0">
                <a:solidFill>
                  <a:schemeClr val="tx1"/>
                </a:solidFill>
              </a:rPr>
              <a:t>Generated outputs</a:t>
            </a:r>
            <a:endParaRPr lang="en-US" sz="1800" dirty="0"/>
          </a:p>
        </p:txBody>
      </p:sp>
      <p:sp>
        <p:nvSpPr>
          <p:cNvPr id="19" name="Text 17"/>
          <p:cNvSpPr txBox="1"/>
          <p:nvPr/>
        </p:nvSpPr>
        <p:spPr>
          <a:xfrm>
            <a:off x="7452360" y="3685032"/>
            <a:ext cx="3840480" cy="502920"/>
          </a:xfrm>
          <a:prstGeom prst="rect">
            <a:avLst/>
          </a:prstGeom>
          <a:noFill/>
          <a:ln/>
        </p:spPr>
        <p:txBody>
          <a:bodyPr wrap="square" lIns="0" tIns="0" rIns="0" bIns="0" rtlCol="0" anchor="t"/>
          <a:lstStyle/>
          <a:p>
            <a:pPr marL="0" indent="0">
              <a:buNone/>
            </a:pPr>
            <a:r>
              <a:rPr lang="en-US" sz="1400" dirty="0">
                <a:solidFill>
                  <a:schemeClr val="tx2"/>
                </a:solidFill>
              </a:rPr>
              <a:t>CSV tables · PNG figures · HTML / Word reports</a:t>
            </a:r>
            <a:endParaRPr lang="en-US" sz="1400" dirty="0"/>
          </a:p>
        </p:txBody>
      </p:sp>
      <p:sp>
        <p:nvSpPr>
          <p:cNvPr id="20" name="arrow"/>
          <p:cNvSpPr/>
          <p:nvPr/>
        </p:nvSpPr>
        <p:spPr>
          <a:xfrm>
            <a:off x="3246120" y="2167128"/>
            <a:ext cx="457200" cy="0"/>
          </a:xfrm>
          <a:prstGeom prst="line">
            <a:avLst/>
          </a:prstGeom>
          <a:noFill/>
          <a:ln w="28575">
            <a:solidFill>
              <a:schemeClr val="tx2"/>
            </a:solidFill>
            <a:prstDash val="solid"/>
            <a:tailEnd type="triangle"/>
          </a:ln>
        </p:spPr>
      </p:sp>
      <p:sp>
        <p:nvSpPr>
          <p:cNvPr id="21" name="arrow"/>
          <p:cNvSpPr/>
          <p:nvPr/>
        </p:nvSpPr>
        <p:spPr>
          <a:xfrm>
            <a:off x="3246120" y="3675888"/>
            <a:ext cx="457200" cy="0"/>
          </a:xfrm>
          <a:prstGeom prst="line">
            <a:avLst/>
          </a:prstGeom>
          <a:noFill/>
          <a:ln w="28575">
            <a:solidFill>
              <a:schemeClr val="tx2"/>
            </a:solidFill>
            <a:prstDash val="solid"/>
            <a:tailEnd type="triangle"/>
          </a:ln>
        </p:spPr>
      </p:sp>
      <p:sp>
        <p:nvSpPr>
          <p:cNvPr id="22" name="arrow"/>
          <p:cNvSpPr/>
          <p:nvPr/>
        </p:nvSpPr>
        <p:spPr>
          <a:xfrm>
            <a:off x="6720840" y="2167128"/>
            <a:ext cx="457200" cy="0"/>
          </a:xfrm>
          <a:prstGeom prst="line">
            <a:avLst/>
          </a:prstGeom>
          <a:noFill/>
          <a:ln w="28575">
            <a:solidFill>
              <a:schemeClr val="tx2"/>
            </a:solidFill>
            <a:prstDash val="solid"/>
            <a:tailEnd type="triangle"/>
          </a:ln>
        </p:spPr>
      </p:sp>
      <p:sp>
        <p:nvSpPr>
          <p:cNvPr id="23" name="arrow"/>
          <p:cNvSpPr/>
          <p:nvPr/>
        </p:nvSpPr>
        <p:spPr>
          <a:xfrm>
            <a:off x="6720840" y="3675888"/>
            <a:ext cx="457200" cy="0"/>
          </a:xfrm>
          <a:prstGeom prst="line">
            <a:avLst/>
          </a:prstGeom>
          <a:noFill/>
          <a:ln w="28575">
            <a:solidFill>
              <a:schemeClr val="tx2"/>
            </a:solidFill>
            <a:prstDash val="solid"/>
            <a:tailEnd type="triangle"/>
          </a:ln>
        </p:spPr>
      </p:sp>
      <p:sp>
        <p:nvSpPr>
          <p:cNvPr id="24" name="tests"/>
          <p:cNvSpPr/>
          <p:nvPr/>
        </p:nvSpPr>
        <p:spPr>
          <a:xfrm>
            <a:off x="640080" y="4617720"/>
            <a:ext cx="6400800" cy="1280160"/>
          </a:xfrm>
          <a:prstGeom prst="roundRect">
            <a:avLst>
              <a:gd name="adj" fmla="val 5714"/>
            </a:avLst>
          </a:prstGeom>
          <a:solidFill>
            <a:schemeClr val="bg2"/>
          </a:solidFill>
          <a:ln/>
          <a:effectLst>
            <a:outerShdw blurRad="76200" dist="25400" dir="5400000" algn="bl" rotWithShape="0">
              <a:srgbClr val="000000">
                <a:alpha val="14000"/>
              </a:srgbClr>
            </a:outerShdw>
          </a:effectLst>
        </p:spPr>
      </p:sp>
      <p:sp>
        <p:nvSpPr>
          <p:cNvPr id="25" name="Text 23"/>
          <p:cNvSpPr txBox="1"/>
          <p:nvPr/>
        </p:nvSpPr>
        <p:spPr>
          <a:xfrm>
            <a:off x="868680" y="4800600"/>
            <a:ext cx="5943600" cy="411480"/>
          </a:xfrm>
          <a:prstGeom prst="rect">
            <a:avLst/>
          </a:prstGeom>
          <a:noFill/>
          <a:ln/>
        </p:spPr>
        <p:txBody>
          <a:bodyPr wrap="square" lIns="0" tIns="0" rIns="0" bIns="0" rtlCol="0" anchor="t"/>
          <a:lstStyle/>
          <a:p>
            <a:pPr marL="0" indent="0">
              <a:buNone/>
            </a:pPr>
            <a:r>
              <a:rPr lang="en-US" sz="1800" b="1" dirty="0">
                <a:solidFill>
                  <a:schemeClr val="tx1"/>
                </a:solidFill>
              </a:rPr>
              <a:t>Automated test suite</a:t>
            </a:r>
            <a:endParaRPr lang="en-US" sz="1800" dirty="0"/>
          </a:p>
        </p:txBody>
      </p:sp>
      <p:sp>
        <p:nvSpPr>
          <p:cNvPr id="26" name="Text 24"/>
          <p:cNvSpPr txBox="1"/>
          <p:nvPr/>
        </p:nvSpPr>
        <p:spPr>
          <a:xfrm>
            <a:off x="868680" y="5239512"/>
            <a:ext cx="5943600" cy="548640"/>
          </a:xfrm>
          <a:prstGeom prst="rect">
            <a:avLst/>
          </a:prstGeom>
          <a:noFill/>
          <a:ln/>
        </p:spPr>
        <p:txBody>
          <a:bodyPr wrap="square" lIns="0" tIns="0" rIns="0" bIns="0" rtlCol="0" anchor="t"/>
          <a:lstStyle/>
          <a:p>
            <a:pPr marL="0" indent="0">
              <a:buNone/>
            </a:pPr>
            <a:r>
              <a:rPr lang="en-US" sz="1400" dirty="0">
                <a:solidFill>
                  <a:schemeClr val="tx2"/>
                </a:solidFill>
              </a:rPr>
              <a:t>Checks the pipeline and the dashboard</a:t>
            </a:r>
            <a:endParaRPr lang="en-US" sz="1400" dirty="0"/>
          </a:p>
        </p:txBody>
      </p:sp>
      <p:sp>
        <p:nvSpPr>
          <p:cNvPr id="27" name="sticky note"/>
          <p:cNvSpPr/>
          <p:nvPr/>
        </p:nvSpPr>
        <p:spPr>
          <a:xfrm rot="-90000">
            <a:off x="7680960" y="4572000"/>
            <a:ext cx="3840480" cy="1417320"/>
          </a:xfrm>
          <a:prstGeom prst="rect">
            <a:avLst/>
          </a:prstGeom>
          <a:solidFill>
            <a:schemeClr val="accent6"/>
          </a:solidFill>
          <a:ln/>
          <a:effectLst>
            <a:outerShdw blurRad="76200" dist="25400" dir="5400000" algn="bl" rotWithShape="0">
              <a:srgbClr val="000000">
                <a:alpha val="14000"/>
              </a:srgbClr>
            </a:outerShdw>
          </a:effectLst>
        </p:spPr>
        <p:txBody>
          <a:bodyPr wrap="square" lIns="2286" tIns="2286" rIns="2286" bIns="2286" rtlCol="0" anchor="t"/>
          <a:lstStyle/>
          <a:p>
            <a:pPr marL="0" indent="0">
              <a:spcAft>
                <a:spcPts val="600"/>
              </a:spcAft>
              <a:buNone/>
            </a:pPr>
            <a:r>
              <a:rPr lang="en-US" sz="1200" b="1" dirty="0">
                <a:solidFill>
                  <a:schemeClr val="tx2"/>
                </a:solidFill>
              </a:rPr>
              <a:t>NO MACHINE LEARNING</a:t>
            </a:r>
            <a:endParaRPr lang="en-US" sz="1200" dirty="0"/>
          </a:p>
          <a:p>
            <a:pPr marL="0" indent="0">
              <a:buNone/>
            </a:pPr>
            <a:r>
              <a:rPr lang="en-US" sz="1600" dirty="0">
                <a:solidFill>
                  <a:schemeClr val="tx1"/>
                </a:solidFill>
              </a:rPr>
              <a:t>No model is trained here. It’s classical statistics, written in R.</a:t>
            </a:r>
            <a:endParaRPr lang="en-US" sz="1200" dirty="0"/>
          </a:p>
        </p:txBody>
      </p:sp>
      <p:sp>
        <p:nvSpPr>
          <p:cNvPr id="28"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The dashboard, hands-on</a:t>
            </a:r>
            <a:endParaRPr lang="en-US" sz="3400" dirty="0"/>
          </a:p>
        </p:txBody>
      </p:sp>
      <p:sp>
        <p:nvSpPr>
          <p:cNvPr id="3" name="slot frame"/>
          <p:cNvSpPr/>
          <p:nvPr/>
        </p:nvSpPr>
        <p:spPr>
          <a:xfrm>
            <a:off x="640080" y="1554480"/>
            <a:ext cx="7315200" cy="4526280"/>
          </a:xfrm>
          <a:prstGeom prst="roundRect">
            <a:avLst>
              <a:gd name="adj" fmla="val 1616"/>
            </a:avLst>
          </a:prstGeom>
          <a:solidFill>
            <a:schemeClr val="bg2"/>
          </a:solidFill>
          <a:ln w="19050">
            <a:solidFill>
              <a:schemeClr val="tx2"/>
            </a:solidFill>
            <a:prstDash val="dash"/>
          </a:ln>
        </p:spPr>
      </p:sp>
      <p:sp>
        <p:nvSpPr>
          <p:cNvPr id="4" name="Text 2"/>
          <p:cNvSpPr txBox="1"/>
          <p:nvPr/>
        </p:nvSpPr>
        <p:spPr>
          <a:xfrm>
            <a:off x="914400" y="3314700"/>
            <a:ext cx="6766560" cy="457200"/>
          </a:xfrm>
          <a:prstGeom prst="rect">
            <a:avLst/>
          </a:prstGeom>
          <a:noFill/>
          <a:ln/>
        </p:spPr>
        <p:txBody>
          <a:bodyPr wrap="square" lIns="0" tIns="0" rIns="0" bIns="0" rtlCol="0" anchor="t"/>
          <a:lstStyle/>
          <a:p>
            <a:pPr marL="0" indent="0" algn="ctr">
              <a:buNone/>
            </a:pPr>
            <a:r>
              <a:rPr lang="en-US" sz="2000" b="1" dirty="0">
                <a:solidFill>
                  <a:schemeClr val="tx1"/>
                </a:solidFill>
              </a:rPr>
              <a:t>Insert your real dashboard screenshot</a:t>
            </a:r>
            <a:endParaRPr lang="en-US" sz="2000" dirty="0"/>
          </a:p>
        </p:txBody>
      </p:sp>
      <p:sp>
        <p:nvSpPr>
          <p:cNvPr id="5" name="Text 3"/>
          <p:cNvSpPr txBox="1"/>
          <p:nvPr/>
        </p:nvSpPr>
        <p:spPr>
          <a:xfrm>
            <a:off x="914400" y="3863340"/>
            <a:ext cx="6766560" cy="548640"/>
          </a:xfrm>
          <a:prstGeom prst="rect">
            <a:avLst/>
          </a:prstGeom>
          <a:noFill/>
          <a:ln/>
        </p:spPr>
        <p:txBody>
          <a:bodyPr wrap="square" lIns="0" tIns="0" rIns="0" bIns="0" rtlCol="0" anchor="t"/>
          <a:lstStyle/>
          <a:p>
            <a:pPr marL="0" indent="0" algn="ctr">
              <a:buNone/>
            </a:pPr>
            <a:r>
              <a:rPr lang="en-US" sz="1400" dirty="0">
                <a:solidFill>
                  <a:schemeClr val="tx2"/>
                </a:solidFill>
              </a:rPr>
              <a:t>Data interface · Suitability assessment · First-digit results</a:t>
            </a:r>
            <a:endParaRPr lang="en-US" sz="1400" dirty="0"/>
          </a:p>
        </p:txBody>
      </p:sp>
      <p:sp>
        <p:nvSpPr>
          <p:cNvPr id="6" name="badge1"/>
          <p:cNvSpPr/>
          <p:nvPr/>
        </p:nvSpPr>
        <p:spPr>
          <a:xfrm>
            <a:off x="8321040" y="1645920"/>
            <a:ext cx="502920" cy="502920"/>
          </a:xfrm>
          <a:prstGeom prst="ellipse">
            <a:avLst/>
          </a:prstGeom>
          <a:solidFill>
            <a:schemeClr val="accent1"/>
          </a:solidFill>
          <a:ln/>
        </p:spPr>
      </p:sp>
      <p:sp>
        <p:nvSpPr>
          <p:cNvPr id="7" name="Text 5"/>
          <p:cNvSpPr txBox="1"/>
          <p:nvPr/>
        </p:nvSpPr>
        <p:spPr>
          <a:xfrm>
            <a:off x="8321040" y="164592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8" name="Text 6"/>
          <p:cNvSpPr txBox="1"/>
          <p:nvPr/>
        </p:nvSpPr>
        <p:spPr>
          <a:xfrm>
            <a:off x="9006840" y="1645920"/>
            <a:ext cx="2560320" cy="365760"/>
          </a:xfrm>
          <a:prstGeom prst="rect">
            <a:avLst/>
          </a:prstGeom>
          <a:noFill/>
          <a:ln/>
        </p:spPr>
        <p:txBody>
          <a:bodyPr wrap="square" lIns="0" tIns="0" rIns="0" bIns="0" rtlCol="0" anchor="t"/>
          <a:lstStyle/>
          <a:p>
            <a:pPr marL="0" indent="0">
              <a:buNone/>
            </a:pPr>
            <a:r>
              <a:rPr lang="en-US" sz="1800" b="1" dirty="0">
                <a:solidFill>
                  <a:schemeClr val="tx1"/>
                </a:solidFill>
              </a:rPr>
              <a:t>Choose the data</a:t>
            </a:r>
            <a:endParaRPr lang="en-US" sz="1800" dirty="0"/>
          </a:p>
        </p:txBody>
      </p:sp>
      <p:sp>
        <p:nvSpPr>
          <p:cNvPr id="9" name="Text 7"/>
          <p:cNvSpPr txBox="1"/>
          <p:nvPr/>
        </p:nvSpPr>
        <p:spPr>
          <a:xfrm>
            <a:off x="9006840" y="2057400"/>
            <a:ext cx="2560320" cy="822960"/>
          </a:xfrm>
          <a:prstGeom prst="rect">
            <a:avLst/>
          </a:prstGeom>
          <a:noFill/>
          <a:ln/>
        </p:spPr>
        <p:txBody>
          <a:bodyPr wrap="square" lIns="0" tIns="0" rIns="0" bIns="0" rtlCol="0" anchor="t"/>
          <a:lstStyle/>
          <a:p>
            <a:pPr marL="0" indent="0">
              <a:buNone/>
            </a:pPr>
            <a:r>
              <a:rPr lang="en-US" sz="1400" dirty="0">
                <a:solidFill>
                  <a:schemeClr val="tx2"/>
                </a:solidFill>
              </a:rPr>
              <a:t>Pick an indicator and view.</a:t>
            </a:r>
            <a:endParaRPr lang="en-US" sz="1400" dirty="0"/>
          </a:p>
        </p:txBody>
      </p:sp>
      <p:sp>
        <p:nvSpPr>
          <p:cNvPr id="10" name="badge2"/>
          <p:cNvSpPr/>
          <p:nvPr/>
        </p:nvSpPr>
        <p:spPr>
          <a:xfrm>
            <a:off x="8321040" y="3154680"/>
            <a:ext cx="502920" cy="502920"/>
          </a:xfrm>
          <a:prstGeom prst="ellipse">
            <a:avLst/>
          </a:prstGeom>
          <a:solidFill>
            <a:schemeClr val="accent1"/>
          </a:solidFill>
          <a:ln/>
        </p:spPr>
      </p:sp>
      <p:sp>
        <p:nvSpPr>
          <p:cNvPr id="11" name="Text 9"/>
          <p:cNvSpPr txBox="1"/>
          <p:nvPr/>
        </p:nvSpPr>
        <p:spPr>
          <a:xfrm>
            <a:off x="8321040" y="315468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2" name="Text 10"/>
          <p:cNvSpPr txBox="1"/>
          <p:nvPr/>
        </p:nvSpPr>
        <p:spPr>
          <a:xfrm>
            <a:off x="9006840" y="3154680"/>
            <a:ext cx="2560320" cy="365760"/>
          </a:xfrm>
          <a:prstGeom prst="rect">
            <a:avLst/>
          </a:prstGeom>
          <a:noFill/>
          <a:ln/>
        </p:spPr>
        <p:txBody>
          <a:bodyPr wrap="square" lIns="0" tIns="0" rIns="0" bIns="0" rtlCol="0" anchor="t"/>
          <a:lstStyle/>
          <a:p>
            <a:pPr marL="0" indent="0">
              <a:buNone/>
            </a:pPr>
            <a:r>
              <a:rPr lang="en-US" sz="1800" b="1" dirty="0">
                <a:solidFill>
                  <a:schemeClr val="tx1"/>
                </a:solidFill>
              </a:rPr>
              <a:t>Check suitability</a:t>
            </a:r>
            <a:endParaRPr lang="en-US" sz="1800" dirty="0"/>
          </a:p>
        </p:txBody>
      </p:sp>
      <p:sp>
        <p:nvSpPr>
          <p:cNvPr id="13" name="Text 11"/>
          <p:cNvSpPr txBox="1"/>
          <p:nvPr/>
        </p:nvSpPr>
        <p:spPr>
          <a:xfrm>
            <a:off x="9006840" y="3566160"/>
            <a:ext cx="2560320" cy="822960"/>
          </a:xfrm>
          <a:prstGeom prst="rect">
            <a:avLst/>
          </a:prstGeom>
          <a:noFill/>
          <a:ln/>
        </p:spPr>
        <p:txBody>
          <a:bodyPr wrap="square" lIns="0" tIns="0" rIns="0" bIns="0" rtlCol="0" anchor="t"/>
          <a:lstStyle/>
          <a:p>
            <a:pPr marL="0" indent="0">
              <a:buNone/>
            </a:pPr>
            <a:r>
              <a:rPr lang="en-US" sz="1400" dirty="0">
                <a:solidFill>
                  <a:schemeClr val="tx2"/>
                </a:solidFill>
              </a:rPr>
              <a:t>See whether Benford’s Law fits.</a:t>
            </a:r>
            <a:endParaRPr lang="en-US" sz="1400" dirty="0"/>
          </a:p>
        </p:txBody>
      </p:sp>
      <p:sp>
        <p:nvSpPr>
          <p:cNvPr id="14" name="badge3"/>
          <p:cNvSpPr/>
          <p:nvPr/>
        </p:nvSpPr>
        <p:spPr>
          <a:xfrm>
            <a:off x="8321040" y="4663440"/>
            <a:ext cx="502920" cy="502920"/>
          </a:xfrm>
          <a:prstGeom prst="ellipse">
            <a:avLst/>
          </a:prstGeom>
          <a:solidFill>
            <a:schemeClr val="accent1"/>
          </a:solidFill>
          <a:ln/>
        </p:spPr>
      </p:sp>
      <p:sp>
        <p:nvSpPr>
          <p:cNvPr id="15" name="Text 13"/>
          <p:cNvSpPr txBox="1"/>
          <p:nvPr/>
        </p:nvSpPr>
        <p:spPr>
          <a:xfrm>
            <a:off x="8321040" y="4663440"/>
            <a:ext cx="502920" cy="50292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Text 14"/>
          <p:cNvSpPr txBox="1"/>
          <p:nvPr/>
        </p:nvSpPr>
        <p:spPr>
          <a:xfrm>
            <a:off x="9006840" y="4663440"/>
            <a:ext cx="2560320" cy="365760"/>
          </a:xfrm>
          <a:prstGeom prst="rect">
            <a:avLst/>
          </a:prstGeom>
          <a:noFill/>
          <a:ln/>
        </p:spPr>
        <p:txBody>
          <a:bodyPr wrap="square" lIns="0" tIns="0" rIns="0" bIns="0" rtlCol="0" anchor="t"/>
          <a:lstStyle/>
          <a:p>
            <a:pPr marL="0" indent="0">
              <a:buNone/>
            </a:pPr>
            <a:r>
              <a:rPr lang="en-US" sz="1800" b="1" dirty="0">
                <a:solidFill>
                  <a:schemeClr val="tx1"/>
                </a:solidFill>
              </a:rPr>
              <a:t>Read the digits</a:t>
            </a:r>
            <a:endParaRPr lang="en-US" sz="1800" dirty="0"/>
          </a:p>
        </p:txBody>
      </p:sp>
      <p:sp>
        <p:nvSpPr>
          <p:cNvPr id="17" name="Text 15"/>
          <p:cNvSpPr txBox="1"/>
          <p:nvPr/>
        </p:nvSpPr>
        <p:spPr>
          <a:xfrm>
            <a:off x="9006840" y="5074920"/>
            <a:ext cx="2560320" cy="822960"/>
          </a:xfrm>
          <a:prstGeom prst="rect">
            <a:avLst/>
          </a:prstGeom>
          <a:noFill/>
          <a:ln/>
        </p:spPr>
        <p:txBody>
          <a:bodyPr wrap="square" lIns="0" tIns="0" rIns="0" bIns="0" rtlCol="0" anchor="t"/>
          <a:lstStyle/>
          <a:p>
            <a:pPr marL="0" indent="0">
              <a:buNone/>
            </a:pPr>
            <a:r>
              <a:rPr lang="en-US" sz="1400" dirty="0">
                <a:solidFill>
                  <a:schemeClr val="tx2"/>
                </a:solidFill>
              </a:rPr>
              <a:t>Compare observed with expected.</a:t>
            </a:r>
            <a:endParaRPr lang="en-US" sz="14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9</a:t>
            </a:fld>
            <a:endParaRPr lang="en-US"/>
          </a:p>
        </p:txBody>
      </p:sp>
      <p:pic>
        <p:nvPicPr>
          <p:cNvPr id="20" name="Picture 19">
            <a:extLst>
              <a:ext uri="{FF2B5EF4-FFF2-40B4-BE49-F238E27FC236}">
                <a16:creationId xmlns:a16="http://schemas.microsoft.com/office/drawing/2014/main" id="{D082EC9E-8C0A-3689-1569-89EBC01A9FC2}"/>
              </a:ext>
            </a:extLst>
          </p:cNvPr>
          <p:cNvPicPr>
            <a:picLocks noChangeAspect="1"/>
          </p:cNvPicPr>
          <p:nvPr/>
        </p:nvPicPr>
        <p:blipFill>
          <a:blip r:embed="rId3"/>
          <a:stretch>
            <a:fillRect/>
          </a:stretch>
        </p:blipFill>
        <p:spPr>
          <a:xfrm>
            <a:off x="640079" y="1554480"/>
            <a:ext cx="7315201" cy="46373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What the real data says</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7315200" cy="3246120"/>
        </p:xfrm>
        <a:graphic>
          <a:graphicData uri="http://schemas.openxmlformats.org/drawingml/2006/table">
            <a:tbl>
              <a:tblPr/>
              <a:tblGrid>
                <a:gridCol w="23774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411480">
                <a:tc>
                  <a:txBody>
                    <a:bodyPr/>
                    <a:lstStyle/>
                    <a:p>
                      <a:pPr marL="0" indent="0">
                        <a:buNone/>
                      </a:pPr>
                      <a:r>
                        <a:rPr lang="en-US" sz="1400" b="1" dirty="0">
                          <a:solidFill>
                            <a:schemeClr val="bg1"/>
                          </a:solidFill>
                        </a:rPr>
                        <a:t>Indicator</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n</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Raw p</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Adj. p</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MAD</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Reading</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400" dirty="0">
                          <a:solidFill>
                            <a:schemeClr val="tx1"/>
                          </a:solidFill>
                        </a:rPr>
                        <a:t>AG.LND.TOTL.K2 (land area)</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buNone/>
                      </a:pPr>
                      <a:r>
                        <a:rPr lang="en-US" sz="1400" b="1" dirty="0">
                          <a:solidFill>
                            <a:schemeClr val="tx1"/>
                          </a:solidFill>
                        </a:rPr>
                        <a:t>Suitability disputed</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2"/>
                          </a:solidFill>
                        </a:rPr>
                        <a:t>[indicator]</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[reading]</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2"/>
                          </a:solidFill>
                        </a:rPr>
                        <a:t>[indicator]</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[reading]</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2"/>
                          </a:solidFill>
                        </a:rPr>
                        <a:t>[indicator]</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[reading]</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2"/>
                          </a:solidFill>
                        </a:rPr>
                        <a:t>[indicator]</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2"/>
                          </a:solidFill>
                        </a:rPr>
                        <a:t>—</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[reading]</a:t>
                      </a:r>
                      <a:endParaRPr lang="en-US" sz="1400" dirty="0"/>
                    </a:p>
                  </a:txBody>
                  <a:tcPr marT="36576" marB="36576" anchor="ctr">
                    <a:lnL w="9525" cap="flat" cmpd="sng" algn="ctr">
                      <a:solidFill>
                        <a:srgbClr val="D8D0BE"/>
                      </a:solidFill>
                      <a:prstDash val="solid"/>
                      <a:round/>
                      <a:headEnd type="none" w="med" len="med"/>
                      <a:tailEnd type="none" w="med" len="med"/>
                    </a:lnL>
                    <a:lnR w="9525" cap="flat" cmpd="sng" algn="ctr">
                      <a:solidFill>
                        <a:srgbClr val="D8D0BE"/>
                      </a:solidFill>
                      <a:prstDash val="solid"/>
                      <a:round/>
                      <a:headEnd type="none" w="med" len="med"/>
                      <a:tailEnd type="none" w="med" len="med"/>
                    </a:lnR>
                    <a:lnT w="9525" cap="flat" cmpd="sng" algn="ctr">
                      <a:solidFill>
                        <a:srgbClr val="D8D0BE"/>
                      </a:solidFill>
                      <a:prstDash val="solid"/>
                      <a:round/>
                      <a:headEnd type="none" w="med" len="med"/>
                      <a:tailEnd type="none" w="med" len="med"/>
                    </a:lnT>
                    <a:lnB w="9525" cap="flat" cmpd="sng" algn="ctr">
                      <a:solidFill>
                        <a:srgbClr val="D8D0BE"/>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chip"/>
          <p:cNvSpPr/>
          <p:nvPr/>
        </p:nvSpPr>
        <p:spPr>
          <a:xfrm>
            <a:off x="640080" y="5029200"/>
            <a:ext cx="2834640" cy="310896"/>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b="1" dirty="0">
                <a:solidFill>
                  <a:schemeClr val="tx1"/>
                </a:solidFill>
              </a:rPr>
              <a:t>Fill from chi_square_results.csv</a:t>
            </a:r>
            <a:endParaRPr lang="en-US" sz="1100" dirty="0"/>
          </a:p>
        </p:txBody>
      </p:sp>
      <p:sp>
        <p:nvSpPr>
          <p:cNvPr id="5" name="Text 2"/>
          <p:cNvSpPr txBox="1"/>
          <p:nvPr/>
        </p:nvSpPr>
        <p:spPr>
          <a:xfrm>
            <a:off x="640080" y="5486400"/>
            <a:ext cx="7315200" cy="640080"/>
          </a:xfrm>
          <a:prstGeom prst="rect">
            <a:avLst/>
          </a:prstGeom>
          <a:noFill/>
          <a:ln/>
        </p:spPr>
        <p:txBody>
          <a:bodyPr wrap="square" lIns="0" tIns="0" rIns="0" bIns="0" rtlCol="0" anchor="t"/>
          <a:lstStyle/>
          <a:p>
            <a:pPr marL="0" indent="0">
              <a:buNone/>
            </a:pPr>
            <a:r>
              <a:rPr lang="en-US" sz="1400" dirty="0">
                <a:solidFill>
                  <a:schemeClr val="tx2"/>
                </a:solidFill>
              </a:rPr>
              <a:t>Show significant and non-significant results alike. Keep raw and adjusted p-values separate, and say which view (latest-year or pooled) each row uses.</a:t>
            </a:r>
            <a:endParaRPr lang="en-US" sz="1400" dirty="0"/>
          </a:p>
        </p:txBody>
      </p:sp>
      <p:sp>
        <p:nvSpPr>
          <p:cNvPr id="6" name="open issue"/>
          <p:cNvSpPr/>
          <p:nvPr/>
        </p:nvSpPr>
        <p:spPr>
          <a:xfrm>
            <a:off x="8321040" y="1554480"/>
            <a:ext cx="3200400" cy="4526280"/>
          </a:xfrm>
          <a:prstGeom prst="roundRect">
            <a:avLst>
              <a:gd name="adj" fmla="val 2286"/>
            </a:avLst>
          </a:prstGeom>
          <a:solidFill>
            <a:schemeClr val="tx1"/>
          </a:solidFill>
          <a:ln/>
          <a:effectLst>
            <a:outerShdw blurRad="76200" dist="25400" dir="5400000" algn="bl" rotWithShape="0">
              <a:srgbClr val="000000">
                <a:alpha val="14000"/>
              </a:srgbClr>
            </a:outerShdw>
          </a:effectLst>
        </p:spPr>
      </p:sp>
      <p:sp>
        <p:nvSpPr>
          <p:cNvPr id="7" name="chip"/>
          <p:cNvSpPr/>
          <p:nvPr/>
        </p:nvSpPr>
        <p:spPr>
          <a:xfrm>
            <a:off x="8595360" y="1828800"/>
            <a:ext cx="128016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tx1"/>
                </a:solidFill>
              </a:rPr>
              <a:t>OPEN ISSUE</a:t>
            </a:r>
            <a:endParaRPr lang="en-US" sz="1100" dirty="0"/>
          </a:p>
        </p:txBody>
      </p:sp>
      <p:sp>
        <p:nvSpPr>
          <p:cNvPr id="8" name="Text 5"/>
          <p:cNvSpPr txBox="1"/>
          <p:nvPr/>
        </p:nvSpPr>
        <p:spPr>
          <a:xfrm>
            <a:off x="8595360" y="2286000"/>
            <a:ext cx="2697480" cy="82296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Is land area suitable?</a:t>
            </a:r>
            <a:endParaRPr lang="en-US" sz="2200" dirty="0"/>
          </a:p>
        </p:txBody>
      </p:sp>
      <p:sp>
        <p:nvSpPr>
          <p:cNvPr id="9" name="Text 6"/>
          <p:cNvSpPr txBox="1"/>
          <p:nvPr/>
        </p:nvSpPr>
        <p:spPr>
          <a:xfrm>
            <a:off x="8595360" y="3200400"/>
            <a:ext cx="2697480" cy="1554480"/>
          </a:xfrm>
          <a:prstGeom prst="rect">
            <a:avLst/>
          </a:prstGeom>
          <a:noFill/>
          <a:ln/>
        </p:spPr>
        <p:txBody>
          <a:bodyPr wrap="square" lIns="0" tIns="0" rIns="0" bIns="0" rtlCol="0" anchor="t"/>
          <a:lstStyle/>
          <a:p>
            <a:pPr marL="0" indent="0">
              <a:buNone/>
            </a:pPr>
            <a:r>
              <a:rPr lang="en-US" sz="1400" dirty="0">
                <a:solidFill>
                  <a:schemeClr val="bg2"/>
                </a:solidFill>
              </a:rPr>
              <a:t>The report questions it, but the dashboard labels it suitable. Check suitability_summary.csv and the code before presenting.</a:t>
            </a:r>
            <a:endParaRPr lang="en-US" sz="1400" dirty="0"/>
          </a:p>
        </p:txBody>
      </p:sp>
      <p:sp>
        <p:nvSpPr>
          <p:cNvPr id="10" name="Text 7"/>
          <p:cNvSpPr txBox="1"/>
          <p:nvPr/>
        </p:nvSpPr>
        <p:spPr>
          <a:xfrm>
            <a:off x="8595360" y="4800600"/>
            <a:ext cx="2697480" cy="1097280"/>
          </a:xfrm>
          <a:prstGeom prst="rect">
            <a:avLst/>
          </a:prstGeom>
          <a:noFill/>
          <a:ln/>
        </p:spPr>
        <p:txBody>
          <a:bodyPr wrap="square" lIns="0" tIns="0" rIns="0" bIns="0" rtlCol="0" anchor="t"/>
          <a:lstStyle/>
          <a:p>
            <a:pPr marL="0" indent="0">
              <a:buNone/>
            </a:pPr>
            <a:r>
              <a:rPr lang="en-US" sz="1400" b="1" dirty="0">
                <a:solidFill>
                  <a:schemeClr val="accent1"/>
                </a:solidFill>
              </a:rPr>
              <a:t>Don’t mix independent latest-year results with pooled, repeated country-years.</a:t>
            </a:r>
            <a:endParaRPr lang="en-US" sz="14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Planting known errors to see if we catch them</a:t>
            </a:r>
            <a:endParaRPr lang="en-US" sz="3400" dirty="0"/>
          </a:p>
        </p:txBody>
      </p:sp>
      <p:sp>
        <p:nvSpPr>
          <p:cNvPr id="3" name="manipulation card 1"/>
          <p:cNvSpPr/>
          <p:nvPr/>
        </p:nvSpPr>
        <p:spPr>
          <a:xfrm>
            <a:off x="640080" y="1554480"/>
            <a:ext cx="3456432" cy="1828800"/>
          </a:xfrm>
          <a:prstGeom prst="roundRect">
            <a:avLst>
              <a:gd name="adj" fmla="val 4000"/>
            </a:avLst>
          </a:prstGeom>
          <a:solidFill>
            <a:schemeClr val="bg2"/>
          </a:solidFill>
          <a:ln/>
          <a:effectLst>
            <a:outerShdw blurRad="76200" dist="25400" dir="5400000" algn="bl" rotWithShape="0">
              <a:srgbClr val="000000">
                <a:alpha val="14000"/>
              </a:srgbClr>
            </a:outerShdw>
          </a:effectLst>
        </p:spPr>
      </p:sp>
      <p:sp>
        <p:nvSpPr>
          <p:cNvPr id="4" name="badge1"/>
          <p:cNvSpPr/>
          <p:nvPr/>
        </p:nvSpPr>
        <p:spPr>
          <a:xfrm>
            <a:off x="868680" y="1783080"/>
            <a:ext cx="411480" cy="411480"/>
          </a:xfrm>
          <a:prstGeom prst="ellipse">
            <a:avLst/>
          </a:prstGeom>
          <a:solidFill>
            <a:schemeClr val="accent3"/>
          </a:solidFill>
          <a:ln/>
        </p:spPr>
      </p:sp>
      <p:sp>
        <p:nvSpPr>
          <p:cNvPr id="5" name="Text 3"/>
          <p:cNvSpPr txBox="1"/>
          <p:nvPr/>
        </p:nvSpPr>
        <p:spPr>
          <a:xfrm>
            <a:off x="868680" y="178308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Text 4"/>
          <p:cNvSpPr txBox="1"/>
          <p:nvPr/>
        </p:nvSpPr>
        <p:spPr>
          <a:xfrm>
            <a:off x="868680" y="17830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5"/>
          <p:cNvSpPr txBox="1"/>
          <p:nvPr/>
        </p:nvSpPr>
        <p:spPr>
          <a:xfrm>
            <a:off x="1417320" y="1755648"/>
            <a:ext cx="2468880" cy="731520"/>
          </a:xfrm>
          <a:prstGeom prst="rect">
            <a:avLst/>
          </a:prstGeom>
          <a:noFill/>
          <a:ln/>
        </p:spPr>
        <p:txBody>
          <a:bodyPr wrap="square" lIns="0" tIns="0" rIns="0" bIns="0" rtlCol="0" anchor="t"/>
          <a:lstStyle/>
          <a:p>
            <a:pPr marL="0" indent="0">
              <a:buNone/>
            </a:pPr>
            <a:r>
              <a:rPr lang="en-US" sz="1700" b="1" dirty="0">
                <a:solidFill>
                  <a:schemeClr val="tx1"/>
                </a:solidFill>
              </a:rPr>
              <a:t>Round-number substitution</a:t>
            </a:r>
            <a:endParaRPr lang="en-US" sz="1700" dirty="0"/>
          </a:p>
        </p:txBody>
      </p:sp>
      <p:sp>
        <p:nvSpPr>
          <p:cNvPr id="8" name="Text 6"/>
          <p:cNvSpPr txBox="1"/>
          <p:nvPr/>
        </p:nvSpPr>
        <p:spPr>
          <a:xfrm>
            <a:off x="868680" y="2606040"/>
            <a:ext cx="3017520" cy="731520"/>
          </a:xfrm>
          <a:prstGeom prst="rect">
            <a:avLst/>
          </a:prstGeom>
          <a:noFill/>
          <a:ln/>
        </p:spPr>
        <p:txBody>
          <a:bodyPr wrap="square" lIns="0" tIns="0" rIns="0" bIns="0" rtlCol="0" anchor="t"/>
          <a:lstStyle/>
          <a:p>
            <a:pPr marL="0" indent="0">
              <a:buNone/>
            </a:pPr>
            <a:r>
              <a:rPr lang="en-US" sz="1500" dirty="0">
                <a:solidFill>
                  <a:schemeClr val="tx2"/>
                </a:solidFill>
              </a:rPr>
              <a:t>Some values are replaced by rounded versions.</a:t>
            </a:r>
            <a:endParaRPr lang="en-US" sz="1500" dirty="0"/>
          </a:p>
        </p:txBody>
      </p:sp>
      <p:sp>
        <p:nvSpPr>
          <p:cNvPr id="9" name="manipulation card 2"/>
          <p:cNvSpPr/>
          <p:nvPr/>
        </p:nvSpPr>
        <p:spPr>
          <a:xfrm>
            <a:off x="4370832" y="1554480"/>
            <a:ext cx="3456432" cy="1828800"/>
          </a:xfrm>
          <a:prstGeom prst="roundRect">
            <a:avLst>
              <a:gd name="adj" fmla="val 4000"/>
            </a:avLst>
          </a:prstGeom>
          <a:solidFill>
            <a:schemeClr val="bg2"/>
          </a:solidFill>
          <a:ln/>
          <a:effectLst>
            <a:outerShdw blurRad="76200" dist="25400" dir="5400000" algn="bl" rotWithShape="0">
              <a:srgbClr val="000000">
                <a:alpha val="14000"/>
              </a:srgbClr>
            </a:outerShdw>
          </a:effectLst>
        </p:spPr>
      </p:sp>
      <p:sp>
        <p:nvSpPr>
          <p:cNvPr id="10" name="badge2"/>
          <p:cNvSpPr/>
          <p:nvPr/>
        </p:nvSpPr>
        <p:spPr>
          <a:xfrm>
            <a:off x="4599432" y="1783080"/>
            <a:ext cx="411480" cy="411480"/>
          </a:xfrm>
          <a:prstGeom prst="ellipse">
            <a:avLst/>
          </a:prstGeom>
          <a:solidFill>
            <a:schemeClr val="accent3"/>
          </a:solidFill>
          <a:ln/>
        </p:spPr>
      </p:sp>
      <p:sp>
        <p:nvSpPr>
          <p:cNvPr id="11" name="Text 9"/>
          <p:cNvSpPr txBox="1"/>
          <p:nvPr/>
        </p:nvSpPr>
        <p:spPr>
          <a:xfrm>
            <a:off x="4599432" y="178308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2" name="Text 10"/>
          <p:cNvSpPr txBox="1"/>
          <p:nvPr/>
        </p:nvSpPr>
        <p:spPr>
          <a:xfrm>
            <a:off x="4599432" y="17830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Text 11"/>
          <p:cNvSpPr txBox="1"/>
          <p:nvPr/>
        </p:nvSpPr>
        <p:spPr>
          <a:xfrm>
            <a:off x="5148072" y="1755648"/>
            <a:ext cx="2468880" cy="731520"/>
          </a:xfrm>
          <a:prstGeom prst="rect">
            <a:avLst/>
          </a:prstGeom>
          <a:noFill/>
          <a:ln/>
        </p:spPr>
        <p:txBody>
          <a:bodyPr wrap="square" lIns="0" tIns="0" rIns="0" bIns="0" rtlCol="0" anchor="t"/>
          <a:lstStyle/>
          <a:p>
            <a:pPr marL="0" indent="0">
              <a:buNone/>
            </a:pPr>
            <a:r>
              <a:rPr lang="en-US" sz="1700" b="1" dirty="0">
                <a:solidFill>
                  <a:schemeClr val="tx1"/>
                </a:solidFill>
              </a:rPr>
              <a:t>Leading-digit bias</a:t>
            </a:r>
            <a:endParaRPr lang="en-US" sz="1700" dirty="0"/>
          </a:p>
        </p:txBody>
      </p:sp>
      <p:sp>
        <p:nvSpPr>
          <p:cNvPr id="14" name="Text 12"/>
          <p:cNvSpPr txBox="1"/>
          <p:nvPr/>
        </p:nvSpPr>
        <p:spPr>
          <a:xfrm>
            <a:off x="4599432" y="2606040"/>
            <a:ext cx="3017520" cy="731520"/>
          </a:xfrm>
          <a:prstGeom prst="rect">
            <a:avLst/>
          </a:prstGeom>
          <a:noFill/>
          <a:ln/>
        </p:spPr>
        <p:txBody>
          <a:bodyPr wrap="square" lIns="0" tIns="0" rIns="0" bIns="0" rtlCol="0" anchor="t"/>
          <a:lstStyle/>
          <a:p>
            <a:pPr marL="0" indent="0">
              <a:buNone/>
            </a:pPr>
            <a:r>
              <a:rPr lang="en-US" sz="1500" dirty="0">
                <a:solidFill>
                  <a:schemeClr val="tx2"/>
                </a:solidFill>
              </a:rPr>
              <a:t>Leading digits are nudged toward favoured numbers.</a:t>
            </a:r>
            <a:endParaRPr lang="en-US" sz="1500" dirty="0"/>
          </a:p>
        </p:txBody>
      </p:sp>
      <p:sp>
        <p:nvSpPr>
          <p:cNvPr id="15" name="manipulation card 3"/>
          <p:cNvSpPr/>
          <p:nvPr/>
        </p:nvSpPr>
        <p:spPr>
          <a:xfrm>
            <a:off x="8101584" y="1554480"/>
            <a:ext cx="3456432" cy="1828800"/>
          </a:xfrm>
          <a:prstGeom prst="roundRect">
            <a:avLst>
              <a:gd name="adj" fmla="val 4000"/>
            </a:avLst>
          </a:prstGeom>
          <a:solidFill>
            <a:schemeClr val="bg2"/>
          </a:solidFill>
          <a:ln/>
          <a:effectLst>
            <a:outerShdw blurRad="76200" dist="25400" dir="5400000" algn="bl" rotWithShape="0">
              <a:srgbClr val="000000">
                <a:alpha val="14000"/>
              </a:srgbClr>
            </a:outerShdw>
          </a:effectLst>
        </p:spPr>
      </p:sp>
      <p:sp>
        <p:nvSpPr>
          <p:cNvPr id="16" name="badge3"/>
          <p:cNvSpPr/>
          <p:nvPr/>
        </p:nvSpPr>
        <p:spPr>
          <a:xfrm>
            <a:off x="8330184" y="1783080"/>
            <a:ext cx="411480" cy="411480"/>
          </a:xfrm>
          <a:prstGeom prst="ellipse">
            <a:avLst/>
          </a:prstGeom>
          <a:solidFill>
            <a:schemeClr val="accent3"/>
          </a:solidFill>
          <a:ln/>
        </p:spPr>
      </p:sp>
      <p:sp>
        <p:nvSpPr>
          <p:cNvPr id="17" name="Text 15"/>
          <p:cNvSpPr txBox="1"/>
          <p:nvPr/>
        </p:nvSpPr>
        <p:spPr>
          <a:xfrm>
            <a:off x="8330184" y="178308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8" name="Text 16"/>
          <p:cNvSpPr txBox="1"/>
          <p:nvPr/>
        </p:nvSpPr>
        <p:spPr>
          <a:xfrm>
            <a:off x="8330184" y="17830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9" name="Text 17"/>
          <p:cNvSpPr txBox="1"/>
          <p:nvPr/>
        </p:nvSpPr>
        <p:spPr>
          <a:xfrm>
            <a:off x="8878824" y="1755648"/>
            <a:ext cx="2468880" cy="731520"/>
          </a:xfrm>
          <a:prstGeom prst="rect">
            <a:avLst/>
          </a:prstGeom>
          <a:noFill/>
          <a:ln/>
        </p:spPr>
        <p:txBody>
          <a:bodyPr wrap="square" lIns="0" tIns="0" rIns="0" bIns="0" rtlCol="0" anchor="t"/>
          <a:lstStyle/>
          <a:p>
            <a:pPr marL="0" indent="0">
              <a:buNone/>
            </a:pPr>
            <a:r>
              <a:rPr lang="en-US" sz="1700" b="1" dirty="0">
                <a:solidFill>
                  <a:schemeClr val="tx1"/>
                </a:solidFill>
              </a:rPr>
              <a:t>Partial multiplicative change</a:t>
            </a:r>
            <a:endParaRPr lang="en-US" sz="1700" dirty="0"/>
          </a:p>
        </p:txBody>
      </p:sp>
      <p:sp>
        <p:nvSpPr>
          <p:cNvPr id="20" name="Text 18"/>
          <p:cNvSpPr txBox="1"/>
          <p:nvPr/>
        </p:nvSpPr>
        <p:spPr>
          <a:xfrm>
            <a:off x="8330184" y="2606040"/>
            <a:ext cx="3017520" cy="731520"/>
          </a:xfrm>
          <a:prstGeom prst="rect">
            <a:avLst/>
          </a:prstGeom>
          <a:noFill/>
          <a:ln/>
        </p:spPr>
        <p:txBody>
          <a:bodyPr wrap="square" lIns="0" tIns="0" rIns="0" bIns="0" rtlCol="0" anchor="t"/>
          <a:lstStyle/>
          <a:p>
            <a:pPr marL="0" indent="0">
              <a:buNone/>
            </a:pPr>
            <a:r>
              <a:rPr lang="en-US" sz="1500" dirty="0">
                <a:solidFill>
                  <a:schemeClr val="tx2"/>
                </a:solidFill>
              </a:rPr>
              <a:t>A share of values is scaled up or down.</a:t>
            </a:r>
            <a:endParaRPr lang="en-US" sz="1500" dirty="0"/>
          </a:p>
        </p:txBody>
      </p:sp>
      <p:sp>
        <p:nvSpPr>
          <p:cNvPr id="21" name="slot frame"/>
          <p:cNvSpPr/>
          <p:nvPr/>
        </p:nvSpPr>
        <p:spPr>
          <a:xfrm>
            <a:off x="640080" y="3703320"/>
            <a:ext cx="7223760" cy="2377440"/>
          </a:xfrm>
          <a:prstGeom prst="roundRect">
            <a:avLst>
              <a:gd name="adj" fmla="val 3077"/>
            </a:avLst>
          </a:prstGeom>
          <a:solidFill>
            <a:schemeClr val="bg2"/>
          </a:solidFill>
          <a:ln w="19050">
            <a:solidFill>
              <a:schemeClr val="tx2"/>
            </a:solidFill>
            <a:prstDash val="dash"/>
          </a:ln>
        </p:spPr>
      </p:sp>
      <p:sp>
        <p:nvSpPr>
          <p:cNvPr id="22" name="Text 20"/>
          <p:cNvSpPr txBox="1"/>
          <p:nvPr/>
        </p:nvSpPr>
        <p:spPr>
          <a:xfrm>
            <a:off x="914400" y="4389120"/>
            <a:ext cx="6675120" cy="457200"/>
          </a:xfrm>
          <a:prstGeom prst="rect">
            <a:avLst/>
          </a:prstGeom>
          <a:noFill/>
          <a:ln/>
        </p:spPr>
        <p:txBody>
          <a:bodyPr wrap="square" lIns="0" tIns="0" rIns="0" bIns="0" rtlCol="0" anchor="t"/>
          <a:lstStyle/>
          <a:p>
            <a:pPr marL="0" indent="0" algn="ctr">
              <a:buNone/>
            </a:pPr>
            <a:r>
              <a:rPr lang="en-US" sz="2000" b="1" dirty="0">
                <a:solidFill>
                  <a:schemeClr val="tx1"/>
                </a:solidFill>
              </a:rPr>
              <a:t>Insert detection-rate chart</a:t>
            </a:r>
            <a:endParaRPr lang="en-US" sz="2000" dirty="0"/>
          </a:p>
        </p:txBody>
      </p:sp>
      <p:sp>
        <p:nvSpPr>
          <p:cNvPr id="23" name="Text 21"/>
          <p:cNvSpPr txBox="1"/>
          <p:nvPr/>
        </p:nvSpPr>
        <p:spPr>
          <a:xfrm>
            <a:off x="914400" y="4937760"/>
            <a:ext cx="6675120" cy="548640"/>
          </a:xfrm>
          <a:prstGeom prst="rect">
            <a:avLst/>
          </a:prstGeom>
          <a:noFill/>
          <a:ln/>
        </p:spPr>
        <p:txBody>
          <a:bodyPr wrap="square" lIns="0" tIns="0" rIns="0" bIns="0" rtlCol="0" anchor="t"/>
          <a:lstStyle/>
          <a:p>
            <a:pPr marL="0" indent="0" algn="ctr">
              <a:buNone/>
            </a:pPr>
            <a:r>
              <a:rPr lang="en-US" sz="1400" dirty="0">
                <a:solidFill>
                  <a:schemeClr val="tx2"/>
                </a:solidFill>
              </a:rPr>
              <a:t>From the experiment outputs</a:t>
            </a:r>
            <a:endParaRPr lang="en-US" sz="1400" dirty="0"/>
          </a:p>
        </p:txBody>
      </p:sp>
      <p:sp>
        <p:nvSpPr>
          <p:cNvPr id="24" name="chip"/>
          <p:cNvSpPr/>
          <p:nvPr/>
        </p:nvSpPr>
        <p:spPr>
          <a:xfrm>
            <a:off x="6309360" y="3840480"/>
            <a:ext cx="1371600" cy="310896"/>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bg1"/>
                </a:solidFill>
              </a:rPr>
              <a:t>SYNTHETIC DATA</a:t>
            </a:r>
            <a:endParaRPr lang="en-US" sz="1100" dirty="0"/>
          </a:p>
        </p:txBody>
      </p:sp>
      <p:sp>
        <p:nvSpPr>
          <p:cNvPr id="25" name="sticky note"/>
          <p:cNvSpPr/>
          <p:nvPr/>
        </p:nvSpPr>
        <p:spPr>
          <a:xfrm rot="90000">
            <a:off x="8229600" y="3931920"/>
            <a:ext cx="3291840" cy="2011680"/>
          </a:xfrm>
          <a:prstGeom prst="rect">
            <a:avLst/>
          </a:prstGeom>
          <a:solidFill>
            <a:schemeClr val="accent6"/>
          </a:solidFill>
          <a:ln/>
          <a:effectLst>
            <a:outerShdw blurRad="76200" dist="25400" dir="5400000" algn="bl" rotWithShape="0">
              <a:srgbClr val="000000">
                <a:alpha val="14000"/>
              </a:srgbClr>
            </a:outerShdw>
          </a:effectLst>
        </p:spPr>
        <p:txBody>
          <a:bodyPr wrap="square" lIns="2286" tIns="2286" rIns="2286" bIns="2286" rtlCol="0" anchor="t"/>
          <a:lstStyle/>
          <a:p>
            <a:pPr marL="0" indent="0">
              <a:spcAft>
                <a:spcPts val="600"/>
              </a:spcAft>
              <a:buNone/>
            </a:pPr>
            <a:r>
              <a:rPr lang="en-US" sz="1200" b="1" dirty="0">
                <a:solidFill>
                  <a:schemeClr val="tx2"/>
                </a:solidFill>
              </a:rPr>
              <a:t>READ IT STRAIGHT</a:t>
            </a:r>
            <a:endParaRPr lang="en-US" sz="1200" dirty="0"/>
          </a:p>
          <a:p>
            <a:pPr marL="0" indent="0">
              <a:buNone/>
            </a:pPr>
            <a:r>
              <a:rPr lang="en-US" sz="1600" dirty="0">
                <a:solidFill>
                  <a:schemeClr val="tx1"/>
                </a:solidFill>
              </a:rPr>
              <a:t>Say which changes were caught easily and which slipped through.</a:t>
            </a:r>
            <a:endParaRPr lang="en-US" sz="1200" dirty="0"/>
          </a:p>
        </p:txBody>
      </p:sp>
      <p:sp>
        <p:nvSpPr>
          <p:cNvPr id="26"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How we checked our own work</a:t>
            </a:r>
            <a:endParaRPr lang="en-US" sz="3400" dirty="0"/>
          </a:p>
        </p:txBody>
      </p:sp>
      <p:sp>
        <p:nvSpPr>
          <p:cNvPr id="3" name="reported tests"/>
          <p:cNvSpPr/>
          <p:nvPr/>
        </p:nvSpPr>
        <p:spPr>
          <a:xfrm>
            <a:off x="640080" y="1554480"/>
            <a:ext cx="5317236" cy="2743200"/>
          </a:xfrm>
          <a:prstGeom prst="roundRect">
            <a:avLst>
              <a:gd name="adj" fmla="val 2667"/>
            </a:avLst>
          </a:prstGeom>
          <a:solidFill>
            <a:schemeClr val="bg2"/>
          </a:solidFill>
          <a:ln/>
          <a:effectLst>
            <a:outerShdw blurRad="76200" dist="25400" dir="5400000" algn="bl" rotWithShape="0">
              <a:srgbClr val="000000">
                <a:alpha val="14000"/>
              </a:srgbClr>
            </a:outerShdw>
          </a:effectLst>
        </p:spPr>
      </p:sp>
      <p:sp>
        <p:nvSpPr>
          <p:cNvPr id="4" name="Text 2"/>
          <p:cNvSpPr txBox="1"/>
          <p:nvPr/>
        </p:nvSpPr>
        <p:spPr>
          <a:xfrm>
            <a:off x="960120" y="1783080"/>
            <a:ext cx="4663440" cy="365760"/>
          </a:xfrm>
          <a:prstGeom prst="rect">
            <a:avLst/>
          </a:prstGeom>
          <a:noFill/>
          <a:ln/>
        </p:spPr>
        <p:txBody>
          <a:bodyPr wrap="square" lIns="0" tIns="0" rIns="0" bIns="0" rtlCol="0" anchor="t"/>
          <a:lstStyle/>
          <a:p>
            <a:pPr marL="0" indent="0">
              <a:buNone/>
            </a:pPr>
            <a:r>
              <a:rPr lang="en-US" sz="1800" b="1" dirty="0">
                <a:solidFill>
                  <a:schemeClr val="tx1"/>
                </a:solidFill>
              </a:rPr>
              <a:t>Reported by the development tool</a:t>
            </a:r>
            <a:endParaRPr lang="en-US" sz="1800" dirty="0"/>
          </a:p>
        </p:txBody>
      </p:sp>
      <p:sp>
        <p:nvSpPr>
          <p:cNvPr id="5" name="Text 3"/>
          <p:cNvSpPr txBox="1"/>
          <p:nvPr/>
        </p:nvSpPr>
        <p:spPr>
          <a:xfrm>
            <a:off x="960120" y="2286000"/>
            <a:ext cx="2194560" cy="1097280"/>
          </a:xfrm>
          <a:prstGeom prst="rect">
            <a:avLst/>
          </a:prstGeom>
          <a:noFill/>
          <a:ln/>
        </p:spPr>
        <p:txBody>
          <a:bodyPr wrap="square" lIns="0" tIns="0" rIns="0" bIns="0" rtlCol="0" anchor="t"/>
          <a:lstStyle/>
          <a:p>
            <a:pPr marL="0" indent="0">
              <a:buNone/>
            </a:pPr>
            <a:r>
              <a:rPr lang="en-US" sz="6000" b="1" dirty="0">
                <a:solidFill>
                  <a:schemeClr val="accent1"/>
                </a:solidFill>
                <a:latin typeface="Cambria" pitchFamily="34" charset="0"/>
                <a:ea typeface="Cambria" pitchFamily="34" charset="-122"/>
                <a:cs typeface="Cambria" pitchFamily="34" charset="-120"/>
              </a:rPr>
              <a:t>—</a:t>
            </a:r>
            <a:endParaRPr lang="en-US" sz="6000" dirty="0"/>
          </a:p>
        </p:txBody>
      </p:sp>
      <p:sp>
        <p:nvSpPr>
          <p:cNvPr id="6" name="Text 4"/>
          <p:cNvSpPr txBox="1"/>
          <p:nvPr/>
        </p:nvSpPr>
        <p:spPr>
          <a:xfrm>
            <a:off x="960120" y="3429000"/>
            <a:ext cx="2743200" cy="320040"/>
          </a:xfrm>
          <a:prstGeom prst="rect">
            <a:avLst/>
          </a:prstGeom>
          <a:noFill/>
          <a:ln/>
        </p:spPr>
        <p:txBody>
          <a:bodyPr wrap="square" lIns="0" tIns="0" rIns="0" bIns="0" rtlCol="0" anchor="t"/>
          <a:lstStyle/>
          <a:p>
            <a:pPr marL="0" indent="0">
              <a:buNone/>
            </a:pPr>
            <a:r>
              <a:rPr lang="en-US" sz="1500" dirty="0">
                <a:solidFill>
                  <a:schemeClr val="tx2"/>
                </a:solidFill>
              </a:rPr>
              <a:t>tests passed</a:t>
            </a:r>
            <a:endParaRPr lang="en-US" sz="1500" dirty="0"/>
          </a:p>
        </p:txBody>
      </p:sp>
      <p:sp>
        <p:nvSpPr>
          <p:cNvPr id="7" name="chip"/>
          <p:cNvSpPr/>
          <p:nvPr/>
        </p:nvSpPr>
        <p:spPr>
          <a:xfrm>
            <a:off x="960120" y="3749040"/>
            <a:ext cx="1463040" cy="310896"/>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b="1" dirty="0">
                <a:solidFill>
                  <a:schemeClr val="tx1"/>
                </a:solidFill>
              </a:rPr>
              <a:t>Fill from logs</a:t>
            </a:r>
            <a:endParaRPr lang="en-US" sz="1100" dirty="0"/>
          </a:p>
        </p:txBody>
      </p:sp>
      <p:sp>
        <p:nvSpPr>
          <p:cNvPr id="8" name="rerun tests"/>
          <p:cNvSpPr/>
          <p:nvPr/>
        </p:nvSpPr>
        <p:spPr>
          <a:xfrm>
            <a:off x="6231636" y="1554480"/>
            <a:ext cx="5317236" cy="2743200"/>
          </a:xfrm>
          <a:prstGeom prst="roundRect">
            <a:avLst>
              <a:gd name="adj" fmla="val 2667"/>
            </a:avLst>
          </a:prstGeom>
          <a:solidFill>
            <a:schemeClr val="bg2"/>
          </a:solidFill>
          <a:ln/>
          <a:effectLst>
            <a:outerShdw blurRad="76200" dist="25400" dir="5400000" algn="bl" rotWithShape="0">
              <a:srgbClr val="000000">
                <a:alpha val="14000"/>
              </a:srgbClr>
            </a:outerShdw>
          </a:effectLst>
        </p:spPr>
      </p:sp>
      <p:sp>
        <p:nvSpPr>
          <p:cNvPr id="9" name="Text 7"/>
          <p:cNvSpPr txBox="1"/>
          <p:nvPr/>
        </p:nvSpPr>
        <p:spPr>
          <a:xfrm>
            <a:off x="6551676" y="1783080"/>
            <a:ext cx="4663440" cy="365760"/>
          </a:xfrm>
          <a:prstGeom prst="rect">
            <a:avLst/>
          </a:prstGeom>
          <a:noFill/>
          <a:ln/>
        </p:spPr>
        <p:txBody>
          <a:bodyPr wrap="square" lIns="0" tIns="0" rIns="0" bIns="0" rtlCol="0" anchor="t"/>
          <a:lstStyle/>
          <a:p>
            <a:pPr marL="0" indent="0">
              <a:buNone/>
            </a:pPr>
            <a:r>
              <a:rPr lang="en-US" sz="1800" b="1" dirty="0">
                <a:solidFill>
                  <a:schemeClr val="tx1"/>
                </a:solidFill>
              </a:rPr>
              <a:t>Independently re-run by us</a:t>
            </a:r>
            <a:endParaRPr lang="en-US" sz="1800" dirty="0"/>
          </a:p>
        </p:txBody>
      </p:sp>
      <p:sp>
        <p:nvSpPr>
          <p:cNvPr id="10" name="Text 8"/>
          <p:cNvSpPr txBox="1"/>
          <p:nvPr/>
        </p:nvSpPr>
        <p:spPr>
          <a:xfrm>
            <a:off x="6551676" y="2286000"/>
            <a:ext cx="2194560" cy="1097280"/>
          </a:xfrm>
          <a:prstGeom prst="rect">
            <a:avLst/>
          </a:prstGeom>
          <a:noFill/>
          <a:ln/>
        </p:spPr>
        <p:txBody>
          <a:bodyPr wrap="square" lIns="0" tIns="0" rIns="0" bIns="0" rtlCol="0" anchor="t"/>
          <a:lstStyle/>
          <a:p>
            <a:pPr marL="0" indent="0">
              <a:buNone/>
            </a:pPr>
            <a:r>
              <a:rPr lang="en-US" sz="6000" b="1" dirty="0">
                <a:solidFill>
                  <a:schemeClr val="accent1"/>
                </a:solidFill>
                <a:latin typeface="Cambria" pitchFamily="34" charset="0"/>
                <a:ea typeface="Cambria" pitchFamily="34" charset="-122"/>
                <a:cs typeface="Cambria" pitchFamily="34" charset="-120"/>
              </a:rPr>
              <a:t>—</a:t>
            </a:r>
            <a:endParaRPr lang="en-US" sz="6000" dirty="0"/>
          </a:p>
        </p:txBody>
      </p:sp>
      <p:sp>
        <p:nvSpPr>
          <p:cNvPr id="11" name="Text 9"/>
          <p:cNvSpPr txBox="1"/>
          <p:nvPr/>
        </p:nvSpPr>
        <p:spPr>
          <a:xfrm>
            <a:off x="6551676" y="3429000"/>
            <a:ext cx="2743200" cy="320040"/>
          </a:xfrm>
          <a:prstGeom prst="rect">
            <a:avLst/>
          </a:prstGeom>
          <a:noFill/>
          <a:ln/>
        </p:spPr>
        <p:txBody>
          <a:bodyPr wrap="square" lIns="0" tIns="0" rIns="0" bIns="0" rtlCol="0" anchor="t"/>
          <a:lstStyle/>
          <a:p>
            <a:pPr marL="0" indent="0">
              <a:buNone/>
            </a:pPr>
            <a:r>
              <a:rPr lang="en-US" sz="1500" dirty="0">
                <a:solidFill>
                  <a:schemeClr val="tx2"/>
                </a:solidFill>
              </a:rPr>
              <a:t>tests passed</a:t>
            </a:r>
            <a:endParaRPr lang="en-US" sz="1500" dirty="0"/>
          </a:p>
        </p:txBody>
      </p:sp>
      <p:sp>
        <p:nvSpPr>
          <p:cNvPr id="12" name="chip"/>
          <p:cNvSpPr/>
          <p:nvPr/>
        </p:nvSpPr>
        <p:spPr>
          <a:xfrm>
            <a:off x="6551676" y="3749040"/>
            <a:ext cx="1463040" cy="310896"/>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b="1" dirty="0">
                <a:solidFill>
                  <a:schemeClr val="tx1"/>
                </a:solidFill>
              </a:rPr>
              <a:t>Fill from logs</a:t>
            </a:r>
            <a:endParaRPr lang="en-US" sz="1100" dirty="0"/>
          </a:p>
        </p:txBody>
      </p:sp>
      <p:sp>
        <p:nvSpPr>
          <p:cNvPr id="13" name="check card 1"/>
          <p:cNvSpPr/>
          <p:nvPr/>
        </p:nvSpPr>
        <p:spPr>
          <a:xfrm>
            <a:off x="640080" y="4572000"/>
            <a:ext cx="3456432"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14" name="Text 12"/>
          <p:cNvSpPr txBox="1"/>
          <p:nvPr/>
        </p:nvSpPr>
        <p:spPr>
          <a:xfrm>
            <a:off x="868680" y="4800600"/>
            <a:ext cx="3017520" cy="365760"/>
          </a:xfrm>
          <a:prstGeom prst="rect">
            <a:avLst/>
          </a:prstGeom>
          <a:noFill/>
          <a:ln/>
        </p:spPr>
        <p:txBody>
          <a:bodyPr wrap="square" lIns="0" tIns="0" rIns="0" bIns="0" rtlCol="0" anchor="t"/>
          <a:lstStyle/>
          <a:p>
            <a:pPr marL="0" indent="0">
              <a:buNone/>
            </a:pPr>
            <a:r>
              <a:rPr lang="en-US" sz="1800" b="1" dirty="0">
                <a:solidFill>
                  <a:schemeClr val="tx1"/>
                </a:solidFill>
              </a:rPr>
              <a:t>Automated test suite</a:t>
            </a:r>
            <a:endParaRPr lang="en-US" sz="1800" dirty="0"/>
          </a:p>
        </p:txBody>
      </p:sp>
      <p:sp>
        <p:nvSpPr>
          <p:cNvPr id="15" name="Text 13"/>
          <p:cNvSpPr txBox="1"/>
          <p:nvPr/>
        </p:nvSpPr>
        <p:spPr>
          <a:xfrm>
            <a:off x="868680" y="5303520"/>
            <a:ext cx="3017520" cy="365760"/>
          </a:xfrm>
          <a:prstGeom prst="rect">
            <a:avLst/>
          </a:prstGeom>
          <a:noFill/>
          <a:ln/>
        </p:spPr>
        <p:txBody>
          <a:bodyPr wrap="square" lIns="0" tIns="0" rIns="0" bIns="0" rtlCol="0" anchor="t"/>
          <a:lstStyle/>
          <a:p>
            <a:pPr marL="0" indent="0">
              <a:buNone/>
            </a:pPr>
            <a:r>
              <a:rPr lang="en-US" sz="1400" dirty="0">
                <a:solidFill>
                  <a:schemeClr val="tx2"/>
                </a:solidFill>
              </a:rPr>
              <a:t>Result: add from logs</a:t>
            </a:r>
            <a:endParaRPr lang="en-US" sz="1400" dirty="0"/>
          </a:p>
        </p:txBody>
      </p:sp>
      <p:sp>
        <p:nvSpPr>
          <p:cNvPr id="16" name="check card 2"/>
          <p:cNvSpPr/>
          <p:nvPr/>
        </p:nvSpPr>
        <p:spPr>
          <a:xfrm>
            <a:off x="4370832" y="4572000"/>
            <a:ext cx="3456432"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17" name="Text 15"/>
          <p:cNvSpPr txBox="1"/>
          <p:nvPr/>
        </p:nvSpPr>
        <p:spPr>
          <a:xfrm>
            <a:off x="4599432" y="4800600"/>
            <a:ext cx="3017520" cy="365760"/>
          </a:xfrm>
          <a:prstGeom prst="rect">
            <a:avLst/>
          </a:prstGeom>
          <a:noFill/>
          <a:ln/>
        </p:spPr>
        <p:txBody>
          <a:bodyPr wrap="square" lIns="0" tIns="0" rIns="0" bIns="0" rtlCol="0" anchor="t"/>
          <a:lstStyle/>
          <a:p>
            <a:pPr marL="0" indent="0">
              <a:buNone/>
            </a:pPr>
            <a:r>
              <a:rPr lang="en-US" sz="1800" b="1" dirty="0">
                <a:solidFill>
                  <a:schemeClr val="tx1"/>
                </a:solidFill>
              </a:rPr>
              <a:t>Pipeline verification</a:t>
            </a:r>
            <a:endParaRPr lang="en-US" sz="1800" dirty="0"/>
          </a:p>
        </p:txBody>
      </p:sp>
      <p:sp>
        <p:nvSpPr>
          <p:cNvPr id="18" name="Text 16"/>
          <p:cNvSpPr txBox="1"/>
          <p:nvPr/>
        </p:nvSpPr>
        <p:spPr>
          <a:xfrm>
            <a:off x="4599432" y="5303520"/>
            <a:ext cx="3017520" cy="365760"/>
          </a:xfrm>
          <a:prstGeom prst="rect">
            <a:avLst/>
          </a:prstGeom>
          <a:noFill/>
          <a:ln/>
        </p:spPr>
        <p:txBody>
          <a:bodyPr wrap="square" lIns="0" tIns="0" rIns="0" bIns="0" rtlCol="0" anchor="t"/>
          <a:lstStyle/>
          <a:p>
            <a:pPr marL="0" indent="0">
              <a:buNone/>
            </a:pPr>
            <a:r>
              <a:rPr lang="en-US" sz="1400" dirty="0">
                <a:solidFill>
                  <a:schemeClr val="tx2"/>
                </a:solidFill>
              </a:rPr>
              <a:t>Result: add from logs</a:t>
            </a:r>
            <a:endParaRPr lang="en-US" sz="1400" dirty="0"/>
          </a:p>
        </p:txBody>
      </p:sp>
      <p:sp>
        <p:nvSpPr>
          <p:cNvPr id="19" name="check card 3"/>
          <p:cNvSpPr/>
          <p:nvPr/>
        </p:nvSpPr>
        <p:spPr>
          <a:xfrm>
            <a:off x="8101584" y="4572000"/>
            <a:ext cx="3456432"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20" name="Text 18"/>
          <p:cNvSpPr txBox="1"/>
          <p:nvPr/>
        </p:nvSpPr>
        <p:spPr>
          <a:xfrm>
            <a:off x="8330184" y="4800600"/>
            <a:ext cx="3017520" cy="365760"/>
          </a:xfrm>
          <a:prstGeom prst="rect">
            <a:avLst/>
          </a:prstGeom>
          <a:noFill/>
          <a:ln/>
        </p:spPr>
        <p:txBody>
          <a:bodyPr wrap="square" lIns="0" tIns="0" rIns="0" bIns="0" rtlCol="0" anchor="t"/>
          <a:lstStyle/>
          <a:p>
            <a:pPr marL="0" indent="0">
              <a:buNone/>
            </a:pPr>
            <a:r>
              <a:rPr lang="en-US" sz="1800" b="1" dirty="0">
                <a:solidFill>
                  <a:schemeClr val="tx1"/>
                </a:solidFill>
              </a:rPr>
              <a:t>Dashboard testing</a:t>
            </a:r>
            <a:endParaRPr lang="en-US" sz="1800" dirty="0"/>
          </a:p>
        </p:txBody>
      </p:sp>
      <p:sp>
        <p:nvSpPr>
          <p:cNvPr id="21" name="Text 19"/>
          <p:cNvSpPr txBox="1"/>
          <p:nvPr/>
        </p:nvSpPr>
        <p:spPr>
          <a:xfrm>
            <a:off x="8330184" y="5303520"/>
            <a:ext cx="3017520" cy="365760"/>
          </a:xfrm>
          <a:prstGeom prst="rect">
            <a:avLst/>
          </a:prstGeom>
          <a:noFill/>
          <a:ln/>
        </p:spPr>
        <p:txBody>
          <a:bodyPr wrap="square" lIns="0" tIns="0" rIns="0" bIns="0" rtlCol="0" anchor="t"/>
          <a:lstStyle/>
          <a:p>
            <a:pPr marL="0" indent="0">
              <a:buNone/>
            </a:pPr>
            <a:r>
              <a:rPr lang="en-US" sz="1400" dirty="0">
                <a:solidFill>
                  <a:schemeClr val="tx2"/>
                </a:solidFill>
              </a:rPr>
              <a:t>Result: add from logs</a:t>
            </a:r>
            <a:endParaRPr lang="en-US" sz="14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What we can, and can’t, conclude</a:t>
            </a:r>
            <a:endParaRPr lang="en-US" sz="3400" dirty="0"/>
          </a:p>
        </p:txBody>
      </p:sp>
      <p:sp>
        <p:nvSpPr>
          <p:cNvPr id="3" name="limitations card"/>
          <p:cNvSpPr/>
          <p:nvPr/>
        </p:nvSpPr>
        <p:spPr>
          <a:xfrm>
            <a:off x="640080" y="1554480"/>
            <a:ext cx="4114800" cy="4526280"/>
          </a:xfrm>
          <a:prstGeom prst="roundRect">
            <a:avLst>
              <a:gd name="adj" fmla="val 1778"/>
            </a:avLst>
          </a:prstGeom>
          <a:solidFill>
            <a:schemeClr val="bg2"/>
          </a:solidFill>
          <a:ln/>
          <a:effectLst>
            <a:outerShdw blurRad="76200" dist="25400" dir="5400000" algn="bl" rotWithShape="0">
              <a:srgbClr val="000000">
                <a:alpha val="14000"/>
              </a:srgbClr>
            </a:outerShdw>
          </a:effectLst>
        </p:spPr>
      </p:sp>
      <p:sp>
        <p:nvSpPr>
          <p:cNvPr id="4" name="Text 2"/>
          <p:cNvSpPr txBox="1"/>
          <p:nvPr/>
        </p:nvSpPr>
        <p:spPr>
          <a:xfrm>
            <a:off x="914400" y="1783080"/>
            <a:ext cx="3566160" cy="41148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Limitations</a:t>
            </a:r>
            <a:endParaRPr lang="en-US" sz="2200" dirty="0"/>
          </a:p>
        </p:txBody>
      </p:sp>
      <p:sp>
        <p:nvSpPr>
          <p:cNvPr id="5" name="Text 3"/>
          <p:cNvSpPr txBox="1"/>
          <p:nvPr/>
        </p:nvSpPr>
        <p:spPr>
          <a:xfrm>
            <a:off x="914400" y="2377440"/>
            <a:ext cx="3611880" cy="347472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Data must span several magnitudes</a:t>
            </a:r>
            <a:endParaRPr lang="en-US" sz="1700" dirty="0"/>
          </a:p>
          <a:p>
            <a:pPr marL="342900" indent="-342900">
              <a:spcAft>
                <a:spcPts val="1400"/>
              </a:spcAft>
              <a:buSzPct val="100000"/>
              <a:buChar char="•"/>
            </a:pPr>
            <a:r>
              <a:rPr lang="en-US" sz="1700" dirty="0">
                <a:solidFill>
                  <a:schemeClr val="tx1"/>
                </a:solidFill>
              </a:rPr>
              <a:t>Rounded or bounded data distort digits</a:t>
            </a:r>
            <a:endParaRPr lang="en-US" sz="1700" dirty="0"/>
          </a:p>
          <a:p>
            <a:pPr marL="342900" indent="-342900">
              <a:spcAft>
                <a:spcPts val="1400"/>
              </a:spcAft>
              <a:buSzPct val="100000"/>
              <a:buChar char="•"/>
            </a:pPr>
            <a:r>
              <a:rPr lang="en-US" sz="1700" dirty="0">
                <a:solidFill>
                  <a:schemeClr val="tx1"/>
                </a:solidFill>
              </a:rPr>
              <a:t>Many tests need p-value adjustment</a:t>
            </a:r>
            <a:endParaRPr lang="en-US" sz="1700" dirty="0"/>
          </a:p>
          <a:p>
            <a:pPr marL="342900" indent="-342900">
              <a:spcAft>
                <a:spcPts val="1400"/>
              </a:spcAft>
              <a:buSzPct val="100000"/>
              <a:buChar char="•"/>
            </a:pPr>
            <a:r>
              <a:rPr lang="en-US" sz="1700" dirty="0">
                <a:solidFill>
                  <a:schemeClr val="tx1"/>
                </a:solidFill>
              </a:rPr>
              <a:t>Huge samples flag tiny gaps</a:t>
            </a:r>
            <a:endParaRPr lang="en-US" sz="1700" dirty="0"/>
          </a:p>
          <a:p>
            <a:pPr marL="342900" indent="-342900">
              <a:spcAft>
                <a:spcPts val="1400"/>
              </a:spcAft>
              <a:buSzPct val="100000"/>
              <a:buChar char="•"/>
            </a:pPr>
            <a:r>
              <a:rPr lang="en-US" sz="1700" dirty="0">
                <a:solidFill>
                  <a:schemeClr val="tx1"/>
                </a:solidFill>
              </a:rPr>
              <a:t>Country-years aren’t independent</a:t>
            </a:r>
            <a:endParaRPr lang="en-US" sz="1700" dirty="0"/>
          </a:p>
          <a:p>
            <a:pPr marL="342900" indent="-342900">
              <a:spcAft>
                <a:spcPts val="1400"/>
              </a:spcAft>
              <a:buSzPct val="100000"/>
              <a:buChar char="•"/>
            </a:pPr>
            <a:r>
              <a:rPr lang="en-US" sz="1700" dirty="0">
                <a:solidFill>
                  <a:schemeClr val="tx1"/>
                </a:solidFill>
              </a:rPr>
              <a:t>A flag is a lead, not proof</a:t>
            </a:r>
            <a:endParaRPr lang="en-US" sz="1700" dirty="0"/>
          </a:p>
        </p:txBody>
      </p:sp>
      <p:sp>
        <p:nvSpPr>
          <p:cNvPr id="6" name="conclusion card"/>
          <p:cNvSpPr/>
          <p:nvPr/>
        </p:nvSpPr>
        <p:spPr>
          <a:xfrm>
            <a:off x="5029200" y="1554480"/>
            <a:ext cx="3108960" cy="4526280"/>
          </a:xfrm>
          <a:prstGeom prst="roundRect">
            <a:avLst>
              <a:gd name="adj" fmla="val 2353"/>
            </a:avLst>
          </a:prstGeom>
          <a:solidFill>
            <a:schemeClr val="tx1"/>
          </a:solidFill>
          <a:ln/>
          <a:effectLst>
            <a:outerShdw blurRad="76200" dist="25400" dir="5400000" algn="bl" rotWithShape="0">
              <a:srgbClr val="000000">
                <a:alpha val="14000"/>
              </a:srgbClr>
            </a:outerShdw>
          </a:effectLst>
        </p:spPr>
      </p:sp>
      <p:sp>
        <p:nvSpPr>
          <p:cNvPr id="7" name="Text 5"/>
          <p:cNvSpPr txBox="1"/>
          <p:nvPr/>
        </p:nvSpPr>
        <p:spPr>
          <a:xfrm>
            <a:off x="5303520" y="1783080"/>
            <a:ext cx="2560320" cy="41148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Conclusion</a:t>
            </a:r>
            <a:endParaRPr lang="en-US" sz="2200" dirty="0"/>
          </a:p>
        </p:txBody>
      </p:sp>
      <p:sp>
        <p:nvSpPr>
          <p:cNvPr id="8" name="Text 6"/>
          <p:cNvSpPr txBox="1"/>
          <p:nvPr/>
        </p:nvSpPr>
        <p:spPr>
          <a:xfrm>
            <a:off x="5303520" y="2377440"/>
            <a:ext cx="2560320" cy="3566160"/>
          </a:xfrm>
          <a:prstGeom prst="rect">
            <a:avLst/>
          </a:prstGeom>
          <a:noFill/>
          <a:ln/>
        </p:spPr>
        <p:txBody>
          <a:bodyPr wrap="square" lIns="0" tIns="0" rIns="0" bIns="0" rtlCol="0" anchor="t"/>
          <a:lstStyle/>
          <a:p>
            <a:pPr marL="0" indent="0">
              <a:buNone/>
            </a:pPr>
            <a:r>
              <a:rPr lang="en-US" sz="1800" dirty="0">
                <a:solidFill>
                  <a:schemeClr val="bg2"/>
                </a:solidFill>
              </a:rPr>
              <a:t>Benford’s Law plus chi-square gives a transparent first-pass screen. With suitability checks and effect sizes, it points to where to look, and says plainly when it can’t judge.</a:t>
            </a:r>
            <a:endParaRPr lang="en-US" sz="1800" dirty="0"/>
          </a:p>
        </p:txBody>
      </p:sp>
      <p:sp>
        <p:nvSpPr>
          <p:cNvPr id="9" name="future card"/>
          <p:cNvSpPr/>
          <p:nvPr/>
        </p:nvSpPr>
        <p:spPr>
          <a:xfrm>
            <a:off x="8412480" y="1554480"/>
            <a:ext cx="3108960" cy="4526280"/>
          </a:xfrm>
          <a:prstGeom prst="roundRect">
            <a:avLst>
              <a:gd name="adj" fmla="val 2353"/>
            </a:avLst>
          </a:prstGeom>
          <a:solidFill>
            <a:schemeClr val="bg2"/>
          </a:solidFill>
          <a:ln/>
          <a:effectLst>
            <a:outerShdw blurRad="76200" dist="25400" dir="5400000" algn="bl" rotWithShape="0">
              <a:srgbClr val="000000">
                <a:alpha val="14000"/>
              </a:srgbClr>
            </a:outerShdw>
          </a:effectLst>
        </p:spPr>
      </p:sp>
      <p:sp>
        <p:nvSpPr>
          <p:cNvPr id="10" name="chip"/>
          <p:cNvSpPr/>
          <p:nvPr/>
        </p:nvSpPr>
        <p:spPr>
          <a:xfrm>
            <a:off x="8686800" y="1810512"/>
            <a:ext cx="2011680" cy="310896"/>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b="1" dirty="0">
                <a:solidFill>
                  <a:schemeClr val="tx1"/>
                </a:solidFill>
              </a:rPr>
              <a:t>PROPOSED, NOT BUILT</a:t>
            </a:r>
            <a:endParaRPr lang="en-US" sz="1100" dirty="0"/>
          </a:p>
        </p:txBody>
      </p:sp>
      <p:sp>
        <p:nvSpPr>
          <p:cNvPr id="11" name="Text 9"/>
          <p:cNvSpPr txBox="1"/>
          <p:nvPr/>
        </p:nvSpPr>
        <p:spPr>
          <a:xfrm>
            <a:off x="8686800" y="2286000"/>
            <a:ext cx="2560320" cy="411480"/>
          </a:xfrm>
          <a:prstGeom prst="rect">
            <a:avLst/>
          </a:prstGeom>
          <a:noFill/>
          <a:ln/>
        </p:spPr>
        <p:txBody>
          <a:bodyPr wrap="square" lIns="0" tIns="0" rIns="0" bIns="0" rtlCol="0" anchor="t"/>
          <a:lstStyle/>
          <a:p>
            <a:pPr marL="0" indent="0">
              <a:buNone/>
            </a:pPr>
            <a:r>
              <a:rPr lang="en-US" sz="2200" b="1" dirty="0">
                <a:solidFill>
                  <a:schemeClr val="tx1"/>
                </a:solidFill>
                <a:latin typeface="Cambria" pitchFamily="34" charset="0"/>
                <a:ea typeface="Cambria" pitchFamily="34" charset="-122"/>
                <a:cs typeface="Cambria" pitchFamily="34" charset="-120"/>
              </a:rPr>
              <a:t>Future work</a:t>
            </a:r>
            <a:endParaRPr lang="en-US" sz="2200" dirty="0"/>
          </a:p>
        </p:txBody>
      </p:sp>
      <p:sp>
        <p:nvSpPr>
          <p:cNvPr id="12" name="Text 10"/>
          <p:cNvSpPr txBox="1"/>
          <p:nvPr/>
        </p:nvSpPr>
        <p:spPr>
          <a:xfrm>
            <a:off x="8686800" y="2880360"/>
            <a:ext cx="2560320" cy="22860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Better-suited datasets</a:t>
            </a:r>
            <a:endParaRPr lang="en-US" sz="1700" dirty="0"/>
          </a:p>
          <a:p>
            <a:pPr marL="342900" indent="-342900">
              <a:spcAft>
                <a:spcPts val="1400"/>
              </a:spcAft>
              <a:buSzPct val="100000"/>
              <a:buChar char="•"/>
            </a:pPr>
            <a:r>
              <a:rPr lang="en-US" sz="1700" dirty="0">
                <a:solidFill>
                  <a:schemeClr val="tx1"/>
                </a:solidFill>
              </a:rPr>
              <a:t>Stronger validation</a:t>
            </a:r>
            <a:endParaRPr lang="en-US" sz="1700" dirty="0"/>
          </a:p>
          <a:p>
            <a:pPr marL="342900" indent="-342900">
              <a:spcAft>
                <a:spcPts val="1400"/>
              </a:spcAft>
              <a:buSzPct val="100000"/>
              <a:buChar char="•"/>
            </a:pPr>
            <a:r>
              <a:rPr lang="en-US" sz="1700" dirty="0">
                <a:solidFill>
                  <a:schemeClr val="tx1"/>
                </a:solidFill>
              </a:rPr>
              <a:t>Improved visualisation</a:t>
            </a:r>
            <a:endParaRPr lang="en-US" sz="1700" dirty="0"/>
          </a:p>
        </p:txBody>
      </p:sp>
      <p:sp>
        <p:nvSpPr>
          <p:cNvPr id="25" name="Slide Number Placeholder 0"/>
          <p:cNvSpPr>
            <a:spLocks noGrp="1"/>
          </p:cNvSpPr>
          <p:nvPr>
            <p:ph type="sldNum" sz="quarter" idx="4294967295"/>
          </p:nvPr>
        </p:nvSpPr>
        <p:spPr>
          <a:xfrm>
            <a:off x="110642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6583680" cy="868680"/>
          </a:xfrm>
          <a:prstGeom prst="rect">
            <a:avLst/>
          </a:prstGeom>
          <a:noFill/>
          <a:ln/>
        </p:spPr>
        <p:txBody>
          <a:bodyPr wrap="square" lIns="0" tIns="0" rIns="0" bIns="0" rtlCol="0" anchor="t"/>
          <a:lstStyle/>
          <a:p>
            <a:pPr marL="0" indent="0" algn="l">
              <a:buNone/>
            </a:pPr>
            <a:r>
              <a:rPr lang="en-US" sz="3400" b="1" dirty="0">
                <a:solidFill>
                  <a:schemeClr val="bg1"/>
                </a:solidFill>
              </a:rPr>
              <a:t>References</a:t>
            </a:r>
            <a:endParaRPr lang="en-US" sz="3400" dirty="0"/>
          </a:p>
        </p:txBody>
      </p:sp>
      <p:sp>
        <p:nvSpPr>
          <p:cNvPr id="3" name="Text 1"/>
          <p:cNvSpPr txBox="1"/>
          <p:nvPr/>
        </p:nvSpPr>
        <p:spPr>
          <a:xfrm>
            <a:off x="640080" y="1554480"/>
            <a:ext cx="6583680" cy="4480560"/>
          </a:xfrm>
          <a:prstGeom prst="rect">
            <a:avLst/>
          </a:prstGeom>
          <a:noFill/>
          <a:ln/>
        </p:spPr>
        <p:txBody>
          <a:bodyPr wrap="square" lIns="0" tIns="0" rIns="0" bIns="0" rtlCol="0" anchor="t"/>
          <a:lstStyle/>
          <a:p>
            <a:pPr marL="0" indent="0">
              <a:spcAft>
                <a:spcPts val="1400"/>
              </a:spcAft>
              <a:buNone/>
            </a:pPr>
            <a:r>
              <a:rPr lang="en-US" sz="1500" dirty="0">
                <a:solidFill>
                  <a:schemeClr val="bg2"/>
                </a:solidFill>
              </a:rPr>
              <a:t>Benford, F. (1938). The law of anomalous numbers. Proceedings of the American Philosophical Society, 78(4), 551–572.</a:t>
            </a:r>
            <a:endParaRPr lang="en-US" sz="1500" dirty="0"/>
          </a:p>
          <a:p>
            <a:pPr marL="0" indent="0">
              <a:spcAft>
                <a:spcPts val="1400"/>
              </a:spcAft>
              <a:buNone/>
            </a:pPr>
            <a:r>
              <a:rPr lang="en-US" sz="1500" dirty="0">
                <a:solidFill>
                  <a:schemeClr val="bg2"/>
                </a:solidFill>
              </a:rPr>
              <a:t>Newcomb, S. (1881). Note on the frequency of use of the different digits in natural numbers. American Journal of Mathematics, 4(1), 39–40.</a:t>
            </a:r>
            <a:endParaRPr lang="en-US" sz="1500" dirty="0"/>
          </a:p>
          <a:p>
            <a:pPr marL="0" indent="0">
              <a:spcAft>
                <a:spcPts val="1400"/>
              </a:spcAft>
              <a:buNone/>
            </a:pPr>
            <a:r>
              <a:rPr lang="en-US" sz="1500" dirty="0">
                <a:solidFill>
                  <a:schemeClr val="bg2"/>
                </a:solidFill>
              </a:rPr>
              <a:t>Nigrini, M. J. (2012). Benford’s Law: Applications for Forensic Accounting, Auditing, and Fraud Detection. Wiley.</a:t>
            </a:r>
            <a:endParaRPr lang="en-US" sz="1500" dirty="0"/>
          </a:p>
          <a:p>
            <a:pPr marL="0" indent="0">
              <a:spcAft>
                <a:spcPts val="1400"/>
              </a:spcAft>
              <a:buNone/>
            </a:pPr>
            <a:r>
              <a:rPr lang="en-US" sz="1500" dirty="0">
                <a:solidFill>
                  <a:schemeClr val="bg2"/>
                </a:solidFill>
              </a:rPr>
              <a:t>Pearson, K. (1900). On the criterion that a given system of deviations from the probable in the case of a correlated system of variables is such that it can be reasonably supposed to have arisen from random sampling. Philosophical Magazine, 50(302), 157–175.</a:t>
            </a:r>
            <a:endParaRPr lang="en-US" sz="1500" dirty="0"/>
          </a:p>
          <a:p>
            <a:pPr marL="0" indent="0">
              <a:spcAft>
                <a:spcPts val="1400"/>
              </a:spcAft>
              <a:buNone/>
            </a:pPr>
            <a:r>
              <a:rPr lang="en-US" sz="1500" dirty="0">
                <a:solidFill>
                  <a:schemeClr val="bg2"/>
                </a:solidFill>
              </a:rPr>
              <a:t>World Bank. World Development Indicators (WDI). data.worldbank.org</a:t>
            </a:r>
            <a:endParaRPr lang="en-US" sz="1500" dirty="0"/>
          </a:p>
        </p:txBody>
      </p:sp>
      <p:pic>
        <p:nvPicPr>
          <p:cNvPr id="4" name="closing photo" descr="Pencil resting on a printed chart"/>
          <p:cNvPicPr>
            <a:picLocks noChangeAspect="1"/>
          </p:cNvPicPr>
          <p:nvPr/>
        </p:nvPicPr>
        <p:blipFill>
          <a:blip r:embed="rId3"/>
          <a:stretch>
            <a:fillRect/>
          </a:stretch>
        </p:blipFill>
        <p:spPr>
          <a:xfrm>
            <a:off x="7589520" y="0"/>
            <a:ext cx="4599432" cy="6858000"/>
          </a:xfrm>
          <a:prstGeom prst="rect">
            <a:avLst/>
          </a:prstGeom>
        </p:spPr>
      </p:pic>
      <p:sp>
        <p:nvSpPr>
          <p:cNvPr id="5" name="thanks box"/>
          <p:cNvSpPr/>
          <p:nvPr/>
        </p:nvSpPr>
        <p:spPr>
          <a:xfrm>
            <a:off x="8001000" y="4114800"/>
            <a:ext cx="3749040" cy="1828800"/>
          </a:xfrm>
          <a:prstGeom prst="roundRect">
            <a:avLst>
              <a:gd name="adj" fmla="val 4000"/>
            </a:avLst>
          </a:prstGeom>
          <a:solidFill>
            <a:schemeClr val="tx1"/>
          </a:solidFill>
          <a:ln/>
          <a:effectLst>
            <a:outerShdw blurRad="76200" dist="25400" dir="5400000" algn="bl" rotWithShape="0">
              <a:srgbClr val="000000">
                <a:alpha val="14000"/>
              </a:srgbClr>
            </a:outerShdw>
          </a:effectLst>
        </p:spPr>
      </p:sp>
      <p:sp>
        <p:nvSpPr>
          <p:cNvPr id="6" name="Text 3"/>
          <p:cNvSpPr txBox="1"/>
          <p:nvPr/>
        </p:nvSpPr>
        <p:spPr>
          <a:xfrm>
            <a:off x="8321040" y="4343400"/>
            <a:ext cx="3108960" cy="640080"/>
          </a:xfrm>
          <a:prstGeom prst="rect">
            <a:avLst/>
          </a:prstGeom>
          <a:noFill/>
          <a:ln/>
        </p:spPr>
        <p:txBody>
          <a:bodyPr wrap="square" lIns="0" tIns="0" rIns="0" bIns="0" rtlCol="0" anchor="t"/>
          <a:lstStyle/>
          <a:p>
            <a:pPr marL="0" indent="0">
              <a:buNone/>
            </a:pPr>
            <a:r>
              <a:rPr lang="en-US" sz="3400" dirty="0">
                <a:solidFill>
                  <a:schemeClr val="bg1"/>
                </a:solidFill>
                <a:latin typeface="Cambria" pitchFamily="34" charset="0"/>
                <a:ea typeface="Cambria" pitchFamily="34" charset="-122"/>
                <a:cs typeface="Cambria" pitchFamily="34" charset="-120"/>
              </a:rPr>
              <a:t>Thank you</a:t>
            </a:r>
            <a:endParaRPr lang="en-US" sz="3400" dirty="0"/>
          </a:p>
        </p:txBody>
      </p:sp>
      <p:sp>
        <p:nvSpPr>
          <p:cNvPr id="7" name="thanks rule"/>
          <p:cNvSpPr/>
          <p:nvPr/>
        </p:nvSpPr>
        <p:spPr>
          <a:xfrm>
            <a:off x="8321040" y="5074920"/>
            <a:ext cx="3108960" cy="0"/>
          </a:xfrm>
          <a:prstGeom prst="line">
            <a:avLst/>
          </a:prstGeom>
          <a:noFill/>
          <a:ln w="19050">
            <a:solidFill>
              <a:schemeClr val="accent1"/>
            </a:solidFill>
            <a:prstDash val="solid"/>
          </a:ln>
        </p:spPr>
      </p:sp>
      <p:sp>
        <p:nvSpPr>
          <p:cNvPr id="8" name="Text 5"/>
          <p:cNvSpPr txBox="1"/>
          <p:nvPr/>
        </p:nvSpPr>
        <p:spPr>
          <a:xfrm>
            <a:off x="8321040" y="5257800"/>
            <a:ext cx="3108960" cy="365760"/>
          </a:xfrm>
          <a:prstGeom prst="rect">
            <a:avLst/>
          </a:prstGeom>
          <a:noFill/>
          <a:ln/>
        </p:spPr>
        <p:txBody>
          <a:bodyPr wrap="square" lIns="0" tIns="0" rIns="0" bIns="0" rtlCol="0" anchor="t"/>
          <a:lstStyle/>
          <a:p>
            <a:pPr marL="0" indent="0">
              <a:buNone/>
            </a:pPr>
            <a:r>
              <a:rPr lang="en-US" sz="1600" b="1" dirty="0">
                <a:solidFill>
                  <a:schemeClr val="accent1"/>
                </a:solidFill>
              </a:rPr>
              <a:t>QUESTIONS?</a:t>
            </a:r>
            <a:endParaRPr lang="en-US" sz="1600" dirty="0"/>
          </a:p>
        </p:txBody>
      </p:sp>
    </p:spTree>
  </p:cSld>
  <p:clrMapOvr>
    <a:masterClrMapping/>
  </p:clrMapOvr>
</p:sld>
</file>

<file path=ppt/theme/theme1.xml><?xml version="1.0" encoding="utf-8"?>
<a:theme xmlns:a="http://schemas.openxmlformats.org/drawingml/2006/main" name="Paper and Pencil">
  <a:themeElements>
    <a:clrScheme name="Paper and Pencil">
      <a:dk1>
        <a:srgbClr val="24231F"/>
      </a:dk1>
      <a:lt1>
        <a:srgbClr val="FBF8F1"/>
      </a:lt1>
      <a:dk2>
        <a:srgbClr val="6B6459"/>
      </a:dk2>
      <a:lt2>
        <a:srgbClr val="ECE5D6"/>
      </a:lt2>
      <a:accent1>
        <a:srgbClr val="E8892B"/>
      </a:accent1>
      <a:accent2>
        <a:srgbClr val="2F6F73"/>
      </a:accent2>
      <a:accent3>
        <a:srgbClr val="B5533C"/>
      </a:accent3>
      <a:accent4>
        <a:srgbClr val="8A8F5C"/>
      </a:accent4>
      <a:accent5>
        <a:srgbClr val="3A3833"/>
      </a:accent5>
      <a:accent6>
        <a:srgbClr val="F3DF8A"/>
      </a:accent6>
      <a:hlink>
        <a:srgbClr val="2F6F73"/>
      </a:hlink>
      <a:folHlink>
        <a:srgbClr val="6B6459"/>
      </a:folHlink>
    </a:clrScheme>
    <a:fontScheme name="Paper and Penci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2524</Words>
  <Application>Microsoft Office PowerPoint</Application>
  <PresentationFormat>Widescreen</PresentationFormat>
  <Paragraphs>286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Paper and Pencil</vt:lpstr>
      <vt:lpstr>PowerPoint Presentation</vt:lpstr>
      <vt:lpstr>Nobody can eyeball a million numbers</vt:lpstr>
      <vt:lpstr>What we set out to ask</vt:lpstr>
      <vt:lpstr>Where the numbers come from</vt:lpstr>
      <vt:lpstr>From raw table to a careful verdict</vt:lpstr>
      <vt:lpstr>What does “normal” look like?</vt:lpstr>
      <vt:lpstr>The toolkit, in plain English</vt:lpstr>
      <vt:lpstr>How it is built</vt:lpstr>
      <vt:lpstr>The dashboard, hands-on</vt:lpstr>
      <vt:lpstr>What the real data says</vt:lpstr>
      <vt:lpstr>Planting known errors to see if we catch them</vt:lpstr>
      <vt:lpstr>How we checked our own work</vt:lpstr>
      <vt:lpstr>What we can, and can’t, conclude</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Statistics Detect Fake Data?</dc:title>
  <dc:subject>PptxGenJS Presentation</dc:subject>
  <dc:creator>Shaik Sameer; Joshita Chowdary</dc:creator>
  <cp:lastModifiedBy>shaik sameer</cp:lastModifiedBy>
  <cp:revision>2</cp:revision>
  <dcterms:created xsi:type="dcterms:W3CDTF">2026-10-13T11:09:54Z</dcterms:created>
  <dcterms:modified xsi:type="dcterms:W3CDTF">2026-10-13T15:38:49Z</dcterms:modified>
</cp:coreProperties>
</file>