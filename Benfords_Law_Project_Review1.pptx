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8" d="100"/>
          <a:sy n="98" d="100"/>
        </p:scale>
        <p:origin x="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Expected probability (%)</c:v>
                </c:pt>
              </c:strCache>
            </c:strRef>
          </c:tx>
          <c:spPr>
            <a:solidFill>
              <a:srgbClr val="1E2761"/>
            </a:solidFill>
            <a:effectLst/>
          </c:spPr>
          <c:invertIfNegative val="0"/>
          <c:dLbls>
            <c:numFmt formatCode="0.00&quot;%&quot;" sourceLinked="0"/>
            <c:spPr>
              <a:noFill/>
              <a:ln>
                <a:noFill/>
              </a:ln>
              <a:effectLst/>
            </c:spPr>
            <c:txPr>
              <a:bodyPr/>
              <a:lstStyle/>
              <a:p>
                <a:pPr>
                  <a:defRPr sz="1000" b="0" i="0" u="none" strike="noStrike">
                    <a:solidFill>
                      <a:srgbClr val="2026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1</c:v>
                </c:pt>
                <c:pt idx="1">
                  <c:v>2</c:v>
                </c:pt>
                <c:pt idx="2">
                  <c:v>3</c:v>
                </c:pt>
                <c:pt idx="3">
                  <c:v>4</c:v>
                </c:pt>
                <c:pt idx="4">
                  <c:v>5</c:v>
                </c:pt>
                <c:pt idx="5">
                  <c:v>6</c:v>
                </c:pt>
                <c:pt idx="6">
                  <c:v>7</c:v>
                </c:pt>
                <c:pt idx="7">
                  <c:v>8</c:v>
                </c:pt>
                <c:pt idx="8">
                  <c:v>9</c:v>
                </c:pt>
              </c:strCache>
            </c:strRef>
          </c:cat>
          <c:val>
            <c:numRef>
              <c:f>Sheet1!$B$2:$B$10</c:f>
              <c:numCache>
                <c:formatCode>General</c:formatCode>
                <c:ptCount val="9"/>
                <c:pt idx="0">
                  <c:v>30.1</c:v>
                </c:pt>
                <c:pt idx="1">
                  <c:v>17.61</c:v>
                </c:pt>
                <c:pt idx="2">
                  <c:v>12.49</c:v>
                </c:pt>
                <c:pt idx="3">
                  <c:v>9.69</c:v>
                </c:pt>
                <c:pt idx="4">
                  <c:v>7.92</c:v>
                </c:pt>
                <c:pt idx="5">
                  <c:v>6.69</c:v>
                </c:pt>
                <c:pt idx="6">
                  <c:v>5.8</c:v>
                </c:pt>
                <c:pt idx="7">
                  <c:v>5.12</c:v>
                </c:pt>
                <c:pt idx="8">
                  <c:v>4.58</c:v>
                </c:pt>
              </c:numCache>
            </c:numRef>
          </c:val>
          <c:extLst>
            <c:ext xmlns:c16="http://schemas.microsoft.com/office/drawing/2014/chart" uri="{C3380CC4-5D6E-409C-BE32-E72D297353CC}">
              <c16:uniqueId val="{00000000-5262-4E86-B55A-499F8726245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100" b="0" i="0" u="none" strike="noStrike">
                    <a:solidFill>
                      <a:srgbClr val="5B6C93"/>
                    </a:solidFill>
                    <a:latin typeface="Arial"/>
                  </a:defRPr>
                </a:pPr>
                <a:r>
                  <a:rPr lang="en-IN" sz="1100" b="0" i="0" u="none" strike="noStrike">
                    <a:solidFill>
                      <a:srgbClr val="5B6C93"/>
                    </a:solidFill>
                    <a:latin typeface="Arial"/>
                  </a:rPr>
                  <a:t>First digit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0263D"/>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9F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C9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975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E2761"/>
          </a:solidFill>
          <a:ln/>
        </p:spPr>
        <p:txBody>
          <a:bodyPr/>
          <a:lstStyle/>
          <a:p>
            <a:endParaRPr lang="en-IN"/>
          </a:p>
        </p:txBody>
      </p:sp>
      <p:sp>
        <p:nvSpPr>
          <p:cNvPr id="3" name="Text 1"/>
          <p:cNvSpPr txBox="1"/>
          <p:nvPr/>
        </p:nvSpPr>
        <p:spPr>
          <a:xfrm>
            <a:off x="548640" y="6547104"/>
            <a:ext cx="8686800" cy="274320"/>
          </a:xfrm>
          <a:prstGeom prst="rect">
            <a:avLst/>
          </a:prstGeom>
          <a:noFill/>
          <a:ln/>
        </p:spPr>
        <p:txBody>
          <a:bodyPr wrap="square" lIns="0" tIns="0" rIns="0" bIns="0" rtlCol="0" anchor="ctr"/>
          <a:lstStyle/>
          <a:p>
            <a:pPr marL="0" indent="0" algn="l">
              <a:buNone/>
            </a:pPr>
            <a:r>
              <a:rPr lang="en-US" sz="900" dirty="0">
                <a:solidFill>
                  <a:srgbClr val="5B6C93"/>
                </a:solidFill>
                <a:latin typeface="Calibri" pitchFamily="34" charset="0"/>
                <a:ea typeface="Calibri" pitchFamily="34" charset="-122"/>
                <a:cs typeface="Calibri" pitchFamily="34" charset="-120"/>
              </a:rPr>
              <a:t>PROJECT REVIEW 1  •  BENFORD'S LAW ANOMALY DETECTION</a:t>
            </a:r>
            <a:endParaRPr lang="en-US" sz="900" dirty="0"/>
          </a:p>
        </p:txBody>
      </p:sp>
      <p:sp>
        <p:nvSpPr>
          <p:cNvPr id="4" name="Text 2"/>
          <p:cNvSpPr txBox="1"/>
          <p:nvPr/>
        </p:nvSpPr>
        <p:spPr>
          <a:xfrm>
            <a:off x="9601200" y="6547104"/>
            <a:ext cx="2039112" cy="274320"/>
          </a:xfrm>
          <a:prstGeom prst="rect">
            <a:avLst/>
          </a:prstGeom>
          <a:noFill/>
          <a:ln/>
        </p:spPr>
        <p:txBody>
          <a:bodyPr wrap="square" lIns="0" tIns="0" rIns="0" bIns="0" rtlCol="0" anchor="ctr"/>
          <a:lstStyle/>
          <a:p>
            <a:pPr marL="0" indent="0" algn="r">
              <a:buNone/>
            </a:pPr>
            <a:r>
              <a:rPr lang="en-US" sz="900" dirty="0">
                <a:solidFill>
                  <a:srgbClr val="5B6C93"/>
                </a:solidFill>
                <a:latin typeface="Calibri" pitchFamily="34" charset="0"/>
                <a:ea typeface="Calibri" pitchFamily="34" charset="-122"/>
                <a:cs typeface="Calibri" pitchFamily="34" charset="-120"/>
              </a:rPr>
              <a:t>BMAT202P</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txBody>
          <a:bodyPr/>
          <a:lstStyle/>
          <a:p>
            <a:endParaRPr lang="en-IN"/>
          </a:p>
        </p:txBody>
      </p:sp>
      <p:sp>
        <p:nvSpPr>
          <p:cNvPr id="3" name="Shape 1"/>
          <p:cNvSpPr/>
          <p:nvPr/>
        </p:nvSpPr>
        <p:spPr>
          <a:xfrm>
            <a:off x="9692640" y="-1920240"/>
            <a:ext cx="5943600" cy="5943600"/>
          </a:xfrm>
          <a:prstGeom prst="ellipse">
            <a:avLst/>
          </a:prstGeom>
          <a:solidFill>
            <a:srgbClr val="263372"/>
          </a:solidFill>
          <a:ln/>
        </p:spPr>
        <p:txBody>
          <a:bodyPr/>
          <a:lstStyle/>
          <a:p>
            <a:endParaRPr lang="en-IN"/>
          </a:p>
        </p:txBody>
      </p:sp>
      <p:sp>
        <p:nvSpPr>
          <p:cNvPr id="4" name="Shape 2"/>
          <p:cNvSpPr/>
          <p:nvPr/>
        </p:nvSpPr>
        <p:spPr>
          <a:xfrm>
            <a:off x="-2103120" y="4754880"/>
            <a:ext cx="4206240" cy="4206240"/>
          </a:xfrm>
          <a:prstGeom prst="ellipse">
            <a:avLst/>
          </a:prstGeom>
          <a:solidFill>
            <a:srgbClr val="263372"/>
          </a:solidFill>
          <a:ln/>
        </p:spPr>
        <p:txBody>
          <a:bodyPr/>
          <a:lstStyle/>
          <a:p>
            <a:endParaRPr lang="en-IN"/>
          </a:p>
        </p:txBody>
      </p:sp>
      <p:sp>
        <p:nvSpPr>
          <p:cNvPr id="5" name="Text 3"/>
          <p:cNvSpPr txBox="1"/>
          <p:nvPr/>
        </p:nvSpPr>
        <p:spPr>
          <a:xfrm>
            <a:off x="822960" y="685800"/>
            <a:ext cx="10515600" cy="457200"/>
          </a:xfrm>
          <a:prstGeom prst="rect">
            <a:avLst/>
          </a:prstGeom>
          <a:noFill/>
          <a:ln/>
        </p:spPr>
        <p:txBody>
          <a:bodyPr wrap="square" lIns="0" tIns="0" rIns="0" bIns="0"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PROBABILITY AND STATISTICS PROJECT</a:t>
            </a:r>
            <a:endParaRPr lang="en-US" sz="1400" dirty="0"/>
          </a:p>
        </p:txBody>
      </p:sp>
      <p:sp>
        <p:nvSpPr>
          <p:cNvPr id="6" name="Text 4"/>
          <p:cNvSpPr txBox="1"/>
          <p:nvPr/>
        </p:nvSpPr>
        <p:spPr>
          <a:xfrm>
            <a:off x="822960" y="1554480"/>
            <a:ext cx="1051560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Can Statistics Detect Fake Data?</a:t>
            </a:r>
            <a:endParaRPr lang="en-US" sz="4000" dirty="0"/>
          </a:p>
        </p:txBody>
      </p:sp>
      <p:sp>
        <p:nvSpPr>
          <p:cNvPr id="7" name="Text 5"/>
          <p:cNvSpPr txBox="1"/>
          <p:nvPr/>
        </p:nvSpPr>
        <p:spPr>
          <a:xfrm>
            <a:off x="822960" y="2331720"/>
            <a:ext cx="10515600" cy="548640"/>
          </a:xfrm>
          <a:prstGeom prst="rect">
            <a:avLst/>
          </a:prstGeom>
          <a:noFill/>
          <a:ln/>
        </p:spPr>
        <p:txBody>
          <a:bodyPr wrap="square" lIns="0" tIns="0" rIns="0" bIns="0" rtlCol="0" anchor="ctr"/>
          <a:lstStyle/>
          <a:p>
            <a:pPr marL="0" indent="0">
              <a:buNone/>
            </a:pPr>
            <a:r>
              <a:rPr lang="en-US" sz="2000" i="1" dirty="0">
                <a:solidFill>
                  <a:srgbClr val="CADCFC"/>
                </a:solidFill>
                <a:latin typeface="Cambria" pitchFamily="34" charset="0"/>
                <a:ea typeface="Cambria" pitchFamily="34" charset="-122"/>
                <a:cs typeface="Cambria" pitchFamily="34" charset="-120"/>
              </a:rPr>
              <a:t>Identifying Anomalies and Outliers in Real Datasets</a:t>
            </a:r>
            <a:endParaRPr lang="en-US" sz="2000" dirty="0"/>
          </a:p>
        </p:txBody>
      </p:sp>
      <p:sp>
        <p:nvSpPr>
          <p:cNvPr id="8" name="Shape 6"/>
          <p:cNvSpPr/>
          <p:nvPr/>
        </p:nvSpPr>
        <p:spPr>
          <a:xfrm>
            <a:off x="822960" y="3063240"/>
            <a:ext cx="2011680" cy="0"/>
          </a:xfrm>
          <a:prstGeom prst="line">
            <a:avLst/>
          </a:prstGeom>
          <a:noFill/>
          <a:ln w="31750">
            <a:solidFill>
              <a:srgbClr val="C9922C"/>
            </a:solidFill>
            <a:prstDash val="solid"/>
          </a:ln>
        </p:spPr>
        <p:txBody>
          <a:bodyPr/>
          <a:lstStyle/>
          <a:p>
            <a:endParaRPr lang="en-IN"/>
          </a:p>
        </p:txBody>
      </p:sp>
      <p:sp>
        <p:nvSpPr>
          <p:cNvPr id="9" name="Text 7"/>
          <p:cNvSpPr txBox="1"/>
          <p:nvPr/>
        </p:nvSpPr>
        <p:spPr>
          <a:xfrm>
            <a:off x="822960" y="3246120"/>
            <a:ext cx="9875520" cy="45720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Statistical investigation using Benford's Law and Chi-square goodness-of-fit</a:t>
            </a:r>
            <a:endParaRPr lang="en-US" sz="1500" dirty="0"/>
          </a:p>
        </p:txBody>
      </p:sp>
      <p:sp>
        <p:nvSpPr>
          <p:cNvPr id="10" name="Text 8"/>
          <p:cNvSpPr txBox="1"/>
          <p:nvPr/>
        </p:nvSpPr>
        <p:spPr>
          <a:xfrm>
            <a:off x="822960" y="3977640"/>
            <a:ext cx="4572000" cy="365760"/>
          </a:xfrm>
          <a:prstGeom prst="rect">
            <a:avLst/>
          </a:prstGeom>
          <a:noFill/>
          <a:ln/>
        </p:spPr>
        <p:txBody>
          <a:bodyPr wrap="square" lIns="0" tIns="0" rIns="0" bIns="0" rtlCol="0" anchor="ctr"/>
          <a:lstStyle/>
          <a:p>
            <a:pPr marL="0" indent="0">
              <a:buNone/>
            </a:pPr>
            <a:r>
              <a:rPr lang="en-US" sz="1300" b="1" kern="0" spc="150" dirty="0">
                <a:solidFill>
                  <a:srgbClr val="C9922C"/>
                </a:solidFill>
                <a:latin typeface="Calibri" pitchFamily="34" charset="0"/>
                <a:ea typeface="Calibri" pitchFamily="34" charset="-122"/>
                <a:cs typeface="Calibri" pitchFamily="34" charset="-120"/>
              </a:rPr>
              <a:t>PROJECT REVIEW 1</a:t>
            </a:r>
            <a:endParaRPr lang="en-US" sz="1300" dirty="0"/>
          </a:p>
        </p:txBody>
      </p:sp>
      <p:sp>
        <p:nvSpPr>
          <p:cNvPr id="11" name="Text 9"/>
          <p:cNvSpPr txBox="1"/>
          <p:nvPr/>
        </p:nvSpPr>
        <p:spPr>
          <a:xfrm>
            <a:off x="822960" y="4297680"/>
            <a:ext cx="457200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F1 SLOT</a:t>
            </a:r>
            <a:endParaRPr lang="en-US" sz="1200" dirty="0"/>
          </a:p>
        </p:txBody>
      </p:sp>
      <p:sp>
        <p:nvSpPr>
          <p:cNvPr id="12" name="Shape 10"/>
          <p:cNvSpPr/>
          <p:nvPr/>
        </p:nvSpPr>
        <p:spPr>
          <a:xfrm>
            <a:off x="822960" y="4892040"/>
            <a:ext cx="10515600" cy="1600200"/>
          </a:xfrm>
          <a:prstGeom prst="roundRect">
            <a:avLst>
              <a:gd name="adj" fmla="val 4571"/>
            </a:avLst>
          </a:prstGeom>
          <a:solidFill>
            <a:srgbClr val="263372"/>
          </a:solidFill>
          <a:ln/>
        </p:spPr>
        <p:txBody>
          <a:bodyPr/>
          <a:lstStyle/>
          <a:p>
            <a:endParaRPr lang="en-IN"/>
          </a:p>
        </p:txBody>
      </p:sp>
      <p:sp>
        <p:nvSpPr>
          <p:cNvPr id="13" name="Text 11"/>
          <p:cNvSpPr txBox="1"/>
          <p:nvPr/>
        </p:nvSpPr>
        <p:spPr>
          <a:xfrm>
            <a:off x="1143000" y="5138928"/>
            <a:ext cx="2926080" cy="1097280"/>
          </a:xfrm>
          <a:prstGeom prst="rect">
            <a:avLst/>
          </a:prstGeom>
          <a:noFill/>
          <a:ln/>
        </p:spPr>
        <p:txBody>
          <a:bodyPr wrap="square" lIns="0" tIns="0" rIns="0" bIns="0" rtlCol="0" anchor="t"/>
          <a:lstStyle/>
          <a:p>
            <a:pPr marL="0" indent="0">
              <a:buNone/>
            </a:pPr>
            <a:r>
              <a:rPr lang="en-US" sz="1000" b="1" kern="0" spc="100" dirty="0">
                <a:solidFill>
                  <a:srgbClr val="C9922C"/>
                </a:solidFill>
                <a:latin typeface="Calibri" pitchFamily="34" charset="0"/>
                <a:ea typeface="Calibri" pitchFamily="34" charset="-122"/>
                <a:cs typeface="Calibri" pitchFamily="34" charset="-120"/>
              </a:rPr>
              <a:t>PROFESSOR
</a:t>
            </a:r>
            <a:r>
              <a:rPr lang="en-US" sz="1500" dirty="0">
                <a:solidFill>
                  <a:srgbClr val="FFFFFF"/>
                </a:solidFill>
                <a:latin typeface="Calibri" pitchFamily="34" charset="0"/>
                <a:ea typeface="Calibri" pitchFamily="34" charset="-122"/>
                <a:cs typeface="Calibri" pitchFamily="34" charset="-120"/>
              </a:rPr>
              <a:t>Dr. Tharasi Dilleswar</a:t>
            </a:r>
            <a:endParaRPr lang="en-US" sz="1000" dirty="0"/>
          </a:p>
        </p:txBody>
      </p:sp>
      <p:sp>
        <p:nvSpPr>
          <p:cNvPr id="14" name="Text 12"/>
          <p:cNvSpPr txBox="1"/>
          <p:nvPr/>
        </p:nvSpPr>
        <p:spPr>
          <a:xfrm>
            <a:off x="4206240" y="5138928"/>
            <a:ext cx="2926080" cy="1097280"/>
          </a:xfrm>
          <a:prstGeom prst="rect">
            <a:avLst/>
          </a:prstGeom>
          <a:noFill/>
          <a:ln/>
        </p:spPr>
        <p:txBody>
          <a:bodyPr wrap="square" lIns="0" tIns="0" rIns="0" bIns="0" rtlCol="0" anchor="t"/>
          <a:lstStyle/>
          <a:p>
            <a:pPr marL="0" indent="0">
              <a:buNone/>
            </a:pPr>
            <a:r>
              <a:rPr lang="en-US" sz="1000" b="1" kern="0" spc="100" dirty="0">
                <a:solidFill>
                  <a:srgbClr val="C9922C"/>
                </a:solidFill>
                <a:latin typeface="Calibri" pitchFamily="34" charset="0"/>
                <a:ea typeface="Calibri" pitchFamily="34" charset="-122"/>
                <a:cs typeface="Calibri" pitchFamily="34" charset="-120"/>
              </a:rPr>
              <a:t>STUDENT 1
</a:t>
            </a:r>
            <a:r>
              <a:rPr lang="en-US" sz="1500" dirty="0">
                <a:solidFill>
                  <a:srgbClr val="FFFFFF"/>
                </a:solidFill>
                <a:latin typeface="Calibri" pitchFamily="34" charset="0"/>
                <a:ea typeface="Calibri" pitchFamily="34" charset="-122"/>
                <a:cs typeface="Calibri" pitchFamily="34" charset="-120"/>
              </a:rPr>
              <a:t>Shaik Sameer
</a:t>
            </a:r>
            <a:endParaRPr lang="en-US" sz="1000" dirty="0"/>
          </a:p>
          <a:p>
            <a:pPr marL="0" indent="0">
              <a:buNone/>
            </a:pPr>
            <a:r>
              <a:rPr lang="en-US" sz="1100" dirty="0">
                <a:solidFill>
                  <a:srgbClr val="CADCFC"/>
                </a:solidFill>
                <a:latin typeface="Calibri" pitchFamily="34" charset="0"/>
                <a:ea typeface="Calibri" pitchFamily="34" charset="-122"/>
                <a:cs typeface="Calibri" pitchFamily="34" charset="-120"/>
              </a:rPr>
              <a:t>Reg. No. 24BDS1154</a:t>
            </a:r>
            <a:endParaRPr lang="en-US" sz="1000" dirty="0"/>
          </a:p>
        </p:txBody>
      </p:sp>
      <p:sp>
        <p:nvSpPr>
          <p:cNvPr id="15" name="Text 13"/>
          <p:cNvSpPr txBox="1"/>
          <p:nvPr/>
        </p:nvSpPr>
        <p:spPr>
          <a:xfrm>
            <a:off x="7315200" y="5138928"/>
            <a:ext cx="2926080" cy="1097280"/>
          </a:xfrm>
          <a:prstGeom prst="rect">
            <a:avLst/>
          </a:prstGeom>
          <a:noFill/>
          <a:ln/>
        </p:spPr>
        <p:txBody>
          <a:bodyPr wrap="square" lIns="0" tIns="0" rIns="0" bIns="0" rtlCol="0" anchor="t"/>
          <a:lstStyle/>
          <a:p>
            <a:pPr marL="0" indent="0">
              <a:buNone/>
            </a:pPr>
            <a:r>
              <a:rPr lang="en-US" sz="1000" b="1" kern="0" spc="100" dirty="0">
                <a:solidFill>
                  <a:srgbClr val="C9922C"/>
                </a:solidFill>
                <a:latin typeface="Calibri" pitchFamily="34" charset="0"/>
                <a:ea typeface="Calibri" pitchFamily="34" charset="-122"/>
                <a:cs typeface="Calibri" pitchFamily="34" charset="-120"/>
              </a:rPr>
              <a:t>STUDENT 2
</a:t>
            </a:r>
            <a:r>
              <a:rPr lang="en-US" sz="1500" dirty="0">
                <a:solidFill>
                  <a:srgbClr val="FFFFFF"/>
                </a:solidFill>
                <a:latin typeface="Calibri" pitchFamily="34" charset="0"/>
                <a:ea typeface="Calibri" pitchFamily="34" charset="-122"/>
                <a:cs typeface="Calibri" pitchFamily="34" charset="-120"/>
              </a:rPr>
              <a:t>Joshita Chowdary
</a:t>
            </a:r>
            <a:endParaRPr lang="en-US" sz="1000" dirty="0"/>
          </a:p>
          <a:p>
            <a:pPr marL="0" indent="0">
              <a:buNone/>
            </a:pPr>
            <a:r>
              <a:rPr lang="en-US" sz="1100" dirty="0">
                <a:solidFill>
                  <a:srgbClr val="CADCFC"/>
                </a:solidFill>
                <a:latin typeface="Calibri" pitchFamily="34" charset="0"/>
                <a:ea typeface="Calibri" pitchFamily="34" charset="-122"/>
                <a:cs typeface="Calibri" pitchFamily="34" charset="-120"/>
              </a:rPr>
              <a:t>Reg. No. 24BRS1313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01</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Problem Statement</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sp>
        <p:nvSpPr>
          <p:cNvPr id="6" name="Text 4"/>
          <p:cNvSpPr txBox="1"/>
          <p:nvPr/>
        </p:nvSpPr>
        <p:spPr>
          <a:xfrm>
            <a:off x="548640" y="1508760"/>
            <a:ext cx="6949440" cy="2926080"/>
          </a:xfrm>
          <a:prstGeom prst="rect">
            <a:avLst/>
          </a:prstGeom>
          <a:noFill/>
          <a:ln/>
        </p:spPr>
        <p:txBody>
          <a:bodyPr wrap="square" lIns="0" tIns="0" rIns="0" bIns="0" rtlCol="0" anchor="t"/>
          <a:lstStyle/>
          <a:p>
            <a:pPr marL="0" indent="0" algn="l">
              <a:lnSpc>
                <a:spcPct val="125000"/>
              </a:lnSpc>
              <a:buNone/>
            </a:pPr>
            <a:r>
              <a:rPr lang="en-US" sz="1500" dirty="0">
                <a:solidFill>
                  <a:srgbClr val="20263D"/>
                </a:solidFill>
                <a:latin typeface="Calibri" pitchFamily="34" charset="0"/>
                <a:ea typeface="Calibri" pitchFamily="34" charset="-122"/>
                <a:cs typeface="Calibri" pitchFamily="34" charset="-120"/>
              </a:rPr>
              <a:t>Real-world datasets often contain large numbers of numerical records, and it can be difficult to identify unusual patterns by manual inspection alone. This project investigates whether statistical analysis can be used to flag numerical data that behaves differently from an expected first-digit pattern. The project uses Benford's Law as the analysis framework and applies statistical testing to determine whether the observed digit distribution differs significantly from the expected distribution.</a:t>
            </a:r>
            <a:endParaRPr lang="en-US" sz="1500" dirty="0"/>
          </a:p>
        </p:txBody>
      </p:sp>
      <p:sp>
        <p:nvSpPr>
          <p:cNvPr id="7" name="Shape 5"/>
          <p:cNvSpPr/>
          <p:nvPr/>
        </p:nvSpPr>
        <p:spPr>
          <a:xfrm>
            <a:off x="7818120" y="1508760"/>
            <a:ext cx="3822192" cy="3566160"/>
          </a:xfrm>
          <a:prstGeom prst="roundRect">
            <a:avLst>
              <a:gd name="adj" fmla="val 2051"/>
            </a:avLst>
          </a:prstGeom>
          <a:solidFill>
            <a:srgbClr val="F4F6FB"/>
          </a:solidFill>
          <a:ln w="12700">
            <a:solidFill>
              <a:srgbClr val="CADCFC"/>
            </a:solidFill>
            <a:prstDash val="solid"/>
          </a:ln>
        </p:spPr>
        <p:txBody>
          <a:bodyPr/>
          <a:lstStyle/>
          <a:p>
            <a:endParaRPr lang="en-IN"/>
          </a:p>
        </p:txBody>
      </p:sp>
      <p:sp>
        <p:nvSpPr>
          <p:cNvPr id="8" name="Shape 6"/>
          <p:cNvSpPr/>
          <p:nvPr/>
        </p:nvSpPr>
        <p:spPr>
          <a:xfrm>
            <a:off x="8138160" y="1810512"/>
            <a:ext cx="457200" cy="457200"/>
          </a:xfrm>
          <a:prstGeom prst="ellipse">
            <a:avLst/>
          </a:prstGeom>
          <a:solidFill>
            <a:srgbClr val="C9922C"/>
          </a:solidFill>
          <a:ln/>
        </p:spPr>
        <p:txBody>
          <a:bodyPr/>
          <a:lstStyle/>
          <a:p>
            <a:endParaRPr lang="en-IN"/>
          </a:p>
        </p:txBody>
      </p:sp>
      <p:sp>
        <p:nvSpPr>
          <p:cNvPr id="9" name="Text 7"/>
          <p:cNvSpPr txBox="1"/>
          <p:nvPr/>
        </p:nvSpPr>
        <p:spPr>
          <a:xfrm>
            <a:off x="8138160" y="18105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0" name="Text 8"/>
          <p:cNvSpPr txBox="1"/>
          <p:nvPr/>
        </p:nvSpPr>
        <p:spPr>
          <a:xfrm>
            <a:off x="8732520" y="1810512"/>
            <a:ext cx="2788920" cy="45720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Important Interpretation</a:t>
            </a:r>
            <a:endParaRPr lang="en-US" sz="1400" dirty="0"/>
          </a:p>
        </p:txBody>
      </p:sp>
      <p:sp>
        <p:nvSpPr>
          <p:cNvPr id="11" name="Text 9"/>
          <p:cNvSpPr txBox="1"/>
          <p:nvPr/>
        </p:nvSpPr>
        <p:spPr>
          <a:xfrm>
            <a:off x="8138160" y="2514600"/>
            <a:ext cx="3246120" cy="2377440"/>
          </a:xfrm>
          <a:prstGeom prst="rect">
            <a:avLst/>
          </a:prstGeom>
          <a:noFill/>
          <a:ln/>
        </p:spPr>
        <p:txBody>
          <a:bodyPr wrap="square" lIns="0" tIns="0" rIns="0" bIns="0" rtlCol="0" anchor="t"/>
          <a:lstStyle/>
          <a:p>
            <a:pPr marL="0" indent="0">
              <a:lnSpc>
                <a:spcPct val="125000"/>
              </a:lnSpc>
              <a:buNone/>
            </a:pPr>
            <a:r>
              <a:rPr lang="en-US" sz="1300" i="1" dirty="0">
                <a:solidFill>
                  <a:srgbClr val="20263D"/>
                </a:solidFill>
                <a:latin typeface="Calibri" pitchFamily="34" charset="0"/>
                <a:ea typeface="Calibri" pitchFamily="34" charset="-122"/>
                <a:cs typeface="Calibri" pitchFamily="34" charset="-120"/>
              </a:rPr>
              <a:t>A significant deviation from Benford's Law does not prove fraud or manipulation. It only identifies a statistically unusual pattern that may require further investigation.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02</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Abstract</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sp>
        <p:nvSpPr>
          <p:cNvPr id="6" name="Text 4"/>
          <p:cNvSpPr txBox="1"/>
          <p:nvPr/>
        </p:nvSpPr>
        <p:spPr>
          <a:xfrm>
            <a:off x="548640" y="1554480"/>
            <a:ext cx="5943600" cy="4023360"/>
          </a:xfrm>
          <a:prstGeom prst="rect">
            <a:avLst/>
          </a:prstGeom>
          <a:noFill/>
          <a:ln/>
        </p:spPr>
        <p:txBody>
          <a:bodyPr wrap="square" lIns="0" tIns="0" rIns="0" bIns="0" rtlCol="0" anchor="t"/>
          <a:lstStyle/>
          <a:p>
            <a:pPr marL="0" indent="0">
              <a:lnSpc>
                <a:spcPct val="130000"/>
              </a:lnSpc>
              <a:buNone/>
            </a:pPr>
            <a:r>
              <a:rPr lang="en-US" sz="1550" dirty="0">
                <a:solidFill>
                  <a:srgbClr val="20263D"/>
                </a:solidFill>
                <a:latin typeface="Calibri" pitchFamily="34" charset="0"/>
                <a:ea typeface="Calibri" pitchFamily="34" charset="-122"/>
                <a:cs typeface="Calibri" pitchFamily="34" charset="-120"/>
              </a:rPr>
              <a:t>The project presents an R-based statistical approach for investigating anomalies in real-world numerical datasets. After importing and cleaning the data, suitable numerical values are examined through summary statistics and visualizations. The first digit of each valid observation is extracted and its observed frequency is compared with the theoretical first-digit distribution described by Benford's Law.</a:t>
            </a:r>
            <a:endParaRPr lang="en-US" sz="1550" dirty="0"/>
          </a:p>
        </p:txBody>
      </p:sp>
      <p:sp>
        <p:nvSpPr>
          <p:cNvPr id="7" name="Shape 5"/>
          <p:cNvSpPr/>
          <p:nvPr/>
        </p:nvSpPr>
        <p:spPr>
          <a:xfrm>
            <a:off x="6903720" y="1554480"/>
            <a:ext cx="4736592" cy="4023360"/>
          </a:xfrm>
          <a:prstGeom prst="roundRect">
            <a:avLst>
              <a:gd name="adj" fmla="val 1818"/>
            </a:avLst>
          </a:prstGeom>
          <a:solidFill>
            <a:srgbClr val="1E2761"/>
          </a:solidFill>
          <a:ln/>
        </p:spPr>
        <p:txBody>
          <a:bodyPr/>
          <a:lstStyle/>
          <a:p>
            <a:endParaRPr lang="en-IN"/>
          </a:p>
        </p:txBody>
      </p:sp>
      <p:sp>
        <p:nvSpPr>
          <p:cNvPr id="8" name="Text 6"/>
          <p:cNvSpPr txBox="1"/>
          <p:nvPr/>
        </p:nvSpPr>
        <p:spPr>
          <a:xfrm>
            <a:off x="7269480" y="1810512"/>
            <a:ext cx="4023360" cy="1371600"/>
          </a:xfrm>
          <a:prstGeom prst="rect">
            <a:avLst/>
          </a:prstGeom>
          <a:noFill/>
          <a:ln/>
        </p:spPr>
        <p:txBody>
          <a:bodyPr wrap="square" lIns="0" tIns="0" rIns="0" bIns="0" rtlCol="0" anchor="t"/>
          <a:lstStyle/>
          <a:p>
            <a:pPr marL="0" indent="0">
              <a:lnSpc>
                <a:spcPct val="125000"/>
              </a:lnSpc>
              <a:buNone/>
            </a:pPr>
            <a:r>
              <a:rPr lang="en-US" sz="1400" dirty="0">
                <a:solidFill>
                  <a:srgbClr val="CADCFC"/>
                </a:solidFill>
                <a:latin typeface="Calibri" pitchFamily="34" charset="0"/>
                <a:ea typeface="Calibri" pitchFamily="34" charset="-122"/>
                <a:cs typeface="Calibri" pitchFamily="34" charset="-120"/>
              </a:rPr>
              <a:t>A Chi-square goodness-of-fit test is then used to assess whether the difference between the observed and expected frequencies is statistically significant.</a:t>
            </a:r>
            <a:endParaRPr lang="en-US" sz="1400" dirty="0"/>
          </a:p>
        </p:txBody>
      </p:sp>
      <p:sp>
        <p:nvSpPr>
          <p:cNvPr id="9" name="Shape 7"/>
          <p:cNvSpPr/>
          <p:nvPr/>
        </p:nvSpPr>
        <p:spPr>
          <a:xfrm>
            <a:off x="7269480" y="3246120"/>
            <a:ext cx="4023360" cy="0"/>
          </a:xfrm>
          <a:prstGeom prst="line">
            <a:avLst/>
          </a:prstGeom>
          <a:noFill/>
          <a:ln w="12700">
            <a:solidFill>
              <a:srgbClr val="3B4A8C"/>
            </a:solidFill>
            <a:prstDash val="solid"/>
          </a:ln>
        </p:spPr>
        <p:txBody>
          <a:bodyPr/>
          <a:lstStyle/>
          <a:p>
            <a:endParaRPr lang="en-IN"/>
          </a:p>
        </p:txBody>
      </p:sp>
      <p:sp>
        <p:nvSpPr>
          <p:cNvPr id="10" name="Text 8"/>
          <p:cNvSpPr txBox="1"/>
          <p:nvPr/>
        </p:nvSpPr>
        <p:spPr>
          <a:xfrm>
            <a:off x="7269480" y="3429000"/>
            <a:ext cx="4023360" cy="1965960"/>
          </a:xfrm>
          <a:prstGeom prst="rect">
            <a:avLst/>
          </a:prstGeom>
          <a:noFill/>
          <a:ln/>
        </p:spPr>
        <p:txBody>
          <a:bodyPr wrap="square" lIns="0" tIns="0" rIns="0" bIns="0" rtlCol="0" anchor="t"/>
          <a:lstStyle/>
          <a:p>
            <a:pPr marL="0" indent="0">
              <a:lnSpc>
                <a:spcPct val="125000"/>
              </a:lnSpc>
              <a:buNone/>
            </a:pPr>
            <a:r>
              <a:rPr lang="en-US" sz="1400" dirty="0">
                <a:solidFill>
                  <a:srgbClr val="FFFFFF"/>
                </a:solidFill>
                <a:latin typeface="Calibri" pitchFamily="34" charset="0"/>
                <a:ea typeface="Calibri" pitchFamily="34" charset="-122"/>
                <a:cs typeface="Calibri" pitchFamily="34" charset="-120"/>
              </a:rPr>
              <a:t>Datasets or subsets showing unusual behaviour are flagged for further investigation, while the final interpretation clearly distinguishes statistical evidence from proof of fraud.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03</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Project Flow</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sp>
        <p:nvSpPr>
          <p:cNvPr id="6" name="Shape 4"/>
          <p:cNvSpPr/>
          <p:nvPr/>
        </p:nvSpPr>
        <p:spPr>
          <a:xfrm>
            <a:off x="548640" y="1508760"/>
            <a:ext cx="2679192" cy="2331720"/>
          </a:xfrm>
          <a:prstGeom prst="roundRect">
            <a:avLst>
              <a:gd name="adj" fmla="val 2745"/>
            </a:avLst>
          </a:prstGeom>
          <a:solidFill>
            <a:srgbClr val="F4F6FB"/>
          </a:solidFill>
          <a:ln w="12700">
            <a:solidFill>
              <a:srgbClr val="CADCFC"/>
            </a:solidFill>
            <a:prstDash val="solid"/>
          </a:ln>
        </p:spPr>
        <p:txBody>
          <a:bodyPr/>
          <a:lstStyle/>
          <a:p>
            <a:endParaRPr lang="en-IN"/>
          </a:p>
        </p:txBody>
      </p:sp>
      <p:sp>
        <p:nvSpPr>
          <p:cNvPr id="7" name="Shape 5"/>
          <p:cNvSpPr/>
          <p:nvPr/>
        </p:nvSpPr>
        <p:spPr>
          <a:xfrm>
            <a:off x="713232" y="1673352"/>
            <a:ext cx="384048" cy="384048"/>
          </a:xfrm>
          <a:prstGeom prst="ellipse">
            <a:avLst/>
          </a:prstGeom>
          <a:solidFill>
            <a:srgbClr val="1E2761"/>
          </a:solidFill>
          <a:ln/>
        </p:spPr>
        <p:txBody>
          <a:bodyPr/>
          <a:lstStyle/>
          <a:p>
            <a:endParaRPr lang="en-IN"/>
          </a:p>
        </p:txBody>
      </p:sp>
      <p:sp>
        <p:nvSpPr>
          <p:cNvPr id="8" name="Text 6"/>
          <p:cNvSpPr txBox="1"/>
          <p:nvPr/>
        </p:nvSpPr>
        <p:spPr>
          <a:xfrm>
            <a:off x="713232" y="1673352"/>
            <a:ext cx="384048" cy="384048"/>
          </a:xfrm>
          <a:prstGeom prst="rect">
            <a:avLst/>
          </a:prstGeom>
          <a:noFill/>
          <a:ln/>
        </p:spPr>
        <p:txBody>
          <a:bodyPr wrap="square" lIns="0" tIns="0" rIns="0" bIns="0" rtlCol="0" anchor="ctr"/>
          <a:lstStyle/>
          <a:p>
            <a:pPr marL="0" indent="0" algn="ctr">
              <a:buNone/>
            </a:pPr>
            <a:r>
              <a:rPr lang="en-US" sz="1400" b="1" dirty="0">
                <a:solidFill>
                  <a:srgbClr val="C9922C"/>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713232" y="2167128"/>
            <a:ext cx="2350008" cy="594360"/>
          </a:xfrm>
          <a:prstGeom prst="rect">
            <a:avLst/>
          </a:prstGeom>
          <a:noFill/>
          <a:ln/>
        </p:spPr>
        <p:txBody>
          <a:bodyPr wrap="square" lIns="0" tIns="0" rIns="0" bIns="0" rtlCol="0" anchor="t"/>
          <a:lstStyle/>
          <a:p>
            <a:pPr marL="0" indent="0">
              <a:lnSpc>
                <a:spcPct val="105000"/>
              </a:lnSpc>
              <a:buNone/>
            </a:pPr>
            <a:r>
              <a:rPr lang="en-US" sz="1250" b="1" dirty="0">
                <a:solidFill>
                  <a:srgbClr val="1E2761"/>
                </a:solidFill>
                <a:latin typeface="Cambria" pitchFamily="34" charset="0"/>
                <a:ea typeface="Cambria" pitchFamily="34" charset="-122"/>
                <a:cs typeface="Cambria" pitchFamily="34" charset="-120"/>
              </a:rPr>
              <a:t>Dataset Selection</a:t>
            </a:r>
            <a:endParaRPr lang="en-US" sz="1250" dirty="0"/>
          </a:p>
        </p:txBody>
      </p:sp>
      <p:sp>
        <p:nvSpPr>
          <p:cNvPr id="10" name="Text 8"/>
          <p:cNvSpPr txBox="1"/>
          <p:nvPr/>
        </p:nvSpPr>
        <p:spPr>
          <a:xfrm>
            <a:off x="713232" y="2743200"/>
            <a:ext cx="2350008" cy="960120"/>
          </a:xfrm>
          <a:prstGeom prst="rect">
            <a:avLst/>
          </a:prstGeom>
          <a:noFill/>
          <a:ln/>
        </p:spPr>
        <p:txBody>
          <a:bodyPr wrap="square" lIns="0" tIns="0" rIns="0" bIns="0" rtlCol="0" anchor="t"/>
          <a:lstStyle/>
          <a:p>
            <a:pPr marL="0" indent="0">
              <a:lnSpc>
                <a:spcPct val="115000"/>
              </a:lnSpc>
              <a:buNone/>
            </a:pPr>
            <a:r>
              <a:rPr lang="en-US" sz="1050" dirty="0">
                <a:solidFill>
                  <a:srgbClr val="20263D"/>
                </a:solidFill>
                <a:latin typeface="Calibri" pitchFamily="34" charset="0"/>
                <a:ea typeface="Calibri" pitchFamily="34" charset="-122"/>
                <a:cs typeface="Calibri" pitchFamily="34" charset="-120"/>
              </a:rPr>
              <a:t>Select a real-world numerical dataset suitable for first-digit analysis.</a:t>
            </a:r>
            <a:endParaRPr lang="en-US" sz="1050" dirty="0"/>
          </a:p>
        </p:txBody>
      </p:sp>
      <p:sp>
        <p:nvSpPr>
          <p:cNvPr id="11" name="Shape 9"/>
          <p:cNvSpPr/>
          <p:nvPr/>
        </p:nvSpPr>
        <p:spPr>
          <a:xfrm>
            <a:off x="3355848" y="1508760"/>
            <a:ext cx="2679192" cy="2331720"/>
          </a:xfrm>
          <a:prstGeom prst="roundRect">
            <a:avLst>
              <a:gd name="adj" fmla="val 2745"/>
            </a:avLst>
          </a:prstGeom>
          <a:solidFill>
            <a:srgbClr val="F4F6FB"/>
          </a:solidFill>
          <a:ln w="12700">
            <a:solidFill>
              <a:srgbClr val="CADCFC"/>
            </a:solidFill>
            <a:prstDash val="solid"/>
          </a:ln>
        </p:spPr>
        <p:txBody>
          <a:bodyPr/>
          <a:lstStyle/>
          <a:p>
            <a:endParaRPr lang="en-IN"/>
          </a:p>
        </p:txBody>
      </p:sp>
      <p:sp>
        <p:nvSpPr>
          <p:cNvPr id="12" name="Shape 10"/>
          <p:cNvSpPr/>
          <p:nvPr/>
        </p:nvSpPr>
        <p:spPr>
          <a:xfrm>
            <a:off x="3520440" y="1673352"/>
            <a:ext cx="384048" cy="384048"/>
          </a:xfrm>
          <a:prstGeom prst="ellipse">
            <a:avLst/>
          </a:prstGeom>
          <a:solidFill>
            <a:srgbClr val="1E2761"/>
          </a:solidFill>
          <a:ln/>
        </p:spPr>
        <p:txBody>
          <a:bodyPr/>
          <a:lstStyle/>
          <a:p>
            <a:endParaRPr lang="en-IN"/>
          </a:p>
        </p:txBody>
      </p:sp>
      <p:sp>
        <p:nvSpPr>
          <p:cNvPr id="13" name="Text 11"/>
          <p:cNvSpPr txBox="1"/>
          <p:nvPr/>
        </p:nvSpPr>
        <p:spPr>
          <a:xfrm>
            <a:off x="3520440" y="1673352"/>
            <a:ext cx="384048" cy="384048"/>
          </a:xfrm>
          <a:prstGeom prst="rect">
            <a:avLst/>
          </a:prstGeom>
          <a:noFill/>
          <a:ln/>
        </p:spPr>
        <p:txBody>
          <a:bodyPr wrap="square" lIns="0" tIns="0" rIns="0" bIns="0" rtlCol="0" anchor="ctr"/>
          <a:lstStyle/>
          <a:p>
            <a:pPr marL="0" indent="0" algn="ctr">
              <a:buNone/>
            </a:pPr>
            <a:r>
              <a:rPr lang="en-US" sz="1400" b="1" dirty="0">
                <a:solidFill>
                  <a:srgbClr val="C9922C"/>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3520440" y="2167128"/>
            <a:ext cx="2350008" cy="594360"/>
          </a:xfrm>
          <a:prstGeom prst="rect">
            <a:avLst/>
          </a:prstGeom>
          <a:noFill/>
          <a:ln/>
        </p:spPr>
        <p:txBody>
          <a:bodyPr wrap="square" lIns="0" tIns="0" rIns="0" bIns="0" rtlCol="0" anchor="t"/>
          <a:lstStyle/>
          <a:p>
            <a:pPr marL="0" indent="0">
              <a:lnSpc>
                <a:spcPct val="105000"/>
              </a:lnSpc>
              <a:buNone/>
            </a:pPr>
            <a:r>
              <a:rPr lang="en-US" sz="1250" b="1" dirty="0">
                <a:solidFill>
                  <a:srgbClr val="1E2761"/>
                </a:solidFill>
                <a:latin typeface="Cambria" pitchFamily="34" charset="0"/>
                <a:ea typeface="Cambria" pitchFamily="34" charset="-122"/>
                <a:cs typeface="Cambria" pitchFamily="34" charset="-120"/>
              </a:rPr>
              <a:t>Data Preparation</a:t>
            </a:r>
            <a:endParaRPr lang="en-US" sz="1250" dirty="0"/>
          </a:p>
        </p:txBody>
      </p:sp>
      <p:sp>
        <p:nvSpPr>
          <p:cNvPr id="15" name="Text 13"/>
          <p:cNvSpPr txBox="1"/>
          <p:nvPr/>
        </p:nvSpPr>
        <p:spPr>
          <a:xfrm>
            <a:off x="3520440" y="2743200"/>
            <a:ext cx="2350008" cy="960120"/>
          </a:xfrm>
          <a:prstGeom prst="rect">
            <a:avLst/>
          </a:prstGeom>
          <a:noFill/>
          <a:ln/>
        </p:spPr>
        <p:txBody>
          <a:bodyPr wrap="square" lIns="0" tIns="0" rIns="0" bIns="0" rtlCol="0" anchor="t"/>
          <a:lstStyle/>
          <a:p>
            <a:pPr marL="0" indent="0">
              <a:lnSpc>
                <a:spcPct val="115000"/>
              </a:lnSpc>
              <a:buNone/>
            </a:pPr>
            <a:r>
              <a:rPr lang="en-US" sz="1050" dirty="0">
                <a:solidFill>
                  <a:srgbClr val="20263D"/>
                </a:solidFill>
                <a:latin typeface="Calibri" pitchFamily="34" charset="0"/>
                <a:ea typeface="Calibri" pitchFamily="34" charset="-122"/>
                <a:cs typeface="Calibri" pitchFamily="34" charset="-120"/>
              </a:rPr>
              <a:t>Import in R, inspect variables, remove invalid observations, prepare the numerical field.</a:t>
            </a:r>
            <a:endParaRPr lang="en-US" sz="1050" dirty="0"/>
          </a:p>
        </p:txBody>
      </p:sp>
      <p:sp>
        <p:nvSpPr>
          <p:cNvPr id="16" name="Shape 14"/>
          <p:cNvSpPr/>
          <p:nvPr/>
        </p:nvSpPr>
        <p:spPr>
          <a:xfrm>
            <a:off x="6163056" y="1508760"/>
            <a:ext cx="2679192" cy="2331720"/>
          </a:xfrm>
          <a:prstGeom prst="roundRect">
            <a:avLst>
              <a:gd name="adj" fmla="val 2745"/>
            </a:avLst>
          </a:prstGeom>
          <a:solidFill>
            <a:srgbClr val="F4F6FB"/>
          </a:solidFill>
          <a:ln w="12700">
            <a:solidFill>
              <a:srgbClr val="CADCFC"/>
            </a:solidFill>
            <a:prstDash val="solid"/>
          </a:ln>
        </p:spPr>
        <p:txBody>
          <a:bodyPr/>
          <a:lstStyle/>
          <a:p>
            <a:endParaRPr lang="en-IN"/>
          </a:p>
        </p:txBody>
      </p:sp>
      <p:sp>
        <p:nvSpPr>
          <p:cNvPr id="17" name="Shape 15"/>
          <p:cNvSpPr/>
          <p:nvPr/>
        </p:nvSpPr>
        <p:spPr>
          <a:xfrm>
            <a:off x="6327648" y="1673352"/>
            <a:ext cx="384048" cy="384048"/>
          </a:xfrm>
          <a:prstGeom prst="ellipse">
            <a:avLst/>
          </a:prstGeom>
          <a:solidFill>
            <a:srgbClr val="1E2761"/>
          </a:solidFill>
          <a:ln/>
        </p:spPr>
        <p:txBody>
          <a:bodyPr/>
          <a:lstStyle/>
          <a:p>
            <a:endParaRPr lang="en-IN"/>
          </a:p>
        </p:txBody>
      </p:sp>
      <p:sp>
        <p:nvSpPr>
          <p:cNvPr id="18" name="Text 16"/>
          <p:cNvSpPr txBox="1"/>
          <p:nvPr/>
        </p:nvSpPr>
        <p:spPr>
          <a:xfrm>
            <a:off x="6327648" y="1673352"/>
            <a:ext cx="384048" cy="384048"/>
          </a:xfrm>
          <a:prstGeom prst="rect">
            <a:avLst/>
          </a:prstGeom>
          <a:noFill/>
          <a:ln/>
        </p:spPr>
        <p:txBody>
          <a:bodyPr wrap="square" lIns="0" tIns="0" rIns="0" bIns="0" rtlCol="0" anchor="ctr"/>
          <a:lstStyle/>
          <a:p>
            <a:pPr marL="0" indent="0" algn="ctr">
              <a:buNone/>
            </a:pPr>
            <a:r>
              <a:rPr lang="en-US" sz="1400" b="1" dirty="0">
                <a:solidFill>
                  <a:srgbClr val="C9922C"/>
                </a:solidFill>
                <a:latin typeface="Cambria" pitchFamily="34" charset="0"/>
                <a:ea typeface="Cambria" pitchFamily="34" charset="-122"/>
                <a:cs typeface="Cambria" pitchFamily="34" charset="-120"/>
              </a:rPr>
              <a:t>3</a:t>
            </a:r>
            <a:endParaRPr lang="en-US" sz="1400" dirty="0"/>
          </a:p>
        </p:txBody>
      </p:sp>
      <p:sp>
        <p:nvSpPr>
          <p:cNvPr id="19" name="Text 17"/>
          <p:cNvSpPr txBox="1"/>
          <p:nvPr/>
        </p:nvSpPr>
        <p:spPr>
          <a:xfrm>
            <a:off x="6327648" y="2167128"/>
            <a:ext cx="2350008" cy="594360"/>
          </a:xfrm>
          <a:prstGeom prst="rect">
            <a:avLst/>
          </a:prstGeom>
          <a:noFill/>
          <a:ln/>
        </p:spPr>
        <p:txBody>
          <a:bodyPr wrap="square" lIns="0" tIns="0" rIns="0" bIns="0" rtlCol="0" anchor="t"/>
          <a:lstStyle/>
          <a:p>
            <a:pPr marL="0" indent="0">
              <a:lnSpc>
                <a:spcPct val="105000"/>
              </a:lnSpc>
              <a:buNone/>
            </a:pPr>
            <a:r>
              <a:rPr lang="en-US" sz="1250" b="1" dirty="0">
                <a:solidFill>
                  <a:srgbClr val="1E2761"/>
                </a:solidFill>
                <a:latin typeface="Cambria" pitchFamily="34" charset="0"/>
                <a:ea typeface="Cambria" pitchFamily="34" charset="-122"/>
                <a:cs typeface="Cambria" pitchFamily="34" charset="-120"/>
              </a:rPr>
              <a:t>Exploratory Analysis</a:t>
            </a:r>
            <a:endParaRPr lang="en-US" sz="1250" dirty="0"/>
          </a:p>
        </p:txBody>
      </p:sp>
      <p:sp>
        <p:nvSpPr>
          <p:cNvPr id="20" name="Text 18"/>
          <p:cNvSpPr txBox="1"/>
          <p:nvPr/>
        </p:nvSpPr>
        <p:spPr>
          <a:xfrm>
            <a:off x="6327648" y="2743200"/>
            <a:ext cx="2350008" cy="960120"/>
          </a:xfrm>
          <a:prstGeom prst="rect">
            <a:avLst/>
          </a:prstGeom>
          <a:noFill/>
          <a:ln/>
        </p:spPr>
        <p:txBody>
          <a:bodyPr wrap="square" lIns="0" tIns="0" rIns="0" bIns="0" rtlCol="0" anchor="t"/>
          <a:lstStyle/>
          <a:p>
            <a:pPr marL="0" indent="0">
              <a:lnSpc>
                <a:spcPct val="115000"/>
              </a:lnSpc>
              <a:buNone/>
            </a:pPr>
            <a:r>
              <a:rPr lang="en-US" sz="1050" dirty="0">
                <a:solidFill>
                  <a:srgbClr val="20263D"/>
                </a:solidFill>
                <a:latin typeface="Calibri" pitchFamily="34" charset="0"/>
                <a:ea typeface="Calibri" pitchFamily="34" charset="-122"/>
                <a:cs typeface="Calibri" pitchFamily="34" charset="-120"/>
              </a:rPr>
              <a:t>Calculate summary statistics and use appropriate graphs before testing.</a:t>
            </a:r>
            <a:endParaRPr lang="en-US" sz="1050" dirty="0"/>
          </a:p>
        </p:txBody>
      </p:sp>
      <p:sp>
        <p:nvSpPr>
          <p:cNvPr id="21" name="Shape 19"/>
          <p:cNvSpPr/>
          <p:nvPr/>
        </p:nvSpPr>
        <p:spPr>
          <a:xfrm>
            <a:off x="8970264" y="1508760"/>
            <a:ext cx="2679192" cy="2331720"/>
          </a:xfrm>
          <a:prstGeom prst="roundRect">
            <a:avLst>
              <a:gd name="adj" fmla="val 2745"/>
            </a:avLst>
          </a:prstGeom>
          <a:solidFill>
            <a:srgbClr val="F4F6FB"/>
          </a:solidFill>
          <a:ln w="12700">
            <a:solidFill>
              <a:srgbClr val="CADCFC"/>
            </a:solidFill>
            <a:prstDash val="solid"/>
          </a:ln>
        </p:spPr>
        <p:txBody>
          <a:bodyPr/>
          <a:lstStyle/>
          <a:p>
            <a:endParaRPr lang="en-IN"/>
          </a:p>
        </p:txBody>
      </p:sp>
      <p:sp>
        <p:nvSpPr>
          <p:cNvPr id="22" name="Shape 20"/>
          <p:cNvSpPr/>
          <p:nvPr/>
        </p:nvSpPr>
        <p:spPr>
          <a:xfrm>
            <a:off x="9134856" y="1673352"/>
            <a:ext cx="384048" cy="384048"/>
          </a:xfrm>
          <a:prstGeom prst="ellipse">
            <a:avLst/>
          </a:prstGeom>
          <a:solidFill>
            <a:srgbClr val="1E2761"/>
          </a:solidFill>
          <a:ln/>
        </p:spPr>
        <p:txBody>
          <a:bodyPr/>
          <a:lstStyle/>
          <a:p>
            <a:endParaRPr lang="en-IN"/>
          </a:p>
        </p:txBody>
      </p:sp>
      <p:sp>
        <p:nvSpPr>
          <p:cNvPr id="23" name="Text 21"/>
          <p:cNvSpPr txBox="1"/>
          <p:nvPr/>
        </p:nvSpPr>
        <p:spPr>
          <a:xfrm>
            <a:off x="9134856" y="1673352"/>
            <a:ext cx="384048" cy="384048"/>
          </a:xfrm>
          <a:prstGeom prst="rect">
            <a:avLst/>
          </a:prstGeom>
          <a:noFill/>
          <a:ln/>
        </p:spPr>
        <p:txBody>
          <a:bodyPr wrap="square" lIns="0" tIns="0" rIns="0" bIns="0" rtlCol="0" anchor="ctr"/>
          <a:lstStyle/>
          <a:p>
            <a:pPr marL="0" indent="0" algn="ctr">
              <a:buNone/>
            </a:pPr>
            <a:r>
              <a:rPr lang="en-US" sz="1400" b="1" dirty="0">
                <a:solidFill>
                  <a:srgbClr val="C9922C"/>
                </a:solidFill>
                <a:latin typeface="Cambria" pitchFamily="34" charset="0"/>
                <a:ea typeface="Cambria" pitchFamily="34" charset="-122"/>
                <a:cs typeface="Cambria" pitchFamily="34" charset="-120"/>
              </a:rPr>
              <a:t>4</a:t>
            </a:r>
            <a:endParaRPr lang="en-US" sz="1400" dirty="0"/>
          </a:p>
        </p:txBody>
      </p:sp>
      <p:sp>
        <p:nvSpPr>
          <p:cNvPr id="24" name="Text 22"/>
          <p:cNvSpPr txBox="1"/>
          <p:nvPr/>
        </p:nvSpPr>
        <p:spPr>
          <a:xfrm>
            <a:off x="9134856" y="2167128"/>
            <a:ext cx="2350008" cy="594360"/>
          </a:xfrm>
          <a:prstGeom prst="rect">
            <a:avLst/>
          </a:prstGeom>
          <a:noFill/>
          <a:ln/>
        </p:spPr>
        <p:txBody>
          <a:bodyPr wrap="square" lIns="0" tIns="0" rIns="0" bIns="0" rtlCol="0" anchor="t"/>
          <a:lstStyle/>
          <a:p>
            <a:pPr marL="0" indent="0">
              <a:lnSpc>
                <a:spcPct val="105000"/>
              </a:lnSpc>
              <a:buNone/>
            </a:pPr>
            <a:r>
              <a:rPr lang="en-US" sz="1250" b="1" dirty="0">
                <a:solidFill>
                  <a:srgbClr val="1E2761"/>
                </a:solidFill>
                <a:latin typeface="Cambria" pitchFamily="34" charset="0"/>
                <a:ea typeface="Cambria" pitchFamily="34" charset="-122"/>
                <a:cs typeface="Cambria" pitchFamily="34" charset="-120"/>
              </a:rPr>
              <a:t>First-Digit Extraction</a:t>
            </a:r>
            <a:endParaRPr lang="en-US" sz="1250" dirty="0"/>
          </a:p>
        </p:txBody>
      </p:sp>
      <p:sp>
        <p:nvSpPr>
          <p:cNvPr id="25" name="Text 23"/>
          <p:cNvSpPr txBox="1"/>
          <p:nvPr/>
        </p:nvSpPr>
        <p:spPr>
          <a:xfrm>
            <a:off x="9134856" y="2743200"/>
            <a:ext cx="2350008" cy="960120"/>
          </a:xfrm>
          <a:prstGeom prst="rect">
            <a:avLst/>
          </a:prstGeom>
          <a:noFill/>
          <a:ln/>
        </p:spPr>
        <p:txBody>
          <a:bodyPr wrap="square" lIns="0" tIns="0" rIns="0" bIns="0" rtlCol="0" anchor="t"/>
          <a:lstStyle/>
          <a:p>
            <a:pPr marL="0" indent="0">
              <a:lnSpc>
                <a:spcPct val="115000"/>
              </a:lnSpc>
              <a:buNone/>
            </a:pPr>
            <a:r>
              <a:rPr lang="en-US" sz="1050" dirty="0">
                <a:solidFill>
                  <a:srgbClr val="20263D"/>
                </a:solidFill>
                <a:latin typeface="Calibri" pitchFamily="34" charset="0"/>
                <a:ea typeface="Calibri" pitchFamily="34" charset="-122"/>
                <a:cs typeface="Calibri" pitchFamily="34" charset="-120"/>
              </a:rPr>
              <a:t>Extract the leading digit from each valid observation; calculate observed frequencies.</a:t>
            </a:r>
            <a:endParaRPr lang="en-US" sz="1050" dirty="0"/>
          </a:p>
        </p:txBody>
      </p:sp>
      <p:sp>
        <p:nvSpPr>
          <p:cNvPr id="26" name="Shape 24"/>
          <p:cNvSpPr/>
          <p:nvPr/>
        </p:nvSpPr>
        <p:spPr>
          <a:xfrm>
            <a:off x="548640" y="4069080"/>
            <a:ext cx="2679192" cy="2331720"/>
          </a:xfrm>
          <a:prstGeom prst="roundRect">
            <a:avLst>
              <a:gd name="adj" fmla="val 2745"/>
            </a:avLst>
          </a:prstGeom>
          <a:solidFill>
            <a:srgbClr val="FFFFFF"/>
          </a:solidFill>
          <a:ln w="12700">
            <a:solidFill>
              <a:srgbClr val="CADCFC"/>
            </a:solidFill>
            <a:prstDash val="solid"/>
          </a:ln>
        </p:spPr>
        <p:txBody>
          <a:bodyPr/>
          <a:lstStyle/>
          <a:p>
            <a:endParaRPr lang="en-IN"/>
          </a:p>
        </p:txBody>
      </p:sp>
      <p:sp>
        <p:nvSpPr>
          <p:cNvPr id="27" name="Shape 25"/>
          <p:cNvSpPr/>
          <p:nvPr/>
        </p:nvSpPr>
        <p:spPr>
          <a:xfrm>
            <a:off x="713232" y="4233672"/>
            <a:ext cx="384048" cy="384048"/>
          </a:xfrm>
          <a:prstGeom prst="ellipse">
            <a:avLst/>
          </a:prstGeom>
          <a:solidFill>
            <a:srgbClr val="1E2761"/>
          </a:solidFill>
          <a:ln/>
        </p:spPr>
        <p:txBody>
          <a:bodyPr/>
          <a:lstStyle/>
          <a:p>
            <a:endParaRPr lang="en-IN"/>
          </a:p>
        </p:txBody>
      </p:sp>
      <p:sp>
        <p:nvSpPr>
          <p:cNvPr id="28" name="Text 26"/>
          <p:cNvSpPr txBox="1"/>
          <p:nvPr/>
        </p:nvSpPr>
        <p:spPr>
          <a:xfrm>
            <a:off x="713232" y="4233672"/>
            <a:ext cx="384048" cy="384048"/>
          </a:xfrm>
          <a:prstGeom prst="rect">
            <a:avLst/>
          </a:prstGeom>
          <a:noFill/>
          <a:ln/>
        </p:spPr>
        <p:txBody>
          <a:bodyPr wrap="square" lIns="0" tIns="0" rIns="0" bIns="0" rtlCol="0" anchor="ctr"/>
          <a:lstStyle/>
          <a:p>
            <a:pPr marL="0" indent="0" algn="ctr">
              <a:buNone/>
            </a:pPr>
            <a:r>
              <a:rPr lang="en-US" sz="1400" b="1" dirty="0">
                <a:solidFill>
                  <a:srgbClr val="C9922C"/>
                </a:solidFill>
                <a:latin typeface="Cambria" pitchFamily="34" charset="0"/>
                <a:ea typeface="Cambria" pitchFamily="34" charset="-122"/>
                <a:cs typeface="Cambria" pitchFamily="34" charset="-120"/>
              </a:rPr>
              <a:t>5</a:t>
            </a:r>
            <a:endParaRPr lang="en-US" sz="1400" dirty="0"/>
          </a:p>
        </p:txBody>
      </p:sp>
      <p:sp>
        <p:nvSpPr>
          <p:cNvPr id="29" name="Text 27"/>
          <p:cNvSpPr txBox="1"/>
          <p:nvPr/>
        </p:nvSpPr>
        <p:spPr>
          <a:xfrm>
            <a:off x="713232" y="4727448"/>
            <a:ext cx="2350008" cy="594360"/>
          </a:xfrm>
          <a:prstGeom prst="rect">
            <a:avLst/>
          </a:prstGeom>
          <a:noFill/>
          <a:ln/>
        </p:spPr>
        <p:txBody>
          <a:bodyPr wrap="square" lIns="0" tIns="0" rIns="0" bIns="0" rtlCol="0" anchor="t"/>
          <a:lstStyle/>
          <a:p>
            <a:pPr marL="0" indent="0">
              <a:lnSpc>
                <a:spcPct val="105000"/>
              </a:lnSpc>
              <a:buNone/>
            </a:pPr>
            <a:r>
              <a:rPr lang="en-US" sz="1250" b="1" dirty="0">
                <a:solidFill>
                  <a:srgbClr val="1E2761"/>
                </a:solidFill>
                <a:latin typeface="Cambria" pitchFamily="34" charset="0"/>
                <a:ea typeface="Cambria" pitchFamily="34" charset="-122"/>
                <a:cs typeface="Cambria" pitchFamily="34" charset="-120"/>
              </a:rPr>
              <a:t>Benford Expected Distribution</a:t>
            </a:r>
            <a:endParaRPr lang="en-US" sz="1250" dirty="0"/>
          </a:p>
        </p:txBody>
      </p:sp>
      <p:sp>
        <p:nvSpPr>
          <p:cNvPr id="30" name="Text 28"/>
          <p:cNvSpPr txBox="1"/>
          <p:nvPr/>
        </p:nvSpPr>
        <p:spPr>
          <a:xfrm>
            <a:off x="713232" y="5303520"/>
            <a:ext cx="2350008" cy="960120"/>
          </a:xfrm>
          <a:prstGeom prst="rect">
            <a:avLst/>
          </a:prstGeom>
          <a:noFill/>
          <a:ln/>
        </p:spPr>
        <p:txBody>
          <a:bodyPr wrap="square" lIns="0" tIns="0" rIns="0" bIns="0" rtlCol="0" anchor="t"/>
          <a:lstStyle/>
          <a:p>
            <a:pPr marL="0" indent="0">
              <a:lnSpc>
                <a:spcPct val="115000"/>
              </a:lnSpc>
              <a:buNone/>
            </a:pPr>
            <a:r>
              <a:rPr lang="en-US" sz="1050" dirty="0">
                <a:solidFill>
                  <a:srgbClr val="20263D"/>
                </a:solidFill>
                <a:latin typeface="Calibri" pitchFamily="34" charset="0"/>
                <a:ea typeface="Calibri" pitchFamily="34" charset="-122"/>
                <a:cs typeface="Calibri" pitchFamily="34" charset="-120"/>
              </a:rPr>
              <a:t>Calculate the theoretical expected probability for digits 1-9.</a:t>
            </a:r>
            <a:endParaRPr lang="en-US" sz="1050" dirty="0"/>
          </a:p>
        </p:txBody>
      </p:sp>
      <p:sp>
        <p:nvSpPr>
          <p:cNvPr id="31" name="Shape 29"/>
          <p:cNvSpPr/>
          <p:nvPr/>
        </p:nvSpPr>
        <p:spPr>
          <a:xfrm>
            <a:off x="3355848" y="4069080"/>
            <a:ext cx="2679192" cy="2331720"/>
          </a:xfrm>
          <a:prstGeom prst="roundRect">
            <a:avLst>
              <a:gd name="adj" fmla="val 2745"/>
            </a:avLst>
          </a:prstGeom>
          <a:solidFill>
            <a:srgbClr val="FFFFFF"/>
          </a:solidFill>
          <a:ln w="12700">
            <a:solidFill>
              <a:srgbClr val="CADCFC"/>
            </a:solidFill>
            <a:prstDash val="solid"/>
          </a:ln>
        </p:spPr>
        <p:txBody>
          <a:bodyPr/>
          <a:lstStyle/>
          <a:p>
            <a:endParaRPr lang="en-IN"/>
          </a:p>
        </p:txBody>
      </p:sp>
      <p:sp>
        <p:nvSpPr>
          <p:cNvPr id="32" name="Shape 30"/>
          <p:cNvSpPr/>
          <p:nvPr/>
        </p:nvSpPr>
        <p:spPr>
          <a:xfrm>
            <a:off x="3520440" y="4233672"/>
            <a:ext cx="384048" cy="384048"/>
          </a:xfrm>
          <a:prstGeom prst="ellipse">
            <a:avLst/>
          </a:prstGeom>
          <a:solidFill>
            <a:srgbClr val="1E2761"/>
          </a:solidFill>
          <a:ln/>
        </p:spPr>
        <p:txBody>
          <a:bodyPr/>
          <a:lstStyle/>
          <a:p>
            <a:endParaRPr lang="en-IN"/>
          </a:p>
        </p:txBody>
      </p:sp>
      <p:sp>
        <p:nvSpPr>
          <p:cNvPr id="33" name="Text 31"/>
          <p:cNvSpPr txBox="1"/>
          <p:nvPr/>
        </p:nvSpPr>
        <p:spPr>
          <a:xfrm>
            <a:off x="3520440" y="4233672"/>
            <a:ext cx="384048" cy="384048"/>
          </a:xfrm>
          <a:prstGeom prst="rect">
            <a:avLst/>
          </a:prstGeom>
          <a:noFill/>
          <a:ln/>
        </p:spPr>
        <p:txBody>
          <a:bodyPr wrap="square" lIns="0" tIns="0" rIns="0" bIns="0" rtlCol="0" anchor="ctr"/>
          <a:lstStyle/>
          <a:p>
            <a:pPr marL="0" indent="0" algn="ctr">
              <a:buNone/>
            </a:pPr>
            <a:r>
              <a:rPr lang="en-US" sz="1400" b="1" dirty="0">
                <a:solidFill>
                  <a:srgbClr val="C9922C"/>
                </a:solidFill>
                <a:latin typeface="Cambria" pitchFamily="34" charset="0"/>
                <a:ea typeface="Cambria" pitchFamily="34" charset="-122"/>
                <a:cs typeface="Cambria" pitchFamily="34" charset="-120"/>
              </a:rPr>
              <a:t>6</a:t>
            </a:r>
            <a:endParaRPr lang="en-US" sz="1400" dirty="0"/>
          </a:p>
        </p:txBody>
      </p:sp>
      <p:sp>
        <p:nvSpPr>
          <p:cNvPr id="34" name="Text 32"/>
          <p:cNvSpPr txBox="1"/>
          <p:nvPr/>
        </p:nvSpPr>
        <p:spPr>
          <a:xfrm>
            <a:off x="3520440" y="4727448"/>
            <a:ext cx="2350008" cy="594360"/>
          </a:xfrm>
          <a:prstGeom prst="rect">
            <a:avLst/>
          </a:prstGeom>
          <a:noFill/>
          <a:ln/>
        </p:spPr>
        <p:txBody>
          <a:bodyPr wrap="square" lIns="0" tIns="0" rIns="0" bIns="0" rtlCol="0" anchor="t"/>
          <a:lstStyle/>
          <a:p>
            <a:pPr marL="0" indent="0">
              <a:lnSpc>
                <a:spcPct val="105000"/>
              </a:lnSpc>
              <a:buNone/>
            </a:pPr>
            <a:r>
              <a:rPr lang="en-US" sz="1250" b="1" dirty="0">
                <a:solidFill>
                  <a:srgbClr val="1E2761"/>
                </a:solidFill>
                <a:latin typeface="Cambria" pitchFamily="34" charset="0"/>
                <a:ea typeface="Cambria" pitchFamily="34" charset="-122"/>
                <a:cs typeface="Cambria" pitchFamily="34" charset="-120"/>
              </a:rPr>
              <a:t>Statistical Comparison</a:t>
            </a:r>
            <a:endParaRPr lang="en-US" sz="1250" dirty="0"/>
          </a:p>
        </p:txBody>
      </p:sp>
      <p:sp>
        <p:nvSpPr>
          <p:cNvPr id="35" name="Text 33"/>
          <p:cNvSpPr txBox="1"/>
          <p:nvPr/>
        </p:nvSpPr>
        <p:spPr>
          <a:xfrm>
            <a:off x="3520440" y="5303520"/>
            <a:ext cx="2350008" cy="960120"/>
          </a:xfrm>
          <a:prstGeom prst="rect">
            <a:avLst/>
          </a:prstGeom>
          <a:noFill/>
          <a:ln/>
        </p:spPr>
        <p:txBody>
          <a:bodyPr wrap="square" lIns="0" tIns="0" rIns="0" bIns="0" rtlCol="0" anchor="t"/>
          <a:lstStyle/>
          <a:p>
            <a:pPr marL="0" indent="0">
              <a:lnSpc>
                <a:spcPct val="115000"/>
              </a:lnSpc>
              <a:buNone/>
            </a:pPr>
            <a:r>
              <a:rPr lang="en-US" sz="1050" dirty="0">
                <a:solidFill>
                  <a:srgbClr val="20263D"/>
                </a:solidFill>
                <a:latin typeface="Calibri" pitchFamily="34" charset="0"/>
                <a:ea typeface="Calibri" pitchFamily="34" charset="-122"/>
                <a:cs typeface="Calibri" pitchFamily="34" charset="-120"/>
              </a:rPr>
              <a:t>Compare observed and expected frequencies using the Chi-square goodness-of-fit test.</a:t>
            </a:r>
            <a:endParaRPr lang="en-US" sz="1050" dirty="0"/>
          </a:p>
        </p:txBody>
      </p:sp>
      <p:sp>
        <p:nvSpPr>
          <p:cNvPr id="36" name="Shape 34"/>
          <p:cNvSpPr/>
          <p:nvPr/>
        </p:nvSpPr>
        <p:spPr>
          <a:xfrm>
            <a:off x="6163056" y="4069080"/>
            <a:ext cx="2679192" cy="2331720"/>
          </a:xfrm>
          <a:prstGeom prst="roundRect">
            <a:avLst>
              <a:gd name="adj" fmla="val 2745"/>
            </a:avLst>
          </a:prstGeom>
          <a:solidFill>
            <a:srgbClr val="FFFFFF"/>
          </a:solidFill>
          <a:ln w="12700">
            <a:solidFill>
              <a:srgbClr val="CADCFC"/>
            </a:solidFill>
            <a:prstDash val="solid"/>
          </a:ln>
        </p:spPr>
        <p:txBody>
          <a:bodyPr/>
          <a:lstStyle/>
          <a:p>
            <a:endParaRPr lang="en-IN"/>
          </a:p>
        </p:txBody>
      </p:sp>
      <p:sp>
        <p:nvSpPr>
          <p:cNvPr id="37" name="Shape 35"/>
          <p:cNvSpPr/>
          <p:nvPr/>
        </p:nvSpPr>
        <p:spPr>
          <a:xfrm>
            <a:off x="6327648" y="4233672"/>
            <a:ext cx="384048" cy="384048"/>
          </a:xfrm>
          <a:prstGeom prst="ellipse">
            <a:avLst/>
          </a:prstGeom>
          <a:solidFill>
            <a:srgbClr val="1E2761"/>
          </a:solidFill>
          <a:ln/>
        </p:spPr>
        <p:txBody>
          <a:bodyPr/>
          <a:lstStyle/>
          <a:p>
            <a:endParaRPr lang="en-IN"/>
          </a:p>
        </p:txBody>
      </p:sp>
      <p:sp>
        <p:nvSpPr>
          <p:cNvPr id="38" name="Text 36"/>
          <p:cNvSpPr txBox="1"/>
          <p:nvPr/>
        </p:nvSpPr>
        <p:spPr>
          <a:xfrm>
            <a:off x="6327648" y="4233672"/>
            <a:ext cx="384048" cy="384048"/>
          </a:xfrm>
          <a:prstGeom prst="rect">
            <a:avLst/>
          </a:prstGeom>
          <a:noFill/>
          <a:ln/>
        </p:spPr>
        <p:txBody>
          <a:bodyPr wrap="square" lIns="0" tIns="0" rIns="0" bIns="0" rtlCol="0" anchor="ctr"/>
          <a:lstStyle/>
          <a:p>
            <a:pPr marL="0" indent="0" algn="ctr">
              <a:buNone/>
            </a:pPr>
            <a:r>
              <a:rPr lang="en-US" sz="1400" b="1" dirty="0">
                <a:solidFill>
                  <a:srgbClr val="C9922C"/>
                </a:solidFill>
                <a:latin typeface="Cambria" pitchFamily="34" charset="0"/>
                <a:ea typeface="Cambria" pitchFamily="34" charset="-122"/>
                <a:cs typeface="Cambria" pitchFamily="34" charset="-120"/>
              </a:rPr>
              <a:t>7</a:t>
            </a:r>
            <a:endParaRPr lang="en-US" sz="1400" dirty="0"/>
          </a:p>
        </p:txBody>
      </p:sp>
      <p:sp>
        <p:nvSpPr>
          <p:cNvPr id="39" name="Text 37"/>
          <p:cNvSpPr txBox="1"/>
          <p:nvPr/>
        </p:nvSpPr>
        <p:spPr>
          <a:xfrm>
            <a:off x="6327648" y="4727448"/>
            <a:ext cx="2350008" cy="594360"/>
          </a:xfrm>
          <a:prstGeom prst="rect">
            <a:avLst/>
          </a:prstGeom>
          <a:noFill/>
          <a:ln/>
        </p:spPr>
        <p:txBody>
          <a:bodyPr wrap="square" lIns="0" tIns="0" rIns="0" bIns="0" rtlCol="0" anchor="t"/>
          <a:lstStyle/>
          <a:p>
            <a:pPr marL="0" indent="0">
              <a:lnSpc>
                <a:spcPct val="105000"/>
              </a:lnSpc>
              <a:buNone/>
            </a:pPr>
            <a:r>
              <a:rPr lang="en-US" sz="1250" b="1" dirty="0">
                <a:solidFill>
                  <a:srgbClr val="1E2761"/>
                </a:solidFill>
                <a:latin typeface="Cambria" pitchFamily="34" charset="0"/>
                <a:ea typeface="Cambria" pitchFamily="34" charset="-122"/>
                <a:cs typeface="Cambria" pitchFamily="34" charset="-120"/>
              </a:rPr>
              <a:t>Anomaly Flagging</a:t>
            </a:r>
            <a:endParaRPr lang="en-US" sz="1250" dirty="0"/>
          </a:p>
        </p:txBody>
      </p:sp>
      <p:sp>
        <p:nvSpPr>
          <p:cNvPr id="40" name="Text 38"/>
          <p:cNvSpPr txBox="1"/>
          <p:nvPr/>
        </p:nvSpPr>
        <p:spPr>
          <a:xfrm>
            <a:off x="6327648" y="5303520"/>
            <a:ext cx="2350008" cy="960120"/>
          </a:xfrm>
          <a:prstGeom prst="rect">
            <a:avLst/>
          </a:prstGeom>
          <a:noFill/>
          <a:ln/>
        </p:spPr>
        <p:txBody>
          <a:bodyPr wrap="square" lIns="0" tIns="0" rIns="0" bIns="0" rtlCol="0" anchor="t"/>
          <a:lstStyle/>
          <a:p>
            <a:pPr marL="0" indent="0">
              <a:lnSpc>
                <a:spcPct val="115000"/>
              </a:lnSpc>
              <a:buNone/>
            </a:pPr>
            <a:r>
              <a:rPr lang="en-US" sz="1050" dirty="0">
                <a:solidFill>
                  <a:srgbClr val="20263D"/>
                </a:solidFill>
                <a:latin typeface="Calibri" pitchFamily="34" charset="0"/>
                <a:ea typeface="Calibri" pitchFamily="34" charset="-122"/>
                <a:cs typeface="Calibri" pitchFamily="34" charset="-120"/>
              </a:rPr>
              <a:t>Identify datasets or subsets with statistically significant deviations.</a:t>
            </a:r>
            <a:endParaRPr lang="en-US" sz="1050" dirty="0"/>
          </a:p>
        </p:txBody>
      </p:sp>
      <p:sp>
        <p:nvSpPr>
          <p:cNvPr id="41" name="Shape 39"/>
          <p:cNvSpPr/>
          <p:nvPr/>
        </p:nvSpPr>
        <p:spPr>
          <a:xfrm>
            <a:off x="8970264" y="4069080"/>
            <a:ext cx="2679192" cy="2331720"/>
          </a:xfrm>
          <a:prstGeom prst="roundRect">
            <a:avLst>
              <a:gd name="adj" fmla="val 2745"/>
            </a:avLst>
          </a:prstGeom>
          <a:solidFill>
            <a:srgbClr val="FFFFFF"/>
          </a:solidFill>
          <a:ln w="12700">
            <a:solidFill>
              <a:srgbClr val="CADCFC"/>
            </a:solidFill>
            <a:prstDash val="solid"/>
          </a:ln>
        </p:spPr>
        <p:txBody>
          <a:bodyPr/>
          <a:lstStyle/>
          <a:p>
            <a:endParaRPr lang="en-IN"/>
          </a:p>
        </p:txBody>
      </p:sp>
      <p:sp>
        <p:nvSpPr>
          <p:cNvPr id="42" name="Shape 40"/>
          <p:cNvSpPr/>
          <p:nvPr/>
        </p:nvSpPr>
        <p:spPr>
          <a:xfrm>
            <a:off x="9134856" y="4233672"/>
            <a:ext cx="384048" cy="384048"/>
          </a:xfrm>
          <a:prstGeom prst="ellipse">
            <a:avLst/>
          </a:prstGeom>
          <a:solidFill>
            <a:srgbClr val="1E2761"/>
          </a:solidFill>
          <a:ln/>
        </p:spPr>
        <p:txBody>
          <a:bodyPr/>
          <a:lstStyle/>
          <a:p>
            <a:endParaRPr lang="en-IN"/>
          </a:p>
        </p:txBody>
      </p:sp>
      <p:sp>
        <p:nvSpPr>
          <p:cNvPr id="43" name="Text 41"/>
          <p:cNvSpPr txBox="1"/>
          <p:nvPr/>
        </p:nvSpPr>
        <p:spPr>
          <a:xfrm>
            <a:off x="9134856" y="4233672"/>
            <a:ext cx="384048" cy="384048"/>
          </a:xfrm>
          <a:prstGeom prst="rect">
            <a:avLst/>
          </a:prstGeom>
          <a:noFill/>
          <a:ln/>
        </p:spPr>
        <p:txBody>
          <a:bodyPr wrap="square" lIns="0" tIns="0" rIns="0" bIns="0" rtlCol="0" anchor="ctr"/>
          <a:lstStyle/>
          <a:p>
            <a:pPr marL="0" indent="0" algn="ctr">
              <a:buNone/>
            </a:pPr>
            <a:r>
              <a:rPr lang="en-US" sz="1400" b="1" dirty="0">
                <a:solidFill>
                  <a:srgbClr val="C9922C"/>
                </a:solidFill>
                <a:latin typeface="Cambria" pitchFamily="34" charset="0"/>
                <a:ea typeface="Cambria" pitchFamily="34" charset="-122"/>
                <a:cs typeface="Cambria" pitchFamily="34" charset="-120"/>
              </a:rPr>
              <a:t>8</a:t>
            </a:r>
            <a:endParaRPr lang="en-US" sz="1400" dirty="0"/>
          </a:p>
        </p:txBody>
      </p:sp>
      <p:sp>
        <p:nvSpPr>
          <p:cNvPr id="44" name="Text 42"/>
          <p:cNvSpPr txBox="1"/>
          <p:nvPr/>
        </p:nvSpPr>
        <p:spPr>
          <a:xfrm>
            <a:off x="9134856" y="4727448"/>
            <a:ext cx="2350008" cy="594360"/>
          </a:xfrm>
          <a:prstGeom prst="rect">
            <a:avLst/>
          </a:prstGeom>
          <a:noFill/>
          <a:ln/>
        </p:spPr>
        <p:txBody>
          <a:bodyPr wrap="square" lIns="0" tIns="0" rIns="0" bIns="0" rtlCol="0" anchor="t"/>
          <a:lstStyle/>
          <a:p>
            <a:pPr marL="0" indent="0">
              <a:lnSpc>
                <a:spcPct val="105000"/>
              </a:lnSpc>
              <a:buNone/>
            </a:pPr>
            <a:r>
              <a:rPr lang="en-US" sz="1250" b="1" dirty="0">
                <a:solidFill>
                  <a:srgbClr val="1E2761"/>
                </a:solidFill>
                <a:latin typeface="Cambria" pitchFamily="34" charset="0"/>
                <a:ea typeface="Cambria" pitchFamily="34" charset="-122"/>
                <a:cs typeface="Cambria" pitchFamily="34" charset="-120"/>
              </a:rPr>
              <a:t>Interpretation</a:t>
            </a:r>
            <a:endParaRPr lang="en-US" sz="1250" dirty="0"/>
          </a:p>
        </p:txBody>
      </p:sp>
      <p:sp>
        <p:nvSpPr>
          <p:cNvPr id="45" name="Text 43"/>
          <p:cNvSpPr txBox="1"/>
          <p:nvPr/>
        </p:nvSpPr>
        <p:spPr>
          <a:xfrm>
            <a:off x="9134856" y="5303520"/>
            <a:ext cx="2350008" cy="960120"/>
          </a:xfrm>
          <a:prstGeom prst="rect">
            <a:avLst/>
          </a:prstGeom>
          <a:noFill/>
          <a:ln/>
        </p:spPr>
        <p:txBody>
          <a:bodyPr wrap="square" lIns="0" tIns="0" rIns="0" bIns="0" rtlCol="0" anchor="t"/>
          <a:lstStyle/>
          <a:p>
            <a:pPr marL="0" indent="0">
              <a:lnSpc>
                <a:spcPct val="115000"/>
              </a:lnSpc>
              <a:buNone/>
            </a:pPr>
            <a:r>
              <a:rPr lang="en-US" sz="1050" dirty="0">
                <a:solidFill>
                  <a:srgbClr val="20263D"/>
                </a:solidFill>
                <a:latin typeface="Calibri" pitchFamily="34" charset="0"/>
                <a:ea typeface="Calibri" pitchFamily="34" charset="-122"/>
                <a:cs typeface="Calibri" pitchFamily="34" charset="-120"/>
              </a:rPr>
              <a:t>Investigate explanations; report findings without treating deviation as proof of fraud.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04</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Benford's Law — Core Idea</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sp>
        <p:nvSpPr>
          <p:cNvPr id="6" name="Text 4"/>
          <p:cNvSpPr txBox="1"/>
          <p:nvPr/>
        </p:nvSpPr>
        <p:spPr>
          <a:xfrm>
            <a:off x="548640" y="1554480"/>
            <a:ext cx="5577840" cy="2743200"/>
          </a:xfrm>
          <a:prstGeom prst="rect">
            <a:avLst/>
          </a:prstGeom>
          <a:noFill/>
          <a:ln/>
        </p:spPr>
        <p:txBody>
          <a:bodyPr wrap="square" lIns="0" tIns="0" rIns="0" bIns="0" rtlCol="0" anchor="t"/>
          <a:lstStyle/>
          <a:p>
            <a:pPr marL="0" indent="0">
              <a:lnSpc>
                <a:spcPct val="130000"/>
              </a:lnSpc>
              <a:buNone/>
            </a:pPr>
            <a:r>
              <a:rPr lang="en-US" sz="1500" dirty="0">
                <a:solidFill>
                  <a:srgbClr val="20263D"/>
                </a:solidFill>
                <a:latin typeface="Calibri" pitchFamily="34" charset="0"/>
                <a:ea typeface="Calibri" pitchFamily="34" charset="-122"/>
                <a:cs typeface="Calibri" pitchFamily="34" charset="-120"/>
              </a:rPr>
              <a:t>Benford's Law describes an unequal distribution of first digits in many naturally occurring numerical datasets. The digits 1-9 are therefore not expected to appear equally often as the leading digit. Under the standard first-digit model, digit 1 has the highest expected probability and digit 9 has the lowest.</a:t>
            </a:r>
            <a:endParaRPr lang="en-US" sz="1500" dirty="0"/>
          </a:p>
        </p:txBody>
      </p:sp>
      <p:sp>
        <p:nvSpPr>
          <p:cNvPr id="7" name="Text 5"/>
          <p:cNvSpPr txBox="1"/>
          <p:nvPr/>
        </p:nvSpPr>
        <p:spPr>
          <a:xfrm>
            <a:off x="548640" y="4160520"/>
            <a:ext cx="5577840" cy="1828800"/>
          </a:xfrm>
          <a:prstGeom prst="rect">
            <a:avLst/>
          </a:prstGeom>
          <a:noFill/>
          <a:ln/>
        </p:spPr>
        <p:txBody>
          <a:bodyPr wrap="square" lIns="0" tIns="0" rIns="0" bIns="0" rtlCol="0" anchor="t"/>
          <a:lstStyle/>
          <a:p>
            <a:pPr marL="0" indent="0">
              <a:lnSpc>
                <a:spcPct val="125000"/>
              </a:lnSpc>
              <a:buNone/>
            </a:pPr>
            <a:r>
              <a:rPr lang="en-US" sz="1350" i="1" dirty="0">
                <a:solidFill>
                  <a:srgbClr val="5B6C93"/>
                </a:solidFill>
                <a:latin typeface="Calibri" pitchFamily="34" charset="0"/>
                <a:ea typeface="Calibri" pitchFamily="34" charset="-122"/>
                <a:cs typeface="Calibri" pitchFamily="34" charset="-120"/>
              </a:rPr>
              <a:t>These are theoretical probabilities, not values estimated from our dataset. For a dataset containing N valid observations, the expected count for a digit is obtained by multiplying N by that digit's Benford probability.</a:t>
            </a:r>
            <a:endParaRPr lang="en-US" sz="1350" dirty="0"/>
          </a:p>
        </p:txBody>
      </p:sp>
      <p:sp>
        <p:nvSpPr>
          <p:cNvPr id="8" name="Shape 6"/>
          <p:cNvSpPr/>
          <p:nvPr/>
        </p:nvSpPr>
        <p:spPr>
          <a:xfrm>
            <a:off x="6446520" y="1600200"/>
            <a:ext cx="5193792" cy="1920240"/>
          </a:xfrm>
          <a:prstGeom prst="roundRect">
            <a:avLst>
              <a:gd name="adj" fmla="val 3810"/>
            </a:avLst>
          </a:prstGeom>
          <a:solidFill>
            <a:srgbClr val="1E2761"/>
          </a:solidFill>
          <a:ln/>
        </p:spPr>
        <p:txBody>
          <a:bodyPr/>
          <a:lstStyle/>
          <a:p>
            <a:endParaRPr lang="en-IN"/>
          </a:p>
        </p:txBody>
      </p:sp>
      <p:sp>
        <p:nvSpPr>
          <p:cNvPr id="9" name="Text 7"/>
          <p:cNvSpPr txBox="1"/>
          <p:nvPr/>
        </p:nvSpPr>
        <p:spPr>
          <a:xfrm>
            <a:off x="6766560" y="1783080"/>
            <a:ext cx="4572000" cy="320040"/>
          </a:xfrm>
          <a:prstGeom prst="rect">
            <a:avLst/>
          </a:prstGeom>
          <a:noFill/>
          <a:ln/>
        </p:spPr>
        <p:txBody>
          <a:bodyPr wrap="square" lIns="0" tIns="0" rIns="0" bIns="0" rtlCol="0" anchor="ctr"/>
          <a:lstStyle/>
          <a:p>
            <a:pPr marL="0" indent="0">
              <a:buNone/>
            </a:pPr>
            <a:r>
              <a:rPr lang="en-US" sz="1100" b="1" kern="0" spc="100" dirty="0">
                <a:solidFill>
                  <a:srgbClr val="C9922C"/>
                </a:solidFill>
                <a:latin typeface="Calibri" pitchFamily="34" charset="0"/>
                <a:ea typeface="Calibri" pitchFamily="34" charset="-122"/>
                <a:cs typeface="Calibri" pitchFamily="34" charset="-120"/>
              </a:rPr>
              <a:t>BENFORD'S LAW FORMULA</a:t>
            </a:r>
            <a:endParaRPr lang="en-US" sz="1100" dirty="0"/>
          </a:p>
        </p:txBody>
      </p:sp>
      <p:sp>
        <p:nvSpPr>
          <p:cNvPr id="10" name="Text 8"/>
          <p:cNvSpPr txBox="1"/>
          <p:nvPr/>
        </p:nvSpPr>
        <p:spPr>
          <a:xfrm>
            <a:off x="6766560" y="2148840"/>
            <a:ext cx="45720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P(d) = log₁₀(1 + 1/d)</a:t>
            </a:r>
            <a:endParaRPr lang="en-US" sz="3000" dirty="0"/>
          </a:p>
        </p:txBody>
      </p:sp>
      <p:sp>
        <p:nvSpPr>
          <p:cNvPr id="11" name="Text 9"/>
          <p:cNvSpPr txBox="1"/>
          <p:nvPr/>
        </p:nvSpPr>
        <p:spPr>
          <a:xfrm>
            <a:off x="6766560" y="2880360"/>
            <a:ext cx="4572000" cy="36576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where d = 1, 2, …, 9</a:t>
            </a:r>
            <a:endParaRPr lang="en-US" sz="1300" dirty="0"/>
          </a:p>
        </p:txBody>
      </p:sp>
      <p:sp>
        <p:nvSpPr>
          <p:cNvPr id="12" name="Shape 10"/>
          <p:cNvSpPr/>
          <p:nvPr/>
        </p:nvSpPr>
        <p:spPr>
          <a:xfrm>
            <a:off x="6446520" y="3749040"/>
            <a:ext cx="2514600" cy="1417320"/>
          </a:xfrm>
          <a:prstGeom prst="roundRect">
            <a:avLst>
              <a:gd name="adj" fmla="val 5161"/>
            </a:avLst>
          </a:prstGeom>
          <a:solidFill>
            <a:srgbClr val="F4F6FB"/>
          </a:solidFill>
          <a:ln w="12700">
            <a:solidFill>
              <a:srgbClr val="CADCFC"/>
            </a:solidFill>
            <a:prstDash val="solid"/>
          </a:ln>
        </p:spPr>
        <p:txBody>
          <a:bodyPr/>
          <a:lstStyle/>
          <a:p>
            <a:endParaRPr lang="en-IN"/>
          </a:p>
        </p:txBody>
      </p:sp>
      <p:sp>
        <p:nvSpPr>
          <p:cNvPr id="13" name="Text 11"/>
          <p:cNvSpPr txBox="1"/>
          <p:nvPr/>
        </p:nvSpPr>
        <p:spPr>
          <a:xfrm>
            <a:off x="6446520" y="3886200"/>
            <a:ext cx="2514600" cy="640080"/>
          </a:xfrm>
          <a:prstGeom prst="rect">
            <a:avLst/>
          </a:prstGeom>
          <a:noFill/>
          <a:ln/>
        </p:spPr>
        <p:txBody>
          <a:bodyPr wrap="square" lIns="0" tIns="0" rIns="0" bIns="0" rtlCol="0" anchor="ctr"/>
          <a:lstStyle/>
          <a:p>
            <a:pPr marL="0" indent="0" algn="ctr">
              <a:buNone/>
            </a:pPr>
            <a:r>
              <a:rPr lang="en-US" sz="2600" b="1" dirty="0">
                <a:solidFill>
                  <a:srgbClr val="1E2761"/>
                </a:solidFill>
                <a:latin typeface="Cambria" pitchFamily="34" charset="0"/>
                <a:ea typeface="Cambria" pitchFamily="34" charset="-122"/>
                <a:cs typeface="Cambria" pitchFamily="34" charset="-120"/>
              </a:rPr>
              <a:t>~30.1%</a:t>
            </a:r>
            <a:endParaRPr lang="en-US" sz="2600" dirty="0"/>
          </a:p>
        </p:txBody>
      </p:sp>
      <p:sp>
        <p:nvSpPr>
          <p:cNvPr id="14" name="Text 12"/>
          <p:cNvSpPr txBox="1"/>
          <p:nvPr/>
        </p:nvSpPr>
        <p:spPr>
          <a:xfrm>
            <a:off x="6446520" y="4480560"/>
            <a:ext cx="2514600" cy="640080"/>
          </a:xfrm>
          <a:prstGeom prst="rect">
            <a:avLst/>
          </a:prstGeom>
          <a:noFill/>
          <a:ln/>
        </p:spPr>
        <p:txBody>
          <a:bodyPr wrap="square" lIns="0" tIns="0" rIns="0" bIns="0" rtlCol="0" anchor="ctr"/>
          <a:lstStyle/>
          <a:p>
            <a:pPr marL="0" indent="0" algn="ctr">
              <a:lnSpc>
                <a:spcPct val="110000"/>
              </a:lnSpc>
              <a:buNone/>
            </a:pPr>
            <a:r>
              <a:rPr lang="en-US" sz="1100" dirty="0">
                <a:solidFill>
                  <a:srgbClr val="5B6C93"/>
                </a:solidFill>
                <a:latin typeface="Calibri" pitchFamily="34" charset="0"/>
                <a:ea typeface="Calibri" pitchFamily="34" charset="-122"/>
                <a:cs typeface="Calibri" pitchFamily="34" charset="-120"/>
              </a:rPr>
              <a:t>Digit 1 — highest</a:t>
            </a:r>
            <a:endParaRPr lang="en-US" sz="1100" dirty="0"/>
          </a:p>
          <a:p>
            <a:pPr marL="0" indent="0" algn="ctr">
              <a:lnSpc>
                <a:spcPct val="110000"/>
              </a:lnSpc>
              <a:buNone/>
            </a:pPr>
            <a:r>
              <a:rPr lang="en-US" sz="1100" dirty="0">
                <a:solidFill>
                  <a:srgbClr val="5B6C93"/>
                </a:solidFill>
                <a:latin typeface="Calibri" pitchFamily="34" charset="0"/>
                <a:ea typeface="Calibri" pitchFamily="34" charset="-122"/>
                <a:cs typeface="Calibri" pitchFamily="34" charset="-120"/>
              </a:rPr>
              <a:t>expected probability</a:t>
            </a:r>
            <a:endParaRPr lang="en-US" sz="1100" dirty="0"/>
          </a:p>
        </p:txBody>
      </p:sp>
      <p:sp>
        <p:nvSpPr>
          <p:cNvPr id="15" name="Shape 13"/>
          <p:cNvSpPr/>
          <p:nvPr/>
        </p:nvSpPr>
        <p:spPr>
          <a:xfrm>
            <a:off x="9125712" y="3749040"/>
            <a:ext cx="2514600" cy="1417320"/>
          </a:xfrm>
          <a:prstGeom prst="roundRect">
            <a:avLst>
              <a:gd name="adj" fmla="val 5161"/>
            </a:avLst>
          </a:prstGeom>
          <a:solidFill>
            <a:srgbClr val="F4F6FB"/>
          </a:solidFill>
          <a:ln w="12700">
            <a:solidFill>
              <a:srgbClr val="CADCFC"/>
            </a:solidFill>
            <a:prstDash val="solid"/>
          </a:ln>
        </p:spPr>
        <p:txBody>
          <a:bodyPr/>
          <a:lstStyle/>
          <a:p>
            <a:endParaRPr lang="en-IN"/>
          </a:p>
        </p:txBody>
      </p:sp>
      <p:sp>
        <p:nvSpPr>
          <p:cNvPr id="16" name="Text 14"/>
          <p:cNvSpPr txBox="1"/>
          <p:nvPr/>
        </p:nvSpPr>
        <p:spPr>
          <a:xfrm>
            <a:off x="9125712" y="3886200"/>
            <a:ext cx="2514600" cy="640080"/>
          </a:xfrm>
          <a:prstGeom prst="rect">
            <a:avLst/>
          </a:prstGeom>
          <a:noFill/>
          <a:ln/>
        </p:spPr>
        <p:txBody>
          <a:bodyPr wrap="square" lIns="0" tIns="0" rIns="0" bIns="0" rtlCol="0" anchor="ctr"/>
          <a:lstStyle/>
          <a:p>
            <a:pPr marL="0" indent="0" algn="ctr">
              <a:buNone/>
            </a:pPr>
            <a:r>
              <a:rPr lang="en-US" sz="2600" b="1" dirty="0">
                <a:solidFill>
                  <a:srgbClr val="1E2761"/>
                </a:solidFill>
                <a:latin typeface="Cambria" pitchFamily="34" charset="0"/>
                <a:ea typeface="Cambria" pitchFamily="34" charset="-122"/>
                <a:cs typeface="Cambria" pitchFamily="34" charset="-120"/>
              </a:rPr>
              <a:t>~4.6%</a:t>
            </a:r>
            <a:endParaRPr lang="en-US" sz="2600" dirty="0"/>
          </a:p>
        </p:txBody>
      </p:sp>
      <p:sp>
        <p:nvSpPr>
          <p:cNvPr id="17" name="Text 15"/>
          <p:cNvSpPr txBox="1"/>
          <p:nvPr/>
        </p:nvSpPr>
        <p:spPr>
          <a:xfrm>
            <a:off x="9125712" y="4480560"/>
            <a:ext cx="2514600" cy="640080"/>
          </a:xfrm>
          <a:prstGeom prst="rect">
            <a:avLst/>
          </a:prstGeom>
          <a:noFill/>
          <a:ln/>
        </p:spPr>
        <p:txBody>
          <a:bodyPr wrap="square" lIns="0" tIns="0" rIns="0" bIns="0" rtlCol="0" anchor="ctr"/>
          <a:lstStyle/>
          <a:p>
            <a:pPr marL="0" indent="0" algn="ctr">
              <a:lnSpc>
                <a:spcPct val="110000"/>
              </a:lnSpc>
              <a:buNone/>
            </a:pPr>
            <a:r>
              <a:rPr lang="en-US" sz="1100" dirty="0">
                <a:solidFill>
                  <a:srgbClr val="5B6C93"/>
                </a:solidFill>
                <a:latin typeface="Calibri" pitchFamily="34" charset="0"/>
                <a:ea typeface="Calibri" pitchFamily="34" charset="-122"/>
                <a:cs typeface="Calibri" pitchFamily="34" charset="-120"/>
              </a:rPr>
              <a:t>Digit 9 — lowest</a:t>
            </a:r>
            <a:endParaRPr lang="en-US" sz="1100" dirty="0"/>
          </a:p>
          <a:p>
            <a:pPr marL="0" indent="0" algn="ctr">
              <a:lnSpc>
                <a:spcPct val="110000"/>
              </a:lnSpc>
              <a:buNone/>
            </a:pPr>
            <a:r>
              <a:rPr lang="en-US" sz="1100" dirty="0">
                <a:solidFill>
                  <a:srgbClr val="5B6C93"/>
                </a:solidFill>
                <a:latin typeface="Calibri" pitchFamily="34" charset="0"/>
                <a:ea typeface="Calibri" pitchFamily="34" charset="-122"/>
                <a:cs typeface="Calibri" pitchFamily="34" charset="-120"/>
              </a:rPr>
              <a:t>expected probability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04</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Expected First-Digit Probabilities</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graphicFrame>
        <p:nvGraphicFramePr>
          <p:cNvPr id="6" name="Chart 0"/>
          <p:cNvGraphicFramePr/>
          <p:nvPr/>
        </p:nvGraphicFramePr>
        <p:xfrm>
          <a:off x="502920" y="1417320"/>
          <a:ext cx="74066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138160" y="1417320"/>
            <a:ext cx="3502152" cy="3977640"/>
          </a:xfrm>
          <a:prstGeom prst="roundRect">
            <a:avLst>
              <a:gd name="adj" fmla="val 2089"/>
            </a:avLst>
          </a:prstGeom>
          <a:solidFill>
            <a:srgbClr val="F4F6FB"/>
          </a:solidFill>
          <a:ln w="12700">
            <a:solidFill>
              <a:srgbClr val="CADCFC"/>
            </a:solidFill>
            <a:prstDash val="solid"/>
          </a:ln>
        </p:spPr>
        <p:txBody>
          <a:bodyPr/>
          <a:lstStyle/>
          <a:p>
            <a:endParaRPr lang="en-IN"/>
          </a:p>
        </p:txBody>
      </p:sp>
      <p:sp>
        <p:nvSpPr>
          <p:cNvPr id="8" name="Text 5"/>
          <p:cNvSpPr txBox="1"/>
          <p:nvPr/>
        </p:nvSpPr>
        <p:spPr>
          <a:xfrm>
            <a:off x="8412480" y="1645920"/>
            <a:ext cx="2926080" cy="320040"/>
          </a:xfrm>
          <a:prstGeom prst="rect">
            <a:avLst/>
          </a:prstGeom>
          <a:noFill/>
          <a:ln/>
        </p:spPr>
        <p:txBody>
          <a:bodyPr wrap="square" lIns="0" tIns="0" rIns="0" bIns="0" rtlCol="0" anchor="ctr"/>
          <a:lstStyle/>
          <a:p>
            <a:pPr marL="0" indent="0">
              <a:buNone/>
            </a:pPr>
            <a:r>
              <a:rPr lang="en-US" sz="1100" b="1" kern="0" spc="100" dirty="0">
                <a:solidFill>
                  <a:srgbClr val="C9922C"/>
                </a:solidFill>
                <a:latin typeface="Calibri" pitchFamily="34" charset="0"/>
                <a:ea typeface="Calibri" pitchFamily="34" charset="-122"/>
                <a:cs typeface="Calibri" pitchFamily="34" charset="-120"/>
              </a:rPr>
              <a:t>EXAMPLE</a:t>
            </a:r>
            <a:endParaRPr lang="en-US" sz="1100" dirty="0"/>
          </a:p>
        </p:txBody>
      </p:sp>
      <p:sp>
        <p:nvSpPr>
          <p:cNvPr id="9" name="Text 6"/>
          <p:cNvSpPr txBox="1"/>
          <p:nvPr/>
        </p:nvSpPr>
        <p:spPr>
          <a:xfrm>
            <a:off x="8412480" y="2011680"/>
            <a:ext cx="2926080" cy="1188720"/>
          </a:xfrm>
          <a:prstGeom prst="rect">
            <a:avLst/>
          </a:prstGeom>
          <a:noFill/>
          <a:ln/>
        </p:spPr>
        <p:txBody>
          <a:bodyPr wrap="square" lIns="0" tIns="0" rIns="0" bIns="0" rtlCol="0" anchor="t"/>
          <a:lstStyle/>
          <a:p>
            <a:pPr marL="0" indent="0">
              <a:lnSpc>
                <a:spcPct val="125000"/>
              </a:lnSpc>
              <a:buNone/>
            </a:pPr>
            <a:r>
              <a:rPr lang="en-US" sz="1300" dirty="0">
                <a:solidFill>
                  <a:srgbClr val="20263D"/>
                </a:solidFill>
                <a:latin typeface="Calibri" pitchFamily="34" charset="0"/>
                <a:ea typeface="Calibri" pitchFamily="34" charset="-122"/>
                <a:cs typeface="Calibri" pitchFamily="34" charset="-120"/>
              </a:rPr>
              <a:t>If there are 10,000 valid observations, the expected number beginning with digit 1 is approximately:</a:t>
            </a:r>
            <a:endParaRPr lang="en-US" sz="1300" dirty="0"/>
          </a:p>
        </p:txBody>
      </p:sp>
      <p:sp>
        <p:nvSpPr>
          <p:cNvPr id="10" name="Text 7"/>
          <p:cNvSpPr txBox="1"/>
          <p:nvPr/>
        </p:nvSpPr>
        <p:spPr>
          <a:xfrm>
            <a:off x="8412480" y="3246120"/>
            <a:ext cx="2926080" cy="914400"/>
          </a:xfrm>
          <a:prstGeom prst="rect">
            <a:avLst/>
          </a:prstGeom>
          <a:noFill/>
          <a:ln/>
        </p:spPr>
        <p:txBody>
          <a:bodyPr wrap="square" lIns="0" tIns="0" rIns="0" bIns="0" rtlCol="0" anchor="ctr"/>
          <a:lstStyle/>
          <a:p>
            <a:pPr marL="0" indent="0">
              <a:lnSpc>
                <a:spcPct val="115000"/>
              </a:lnSpc>
              <a:buNone/>
            </a:pPr>
            <a:r>
              <a:rPr lang="en-US" sz="2000" b="1" dirty="0">
                <a:solidFill>
                  <a:srgbClr val="1E2761"/>
                </a:solidFill>
                <a:latin typeface="Cambria" pitchFamily="34" charset="0"/>
                <a:ea typeface="Cambria" pitchFamily="34" charset="-122"/>
                <a:cs typeface="Cambria" pitchFamily="34" charset="-120"/>
              </a:rPr>
              <a:t>10,000 × 0.3010</a:t>
            </a:r>
            <a:endParaRPr lang="en-US" sz="2000" dirty="0"/>
          </a:p>
          <a:p>
            <a:pPr marL="0" indent="0">
              <a:lnSpc>
                <a:spcPct val="115000"/>
              </a:lnSpc>
              <a:buNone/>
            </a:pPr>
            <a:r>
              <a:rPr lang="en-US" sz="2000" b="1" dirty="0">
                <a:solidFill>
                  <a:srgbClr val="1E2761"/>
                </a:solidFill>
                <a:latin typeface="Cambria" pitchFamily="34" charset="0"/>
                <a:ea typeface="Cambria" pitchFamily="34" charset="-122"/>
                <a:cs typeface="Cambria" pitchFamily="34" charset="-120"/>
              </a:rPr>
              <a:t>= 3,010</a:t>
            </a:r>
            <a:endParaRPr lang="en-US" sz="2000" dirty="0"/>
          </a:p>
        </p:txBody>
      </p:sp>
      <p:sp>
        <p:nvSpPr>
          <p:cNvPr id="11" name="Text 8"/>
          <p:cNvSpPr txBox="1"/>
          <p:nvPr/>
        </p:nvSpPr>
        <p:spPr>
          <a:xfrm>
            <a:off x="8412480" y="4297680"/>
            <a:ext cx="2926080" cy="914400"/>
          </a:xfrm>
          <a:prstGeom prst="rect">
            <a:avLst/>
          </a:prstGeom>
          <a:noFill/>
          <a:ln/>
        </p:spPr>
        <p:txBody>
          <a:bodyPr wrap="square" lIns="0" tIns="0" rIns="0" bIns="0" rtlCol="0" anchor="t"/>
          <a:lstStyle/>
          <a:p>
            <a:pPr marL="0" indent="0">
              <a:lnSpc>
                <a:spcPct val="120000"/>
              </a:lnSpc>
              <a:buNone/>
            </a:pPr>
            <a:r>
              <a:rPr lang="en-US" sz="1150" i="1" dirty="0">
                <a:solidFill>
                  <a:srgbClr val="5B6C93"/>
                </a:solidFill>
                <a:latin typeface="Calibri" pitchFamily="34" charset="0"/>
                <a:ea typeface="Calibri" pitchFamily="34" charset="-122"/>
                <a:cs typeface="Calibri" pitchFamily="34" charset="-120"/>
              </a:rPr>
              <a:t>Expected count = N × Benford probability for that digit.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05</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Observed vs Expected</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sp>
        <p:nvSpPr>
          <p:cNvPr id="6" name="Text 4"/>
          <p:cNvSpPr txBox="1"/>
          <p:nvPr/>
        </p:nvSpPr>
        <p:spPr>
          <a:xfrm>
            <a:off x="548640" y="1417320"/>
            <a:ext cx="10881360" cy="1051560"/>
          </a:xfrm>
          <a:prstGeom prst="rect">
            <a:avLst/>
          </a:prstGeom>
          <a:noFill/>
          <a:ln/>
        </p:spPr>
        <p:txBody>
          <a:bodyPr wrap="square" lIns="0" tIns="0" rIns="0" bIns="0" rtlCol="0" anchor="t"/>
          <a:lstStyle/>
          <a:p>
            <a:pPr marL="0" indent="0">
              <a:lnSpc>
                <a:spcPct val="120000"/>
              </a:lnSpc>
              <a:buNone/>
            </a:pPr>
            <a:r>
              <a:rPr lang="en-US" sz="1400" dirty="0">
                <a:solidFill>
                  <a:srgbClr val="20263D"/>
                </a:solidFill>
                <a:latin typeface="Calibri" pitchFamily="34" charset="0"/>
                <a:ea typeface="Calibri" pitchFamily="34" charset="-122"/>
                <a:cs typeface="Calibri" pitchFamily="34" charset="-120"/>
              </a:rPr>
              <a:t>The project keeps two distributions separate: the observed distribution comes directly from the dataset after extracting the first digit, while the expected distribution comes from the Benford formula. The central question is whether the difference between the two is larger than would reasonably be expected from random variation.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7406640" cy="3657600"/>
        </p:xfrm>
        <a:graphic>
          <a:graphicData uri="http://schemas.openxmlformats.org/drawingml/2006/table">
            <a:tbl>
              <a:tblPr/>
              <a:tblGrid>
                <a:gridCol w="109728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Digit</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Observed frequency</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Expected frequency</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65760">
                <a:tc>
                  <a:txBody>
                    <a:bodyPr/>
                    <a:lstStyle/>
                    <a:p>
                      <a:pPr marL="0" indent="0">
                        <a:buNone/>
                      </a:pPr>
                      <a:r>
                        <a:rPr lang="en-US" sz="1150" b="1" dirty="0">
                          <a:solidFill>
                            <a:srgbClr val="1E276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dataset</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Benford's Law</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50" b="1" dirty="0">
                          <a:solidFill>
                            <a:srgbClr val="1E2761"/>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dataset</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Benford's Law</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365760">
                <a:tc>
                  <a:txBody>
                    <a:bodyPr/>
                    <a:lstStyle/>
                    <a:p>
                      <a:pPr marL="0" indent="0">
                        <a:buNone/>
                      </a:pPr>
                      <a:r>
                        <a:rPr lang="en-US" sz="1150" b="1" dirty="0">
                          <a:solidFill>
                            <a:srgbClr val="1E276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dataset</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Benford's Law</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50" b="1" dirty="0">
                          <a:solidFill>
                            <a:srgbClr val="1E276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dataset</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Benford's Law</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365760">
                <a:tc>
                  <a:txBody>
                    <a:bodyPr/>
                    <a:lstStyle/>
                    <a:p>
                      <a:pPr marL="0" indent="0">
                        <a:buNone/>
                      </a:pPr>
                      <a:r>
                        <a:rPr lang="en-US" sz="1150" b="1" dirty="0">
                          <a:solidFill>
                            <a:srgbClr val="1E2761"/>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dataset</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Benford's Law</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50" b="1" dirty="0">
                          <a:solidFill>
                            <a:srgbClr val="1E2761"/>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dataset</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Benford's Law</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r h="365760">
                <a:tc>
                  <a:txBody>
                    <a:bodyPr/>
                    <a:lstStyle/>
                    <a:p>
                      <a:pPr marL="0" indent="0">
                        <a:buNone/>
                      </a:pPr>
                      <a:r>
                        <a:rPr lang="en-US" sz="1150" b="1" dirty="0">
                          <a:solidFill>
                            <a:srgbClr val="1E2761"/>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dataset</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Benford's Law</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150" b="1" dirty="0">
                          <a:solidFill>
                            <a:srgbClr val="1E2761"/>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dataset</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Benford's Law</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extLst>
                  <a:ext uri="{0D108BD9-81ED-4DB2-BD59-A6C34878D82A}">
                    <a16:rowId xmlns:a16="http://schemas.microsoft.com/office/drawing/2014/main" val="10008"/>
                  </a:ext>
                </a:extLst>
              </a:tr>
              <a:tr h="365760">
                <a:tc>
                  <a:txBody>
                    <a:bodyPr/>
                    <a:lstStyle/>
                    <a:p>
                      <a:pPr marL="0" indent="0">
                        <a:buNone/>
                      </a:pPr>
                      <a:r>
                        <a:rPr lang="en-US" sz="1150" b="1" dirty="0">
                          <a:solidFill>
                            <a:srgbClr val="1E2761"/>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dataset</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50" dirty="0">
                          <a:solidFill>
                            <a:srgbClr val="20263D"/>
                          </a:solidFill>
                          <a:latin typeface="Calibri" pitchFamily="34" charset="0"/>
                          <a:ea typeface="Calibri" pitchFamily="34" charset="-122"/>
                          <a:cs typeface="Calibri" pitchFamily="34" charset="-120"/>
                        </a:rPr>
                        <a:t>Calculated from Benford's Law</a:t>
                      </a:r>
                      <a:endParaRPr lang="en-US" sz="115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Shape 5"/>
          <p:cNvSpPr/>
          <p:nvPr/>
        </p:nvSpPr>
        <p:spPr>
          <a:xfrm>
            <a:off x="8138160" y="2606040"/>
            <a:ext cx="3502152" cy="3657600"/>
          </a:xfrm>
          <a:prstGeom prst="roundRect">
            <a:avLst>
              <a:gd name="adj" fmla="val 2089"/>
            </a:avLst>
          </a:prstGeom>
          <a:solidFill>
            <a:srgbClr val="1E2761"/>
          </a:solidFill>
          <a:ln/>
        </p:spPr>
        <p:txBody>
          <a:bodyPr/>
          <a:lstStyle/>
          <a:p>
            <a:endParaRPr lang="en-IN"/>
          </a:p>
        </p:txBody>
      </p:sp>
      <p:sp>
        <p:nvSpPr>
          <p:cNvPr id="9" name="Text 6"/>
          <p:cNvSpPr txBox="1"/>
          <p:nvPr/>
        </p:nvSpPr>
        <p:spPr>
          <a:xfrm>
            <a:off x="8412480" y="2834640"/>
            <a:ext cx="2971800" cy="548640"/>
          </a:xfrm>
          <a:prstGeom prst="rect">
            <a:avLst/>
          </a:prstGeom>
          <a:noFill/>
          <a:ln/>
        </p:spPr>
        <p:txBody>
          <a:bodyPr wrap="square" lIns="0" tIns="0" rIns="0" bIns="0" rtlCol="0" anchor="ctr"/>
          <a:lstStyle/>
          <a:p>
            <a:pPr marL="0" indent="0">
              <a:lnSpc>
                <a:spcPct val="110000"/>
              </a:lnSpc>
              <a:buNone/>
            </a:pPr>
            <a:r>
              <a:rPr lang="en-US" sz="1100" b="1" kern="0" spc="50" dirty="0">
                <a:solidFill>
                  <a:srgbClr val="C9922C"/>
                </a:solidFill>
                <a:latin typeface="Calibri" pitchFamily="34" charset="0"/>
                <a:ea typeface="Calibri" pitchFamily="34" charset="-122"/>
                <a:cs typeface="Calibri" pitchFamily="34" charset="-120"/>
              </a:rPr>
              <a:t>STRUCTURE OF THE COMPARISON</a:t>
            </a:r>
            <a:endParaRPr lang="en-US" sz="1100" dirty="0"/>
          </a:p>
        </p:txBody>
      </p:sp>
      <p:sp>
        <p:nvSpPr>
          <p:cNvPr id="10" name="Text 7"/>
          <p:cNvSpPr txBox="1"/>
          <p:nvPr/>
        </p:nvSpPr>
        <p:spPr>
          <a:xfrm>
            <a:off x="8412480" y="3429000"/>
            <a:ext cx="2971800" cy="2651760"/>
          </a:xfrm>
          <a:prstGeom prst="rect">
            <a:avLst/>
          </a:prstGeom>
          <a:noFill/>
          <a:ln/>
        </p:spPr>
        <p:txBody>
          <a:bodyPr wrap="square" lIns="0" tIns="0" rIns="0" bIns="0" rtlCol="0" anchor="t"/>
          <a:lstStyle/>
          <a:p>
            <a:pPr marL="0" indent="0">
              <a:lnSpc>
                <a:spcPct val="130000"/>
              </a:lnSpc>
              <a:buNone/>
            </a:pPr>
            <a:r>
              <a:rPr lang="en-US" sz="1250" dirty="0">
                <a:solidFill>
                  <a:srgbClr val="CADCFC"/>
                </a:solidFill>
                <a:latin typeface="Calibri" pitchFamily="34" charset="0"/>
                <a:ea typeface="Calibri" pitchFamily="34" charset="-122"/>
                <a:cs typeface="Calibri" pitchFamily="34" charset="-120"/>
              </a:rPr>
              <a:t>This table sets out the framework used for the comparison. Actual observed and expected counts will be populated once a real dataset has been imported and processed in 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06</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Statistical Testing</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sp>
        <p:nvSpPr>
          <p:cNvPr id="6" name="Text 4"/>
          <p:cNvSpPr txBox="1"/>
          <p:nvPr/>
        </p:nvSpPr>
        <p:spPr>
          <a:xfrm>
            <a:off x="548640" y="1417320"/>
            <a:ext cx="10881360" cy="1051560"/>
          </a:xfrm>
          <a:prstGeom prst="rect">
            <a:avLst/>
          </a:prstGeom>
          <a:noFill/>
          <a:ln/>
        </p:spPr>
        <p:txBody>
          <a:bodyPr wrap="square" lIns="0" tIns="0" rIns="0" bIns="0" rtlCol="0" anchor="t"/>
          <a:lstStyle/>
          <a:p>
            <a:pPr marL="0" indent="0">
              <a:lnSpc>
                <a:spcPct val="120000"/>
              </a:lnSpc>
              <a:buNone/>
            </a:pPr>
            <a:r>
              <a:rPr lang="en-US" sz="1400" dirty="0">
                <a:solidFill>
                  <a:srgbClr val="20263D"/>
                </a:solidFill>
                <a:latin typeface="Calibri" pitchFamily="34" charset="0"/>
                <a:ea typeface="Calibri" pitchFamily="34" charset="-122"/>
                <a:cs typeface="Calibri" pitchFamily="34" charset="-120"/>
              </a:rPr>
              <a:t>The Chi-square goodness-of-fit test is used to determine whether the observed first-digit frequencies are consistent with the expected Benford distribution. The test compares observed and expected frequencies across the nine first-digit categories; the resulting test statistic and p-value provide the basis for the statistical decision.</a:t>
            </a:r>
            <a:endParaRPr lang="en-US" sz="1400" dirty="0"/>
          </a:p>
        </p:txBody>
      </p:sp>
      <p:sp>
        <p:nvSpPr>
          <p:cNvPr id="7" name="Shape 5"/>
          <p:cNvSpPr/>
          <p:nvPr/>
        </p:nvSpPr>
        <p:spPr>
          <a:xfrm>
            <a:off x="548640" y="2606040"/>
            <a:ext cx="3502152" cy="3566160"/>
          </a:xfrm>
          <a:prstGeom prst="roundRect">
            <a:avLst>
              <a:gd name="adj" fmla="val 2089"/>
            </a:avLst>
          </a:prstGeom>
          <a:solidFill>
            <a:srgbClr val="F4F6FB"/>
          </a:solidFill>
          <a:ln w="12700">
            <a:solidFill>
              <a:srgbClr val="CADCFC"/>
            </a:solidFill>
            <a:prstDash val="solid"/>
          </a:ln>
        </p:spPr>
        <p:txBody>
          <a:bodyPr/>
          <a:lstStyle/>
          <a:p>
            <a:endParaRPr lang="en-IN"/>
          </a:p>
        </p:txBody>
      </p:sp>
      <p:sp>
        <p:nvSpPr>
          <p:cNvPr id="8" name="Text 6"/>
          <p:cNvSpPr txBox="1"/>
          <p:nvPr/>
        </p:nvSpPr>
        <p:spPr>
          <a:xfrm>
            <a:off x="731520" y="2807208"/>
            <a:ext cx="109728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H₀</a:t>
            </a:r>
            <a:endParaRPr lang="en-US" sz="3000" dirty="0"/>
          </a:p>
        </p:txBody>
      </p:sp>
      <p:sp>
        <p:nvSpPr>
          <p:cNvPr id="9" name="Text 7"/>
          <p:cNvSpPr txBox="1"/>
          <p:nvPr/>
        </p:nvSpPr>
        <p:spPr>
          <a:xfrm>
            <a:off x="731520" y="3474720"/>
            <a:ext cx="3136392" cy="5486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Null Hypothesis</a:t>
            </a:r>
            <a:endParaRPr lang="en-US" sz="1500" dirty="0"/>
          </a:p>
        </p:txBody>
      </p:sp>
      <p:sp>
        <p:nvSpPr>
          <p:cNvPr id="10" name="Text 8"/>
          <p:cNvSpPr txBox="1"/>
          <p:nvPr/>
        </p:nvSpPr>
        <p:spPr>
          <a:xfrm>
            <a:off x="731520" y="4069080"/>
            <a:ext cx="3136392" cy="1920240"/>
          </a:xfrm>
          <a:prstGeom prst="rect">
            <a:avLst/>
          </a:prstGeom>
          <a:noFill/>
          <a:ln/>
        </p:spPr>
        <p:txBody>
          <a:bodyPr wrap="square" lIns="0" tIns="0" rIns="0" bIns="0" rtlCol="0" anchor="t"/>
          <a:lstStyle/>
          <a:p>
            <a:pPr marL="0" indent="0">
              <a:lnSpc>
                <a:spcPct val="125000"/>
              </a:lnSpc>
              <a:buNone/>
            </a:pPr>
            <a:r>
              <a:rPr lang="en-US" sz="1250" dirty="0">
                <a:solidFill>
                  <a:srgbClr val="20263D"/>
                </a:solidFill>
                <a:latin typeface="Calibri" pitchFamily="34" charset="0"/>
                <a:ea typeface="Calibri" pitchFamily="34" charset="-122"/>
                <a:cs typeface="Calibri" pitchFamily="34" charset="-120"/>
              </a:rPr>
              <a:t>The observed first-digit distribution is consistent with the expected Benford distribution.</a:t>
            </a:r>
            <a:endParaRPr lang="en-US" sz="1250" dirty="0"/>
          </a:p>
        </p:txBody>
      </p:sp>
      <p:sp>
        <p:nvSpPr>
          <p:cNvPr id="11" name="Shape 9"/>
          <p:cNvSpPr/>
          <p:nvPr/>
        </p:nvSpPr>
        <p:spPr>
          <a:xfrm>
            <a:off x="4178808" y="2606040"/>
            <a:ext cx="3502152" cy="3566160"/>
          </a:xfrm>
          <a:prstGeom prst="roundRect">
            <a:avLst>
              <a:gd name="adj" fmla="val 2089"/>
            </a:avLst>
          </a:prstGeom>
          <a:solidFill>
            <a:srgbClr val="F4F6FB"/>
          </a:solidFill>
          <a:ln w="12700">
            <a:solidFill>
              <a:srgbClr val="CADCFC"/>
            </a:solidFill>
            <a:prstDash val="solid"/>
          </a:ln>
        </p:spPr>
        <p:txBody>
          <a:bodyPr/>
          <a:lstStyle/>
          <a:p>
            <a:endParaRPr lang="en-IN"/>
          </a:p>
        </p:txBody>
      </p:sp>
      <p:sp>
        <p:nvSpPr>
          <p:cNvPr id="12" name="Text 10"/>
          <p:cNvSpPr txBox="1"/>
          <p:nvPr/>
        </p:nvSpPr>
        <p:spPr>
          <a:xfrm>
            <a:off x="4361688" y="2807208"/>
            <a:ext cx="109728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H₁</a:t>
            </a:r>
            <a:endParaRPr lang="en-US" sz="3000" dirty="0"/>
          </a:p>
        </p:txBody>
      </p:sp>
      <p:sp>
        <p:nvSpPr>
          <p:cNvPr id="13" name="Text 11"/>
          <p:cNvSpPr txBox="1"/>
          <p:nvPr/>
        </p:nvSpPr>
        <p:spPr>
          <a:xfrm>
            <a:off x="4361688" y="3474720"/>
            <a:ext cx="3136392" cy="5486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Alternative Hypothesis</a:t>
            </a:r>
            <a:endParaRPr lang="en-US" sz="1500" dirty="0"/>
          </a:p>
        </p:txBody>
      </p:sp>
      <p:sp>
        <p:nvSpPr>
          <p:cNvPr id="14" name="Text 12"/>
          <p:cNvSpPr txBox="1"/>
          <p:nvPr/>
        </p:nvSpPr>
        <p:spPr>
          <a:xfrm>
            <a:off x="4361688" y="4069080"/>
            <a:ext cx="3136392" cy="1920240"/>
          </a:xfrm>
          <a:prstGeom prst="rect">
            <a:avLst/>
          </a:prstGeom>
          <a:noFill/>
          <a:ln/>
        </p:spPr>
        <p:txBody>
          <a:bodyPr wrap="square" lIns="0" tIns="0" rIns="0" bIns="0" rtlCol="0" anchor="t"/>
          <a:lstStyle/>
          <a:p>
            <a:pPr marL="0" indent="0">
              <a:lnSpc>
                <a:spcPct val="125000"/>
              </a:lnSpc>
              <a:buNone/>
            </a:pPr>
            <a:r>
              <a:rPr lang="en-US" sz="1250" dirty="0">
                <a:solidFill>
                  <a:srgbClr val="20263D"/>
                </a:solidFill>
                <a:latin typeface="Calibri" pitchFamily="34" charset="0"/>
                <a:ea typeface="Calibri" pitchFamily="34" charset="-122"/>
                <a:cs typeface="Calibri" pitchFamily="34" charset="-120"/>
              </a:rPr>
              <a:t>The observed first-digit distribution differs significantly from the expected Benford distribution.</a:t>
            </a:r>
            <a:endParaRPr lang="en-US" sz="1250" dirty="0"/>
          </a:p>
        </p:txBody>
      </p:sp>
      <p:sp>
        <p:nvSpPr>
          <p:cNvPr id="15" name="Shape 13"/>
          <p:cNvSpPr/>
          <p:nvPr/>
        </p:nvSpPr>
        <p:spPr>
          <a:xfrm>
            <a:off x="7808976" y="2606040"/>
            <a:ext cx="3502152" cy="3566160"/>
          </a:xfrm>
          <a:prstGeom prst="roundRect">
            <a:avLst>
              <a:gd name="adj" fmla="val 2089"/>
            </a:avLst>
          </a:prstGeom>
          <a:solidFill>
            <a:srgbClr val="1E2761"/>
          </a:solidFill>
          <a:ln/>
        </p:spPr>
        <p:txBody>
          <a:bodyPr/>
          <a:lstStyle/>
          <a:p>
            <a:endParaRPr lang="en-IN"/>
          </a:p>
        </p:txBody>
      </p:sp>
      <p:sp>
        <p:nvSpPr>
          <p:cNvPr id="16" name="Text 14"/>
          <p:cNvSpPr txBox="1"/>
          <p:nvPr/>
        </p:nvSpPr>
        <p:spPr>
          <a:xfrm>
            <a:off x="7991856" y="2807208"/>
            <a:ext cx="1097280" cy="640080"/>
          </a:xfrm>
          <a:prstGeom prst="rect">
            <a:avLst/>
          </a:prstGeom>
          <a:noFill/>
          <a:ln/>
        </p:spPr>
        <p:txBody>
          <a:bodyPr wrap="square" lIns="0" tIns="0" rIns="0" bIns="0" rtlCol="0" anchor="ctr"/>
          <a:lstStyle/>
          <a:p>
            <a:pPr marL="0" indent="0">
              <a:buNone/>
            </a:pPr>
            <a:r>
              <a:rPr lang="en-US" sz="3000" b="1" dirty="0">
                <a:solidFill>
                  <a:srgbClr val="C9922C"/>
                </a:solidFill>
                <a:latin typeface="Cambria" pitchFamily="34" charset="0"/>
                <a:ea typeface="Cambria" pitchFamily="34" charset="-122"/>
                <a:cs typeface="Cambria" pitchFamily="34" charset="-120"/>
              </a:rPr>
              <a:t>α</a:t>
            </a:r>
            <a:endParaRPr lang="en-US" sz="3000" dirty="0"/>
          </a:p>
        </p:txBody>
      </p:sp>
      <p:sp>
        <p:nvSpPr>
          <p:cNvPr id="17" name="Text 15"/>
          <p:cNvSpPr txBox="1"/>
          <p:nvPr/>
        </p:nvSpPr>
        <p:spPr>
          <a:xfrm>
            <a:off x="7991856" y="3474720"/>
            <a:ext cx="3136392"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Decision Rule</a:t>
            </a:r>
            <a:endParaRPr lang="en-US" sz="1500" dirty="0"/>
          </a:p>
        </p:txBody>
      </p:sp>
      <p:sp>
        <p:nvSpPr>
          <p:cNvPr id="18" name="Text 16"/>
          <p:cNvSpPr txBox="1"/>
          <p:nvPr/>
        </p:nvSpPr>
        <p:spPr>
          <a:xfrm>
            <a:off x="7991856" y="4069080"/>
            <a:ext cx="3136392" cy="1920240"/>
          </a:xfrm>
          <a:prstGeom prst="rect">
            <a:avLst/>
          </a:prstGeom>
          <a:noFill/>
          <a:ln/>
        </p:spPr>
        <p:txBody>
          <a:bodyPr wrap="square" lIns="0" tIns="0" rIns="0" bIns="0" rtlCol="0" anchor="t"/>
          <a:lstStyle/>
          <a:p>
            <a:pPr marL="0" indent="0">
              <a:lnSpc>
                <a:spcPct val="125000"/>
              </a:lnSpc>
              <a:buNone/>
            </a:pPr>
            <a:r>
              <a:rPr lang="en-US" sz="1250" dirty="0">
                <a:solidFill>
                  <a:srgbClr val="CADCFC"/>
                </a:solidFill>
                <a:latin typeface="Calibri" pitchFamily="34" charset="0"/>
                <a:ea typeface="Calibri" pitchFamily="34" charset="-122"/>
                <a:cs typeface="Calibri" pitchFamily="34" charset="-120"/>
              </a:rPr>
              <a:t>At a chosen significance level such as 0.05, a p-value below the significance level provides evidence against H₀.</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07</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Syllabus Mapping — BMAT202P</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773168"/>
        </p:xfrm>
        <a:graphic>
          <a:graphicData uri="http://schemas.openxmlformats.org/drawingml/2006/table">
            <a:tbl>
              <a:tblPr/>
              <a:tblGrid>
                <a:gridCol w="3108960">
                  <a:extLst>
                    <a:ext uri="{9D8B030D-6E8A-4147-A177-3AD203B41FA5}">
                      <a16:colId xmlns:a16="http://schemas.microsoft.com/office/drawing/2014/main" val="20000"/>
                    </a:ext>
                  </a:extLst>
                </a:gridCol>
                <a:gridCol w="6245352">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3035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Syllabus Area</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It Appears in the Project</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30352">
                <a:tc>
                  <a:txBody>
                    <a:bodyPr/>
                    <a:lstStyle/>
                    <a:p>
                      <a:pPr marL="0" indent="0">
                        <a:buNone/>
                      </a:pPr>
                      <a:r>
                        <a:rPr lang="en-US" sz="1200" b="1" dirty="0">
                          <a:solidFill>
                            <a:srgbClr val="20263D"/>
                          </a:solidFill>
                          <a:latin typeface="Calibri" pitchFamily="34" charset="0"/>
                          <a:ea typeface="Calibri" pitchFamily="34" charset="-122"/>
                          <a:cs typeface="Calibri" pitchFamily="34" charset="-120"/>
                        </a:rPr>
                        <a:t>Data import and data types</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00" dirty="0">
                          <a:solidFill>
                            <a:srgbClr val="20263D"/>
                          </a:solidFill>
                          <a:latin typeface="Calibri" pitchFamily="34" charset="0"/>
                          <a:ea typeface="Calibri" pitchFamily="34" charset="-122"/>
                          <a:cs typeface="Calibri" pitchFamily="34" charset="-120"/>
                        </a:rPr>
                        <a:t>Import, inspect and prepare the real dataset in R.</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1E7A3D"/>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extLst>
                  <a:ext uri="{0D108BD9-81ED-4DB2-BD59-A6C34878D82A}">
                    <a16:rowId xmlns:a16="http://schemas.microsoft.com/office/drawing/2014/main" val="10001"/>
                  </a:ext>
                </a:extLst>
              </a:tr>
              <a:tr h="530352">
                <a:tc>
                  <a:txBody>
                    <a:bodyPr/>
                    <a:lstStyle/>
                    <a:p>
                      <a:pPr marL="0" indent="0">
                        <a:buNone/>
                      </a:pPr>
                      <a:r>
                        <a:rPr lang="en-US" sz="1200" b="1" dirty="0">
                          <a:solidFill>
                            <a:srgbClr val="20263D"/>
                          </a:solidFill>
                          <a:latin typeface="Calibri" pitchFamily="34" charset="0"/>
                          <a:ea typeface="Calibri" pitchFamily="34" charset="-122"/>
                          <a:cs typeface="Calibri" pitchFamily="34" charset="-120"/>
                        </a:rPr>
                        <a:t>Summary statistics</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00" dirty="0">
                          <a:solidFill>
                            <a:srgbClr val="20263D"/>
                          </a:solidFill>
                          <a:latin typeface="Calibri" pitchFamily="34" charset="0"/>
                          <a:ea typeface="Calibri" pitchFamily="34" charset="-122"/>
                          <a:cs typeface="Calibri" pitchFamily="34" charset="-120"/>
                        </a:rPr>
                        <a:t>Describe the numerical data before digit analysis.</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7A3D"/>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200" b="1" dirty="0">
                          <a:solidFill>
                            <a:srgbClr val="20263D"/>
                          </a:solidFill>
                          <a:latin typeface="Calibri" pitchFamily="34" charset="0"/>
                          <a:ea typeface="Calibri" pitchFamily="34" charset="-122"/>
                          <a:cs typeface="Calibri" pitchFamily="34" charset="-120"/>
                        </a:rPr>
                        <a:t>Graphical representation</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00" dirty="0">
                          <a:solidFill>
                            <a:srgbClr val="20263D"/>
                          </a:solidFill>
                          <a:latin typeface="Calibri" pitchFamily="34" charset="0"/>
                          <a:ea typeface="Calibri" pitchFamily="34" charset="-122"/>
                          <a:cs typeface="Calibri" pitchFamily="34" charset="-120"/>
                        </a:rPr>
                        <a:t>Use plots and tables to understand and present the data.</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1E7A3D"/>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extLst>
                  <a:ext uri="{0D108BD9-81ED-4DB2-BD59-A6C34878D82A}">
                    <a16:rowId xmlns:a16="http://schemas.microsoft.com/office/drawing/2014/main" val="10003"/>
                  </a:ext>
                </a:extLst>
              </a:tr>
              <a:tr h="530352">
                <a:tc>
                  <a:txBody>
                    <a:bodyPr/>
                    <a:lstStyle/>
                    <a:p>
                      <a:pPr marL="0" indent="0">
                        <a:buNone/>
                      </a:pPr>
                      <a:r>
                        <a:rPr lang="en-US" sz="1200" b="1" dirty="0">
                          <a:solidFill>
                            <a:srgbClr val="20263D"/>
                          </a:solidFill>
                          <a:latin typeface="Calibri" pitchFamily="34" charset="0"/>
                          <a:ea typeface="Calibri" pitchFamily="34" charset="-122"/>
                          <a:cs typeface="Calibri" pitchFamily="34" charset="-120"/>
                        </a:rPr>
                        <a:t>Probability distributions</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00" dirty="0">
                          <a:solidFill>
                            <a:srgbClr val="20263D"/>
                          </a:solidFill>
                          <a:latin typeface="Calibri" pitchFamily="34" charset="0"/>
                          <a:ea typeface="Calibri" pitchFamily="34" charset="-122"/>
                          <a:cs typeface="Calibri" pitchFamily="34" charset="-120"/>
                        </a:rPr>
                        <a:t>Use the theoretical Benford first-digit distribution as the project's statistical context.</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8A6D1E"/>
                          </a:solidFill>
                          <a:latin typeface="Calibri" pitchFamily="34" charset="0"/>
                          <a:ea typeface="Calibri" pitchFamily="34" charset="-122"/>
                          <a:cs typeface="Calibri" pitchFamily="34" charset="-120"/>
                        </a:rPr>
                        <a:t>Related</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n-US" sz="1200" b="1" dirty="0">
                          <a:solidFill>
                            <a:srgbClr val="20263D"/>
                          </a:solidFill>
                          <a:latin typeface="Calibri" pitchFamily="34" charset="0"/>
                          <a:ea typeface="Calibri" pitchFamily="34" charset="-122"/>
                          <a:cs typeface="Calibri" pitchFamily="34" charset="-120"/>
                        </a:rPr>
                        <a:t>Hypothesis testing</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00" dirty="0">
                          <a:solidFill>
                            <a:srgbClr val="20263D"/>
                          </a:solidFill>
                          <a:latin typeface="Calibri" pitchFamily="34" charset="0"/>
                          <a:ea typeface="Calibri" pitchFamily="34" charset="-122"/>
                          <a:cs typeface="Calibri" pitchFamily="34" charset="-120"/>
                        </a:rPr>
                        <a:t>Form H₀/H₁ and make a statistical decision from the test result.</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1E7A3D"/>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extLst>
                  <a:ext uri="{0D108BD9-81ED-4DB2-BD59-A6C34878D82A}">
                    <a16:rowId xmlns:a16="http://schemas.microsoft.com/office/drawing/2014/main" val="10005"/>
                  </a:ext>
                </a:extLst>
              </a:tr>
              <a:tr h="530352">
                <a:tc>
                  <a:txBody>
                    <a:bodyPr/>
                    <a:lstStyle/>
                    <a:p>
                      <a:pPr marL="0" indent="0">
                        <a:buNone/>
                      </a:pPr>
                      <a:r>
                        <a:rPr lang="en-US" sz="1200" b="1" dirty="0">
                          <a:solidFill>
                            <a:srgbClr val="20263D"/>
                          </a:solidFill>
                          <a:latin typeface="Calibri" pitchFamily="34" charset="0"/>
                          <a:ea typeface="Calibri" pitchFamily="34" charset="-122"/>
                          <a:cs typeface="Calibri" pitchFamily="34" charset="-120"/>
                        </a:rPr>
                        <a:t>Chi-square goodness-of-fit</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00" dirty="0">
                          <a:solidFill>
                            <a:srgbClr val="20263D"/>
                          </a:solidFill>
                          <a:latin typeface="Calibri" pitchFamily="34" charset="0"/>
                          <a:ea typeface="Calibri" pitchFamily="34" charset="-122"/>
                          <a:cs typeface="Calibri" pitchFamily="34" charset="-120"/>
                        </a:rPr>
                        <a:t>Test observed first-digit frequencies against expected frequencies.</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761"/>
                          </a:solidFill>
                          <a:latin typeface="Calibri" pitchFamily="34" charset="0"/>
                          <a:ea typeface="Calibri" pitchFamily="34" charset="-122"/>
                          <a:cs typeface="Calibri" pitchFamily="34" charset="-120"/>
                        </a:rPr>
                        <a:t>Core</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0352">
                <a:tc>
                  <a:txBody>
                    <a:bodyPr/>
                    <a:lstStyle/>
                    <a:p>
                      <a:pPr marL="0" indent="0">
                        <a:buNone/>
                      </a:pPr>
                      <a:r>
                        <a:rPr lang="en-US" sz="1200" b="1" dirty="0">
                          <a:solidFill>
                            <a:srgbClr val="20263D"/>
                          </a:solidFill>
                          <a:latin typeface="Calibri" pitchFamily="34" charset="0"/>
                          <a:ea typeface="Calibri" pitchFamily="34" charset="-122"/>
                          <a:cs typeface="Calibri" pitchFamily="34" charset="-120"/>
                        </a:rPr>
                        <a:t>Correlation / regression</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buNone/>
                      </a:pPr>
                      <a:r>
                        <a:rPr lang="en-US" sz="1100" dirty="0">
                          <a:solidFill>
                            <a:srgbClr val="20263D"/>
                          </a:solidFill>
                          <a:latin typeface="Calibri" pitchFamily="34" charset="0"/>
                          <a:ea typeface="Calibri" pitchFamily="34" charset="-122"/>
                          <a:cs typeface="Calibri" pitchFamily="34" charset="-120"/>
                        </a:rPr>
                        <a:t>Use only if the final dataset provides a meaningful secondary research question.</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5B6C93"/>
                          </a:solidFill>
                          <a:latin typeface="Calibri" pitchFamily="34" charset="0"/>
                          <a:ea typeface="Calibri" pitchFamily="34" charset="-122"/>
                          <a:cs typeface="Calibri" pitchFamily="34" charset="-120"/>
                        </a:rPr>
                        <a:t>Optional</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4F6FB"/>
                    </a:solidFill>
                  </a:tcPr>
                </a:tc>
                <a:extLst>
                  <a:ext uri="{0D108BD9-81ED-4DB2-BD59-A6C34878D82A}">
                    <a16:rowId xmlns:a16="http://schemas.microsoft.com/office/drawing/2014/main" val="10007"/>
                  </a:ext>
                </a:extLst>
              </a:tr>
              <a:tr h="530352">
                <a:tc>
                  <a:txBody>
                    <a:bodyPr/>
                    <a:lstStyle/>
                    <a:p>
                      <a:pPr marL="0" indent="0">
                        <a:buNone/>
                      </a:pPr>
                      <a:r>
                        <a:rPr lang="en-US" sz="1200" b="1" dirty="0">
                          <a:solidFill>
                            <a:srgbClr val="20263D"/>
                          </a:solidFill>
                          <a:latin typeface="Calibri" pitchFamily="34" charset="0"/>
                          <a:ea typeface="Calibri" pitchFamily="34" charset="-122"/>
                          <a:cs typeface="Calibri" pitchFamily="34" charset="-120"/>
                        </a:rPr>
                        <a:t>t-test / ANOVA</a:t>
                      </a:r>
                      <a:endParaRPr lang="en-US" sz="12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buNone/>
                      </a:pPr>
                      <a:r>
                        <a:rPr lang="en-US" sz="1100" dirty="0">
                          <a:solidFill>
                            <a:srgbClr val="20263D"/>
                          </a:solidFill>
                          <a:latin typeface="Calibri" pitchFamily="34" charset="0"/>
                          <a:ea typeface="Calibri" pitchFamily="34" charset="-122"/>
                          <a:cs typeface="Calibri" pitchFamily="34" charset="-120"/>
                        </a:rPr>
                        <a:t>Use only if a valid group-comparison question arises from the chosen dataset.</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5B6C93"/>
                          </a:solidFill>
                          <a:latin typeface="Calibri" pitchFamily="34" charset="0"/>
                          <a:ea typeface="Calibri" pitchFamily="34" charset="-122"/>
                          <a:cs typeface="Calibri" pitchFamily="34" charset="-120"/>
                        </a:rPr>
                        <a:t>Optional</a:t>
                      </a:r>
                      <a:endParaRPr lang="en-US" sz="1100" dirty="0">
                        <a:latin typeface="Calibri" charset="0"/>
                        <a:ea typeface="Calibri" charset="0"/>
                        <a:cs typeface="Calibri" charset="0"/>
                      </a:endParaRPr>
                    </a:p>
                  </a:txBody>
                  <a:tcPr anchor="ctr">
                    <a:lnL w="9525" cap="flat" cmpd="sng" algn="ctr">
                      <a:solidFill>
                        <a:srgbClr val="E4E9F5"/>
                      </a:solidFill>
                      <a:prstDash val="solid"/>
                      <a:round/>
                      <a:headEnd type="none" w="med" len="med"/>
                      <a:tailEnd type="none" w="med" len="med"/>
                    </a:lnL>
                    <a:lnR w="9525" cap="flat" cmpd="sng" algn="ctr">
                      <a:solidFill>
                        <a:srgbClr val="E4E9F5"/>
                      </a:solidFill>
                      <a:prstDash val="solid"/>
                      <a:round/>
                      <a:headEnd type="none" w="med" len="med"/>
                      <a:tailEnd type="none" w="med" len="med"/>
                    </a:lnR>
                    <a:lnT w="9525" cap="flat" cmpd="sng" algn="ctr">
                      <a:solidFill>
                        <a:srgbClr val="E4E9F5"/>
                      </a:solidFill>
                      <a:prstDash val="solid"/>
                      <a:round/>
                      <a:headEnd type="none" w="med" len="med"/>
                      <a:tailEnd type="none" w="med" len="med"/>
                    </a:lnT>
                    <a:lnB w="9525" cap="flat" cmpd="sng" algn="ctr">
                      <a:solidFill>
                        <a:srgbClr val="E4E9F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08</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Software and Tools</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sp>
        <p:nvSpPr>
          <p:cNvPr id="6" name="Shape 4"/>
          <p:cNvSpPr/>
          <p:nvPr/>
        </p:nvSpPr>
        <p:spPr>
          <a:xfrm>
            <a:off x="548640" y="1508760"/>
            <a:ext cx="5440680" cy="2148840"/>
          </a:xfrm>
          <a:prstGeom prst="roundRect">
            <a:avLst>
              <a:gd name="adj" fmla="val 3404"/>
            </a:avLst>
          </a:prstGeom>
          <a:solidFill>
            <a:srgbClr val="F4F6FB"/>
          </a:solidFill>
          <a:ln w="12700">
            <a:solidFill>
              <a:srgbClr val="CADCFC"/>
            </a:solidFill>
            <a:prstDash val="solid"/>
          </a:ln>
        </p:spPr>
        <p:txBody>
          <a:bodyPr/>
          <a:lstStyle/>
          <a:p>
            <a:endParaRPr lang="en-IN"/>
          </a:p>
        </p:txBody>
      </p:sp>
      <p:sp>
        <p:nvSpPr>
          <p:cNvPr id="7" name="Shape 5"/>
          <p:cNvSpPr/>
          <p:nvPr/>
        </p:nvSpPr>
        <p:spPr>
          <a:xfrm>
            <a:off x="777240" y="1737360"/>
            <a:ext cx="457200" cy="457200"/>
          </a:xfrm>
          <a:prstGeom prst="ellipse">
            <a:avLst/>
          </a:prstGeom>
          <a:solidFill>
            <a:srgbClr val="1E2761"/>
          </a:solidFill>
          <a:ln/>
        </p:spPr>
        <p:txBody>
          <a:bodyPr/>
          <a:lstStyle/>
          <a:p>
            <a:endParaRPr lang="en-IN"/>
          </a:p>
        </p:txBody>
      </p:sp>
      <p:sp>
        <p:nvSpPr>
          <p:cNvPr id="8" name="Text 6"/>
          <p:cNvSpPr txBox="1"/>
          <p:nvPr/>
        </p:nvSpPr>
        <p:spPr>
          <a:xfrm>
            <a:off x="777240" y="1737360"/>
            <a:ext cx="457200" cy="457200"/>
          </a:xfrm>
          <a:prstGeom prst="rect">
            <a:avLst/>
          </a:prstGeom>
          <a:noFill/>
          <a:ln/>
        </p:spPr>
        <p:txBody>
          <a:bodyPr wrap="square" lIns="0" tIns="0" rIns="0" bIns="0" rtlCol="0" anchor="ctr"/>
          <a:lstStyle/>
          <a:p>
            <a:pPr marL="0" indent="0" algn="ctr">
              <a:buNone/>
            </a:pPr>
            <a:r>
              <a:rPr lang="en-US" sz="1600" b="1" dirty="0">
                <a:solidFill>
                  <a:srgbClr val="C9922C"/>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417320" y="1691640"/>
            <a:ext cx="4343400" cy="54864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a:t>
            </a:r>
            <a:endParaRPr lang="en-US" sz="1700" dirty="0"/>
          </a:p>
        </p:txBody>
      </p:sp>
      <p:sp>
        <p:nvSpPr>
          <p:cNvPr id="10" name="Text 8"/>
          <p:cNvSpPr txBox="1"/>
          <p:nvPr/>
        </p:nvSpPr>
        <p:spPr>
          <a:xfrm>
            <a:off x="777240" y="2423160"/>
            <a:ext cx="4983480" cy="1097280"/>
          </a:xfrm>
          <a:prstGeom prst="rect">
            <a:avLst/>
          </a:prstGeom>
          <a:noFill/>
          <a:ln/>
        </p:spPr>
        <p:txBody>
          <a:bodyPr wrap="square" lIns="0" tIns="0" rIns="0" bIns="0" rtlCol="0" anchor="t"/>
          <a:lstStyle/>
          <a:p>
            <a:pPr marL="0" indent="0">
              <a:lnSpc>
                <a:spcPct val="120000"/>
              </a:lnSpc>
              <a:buNone/>
            </a:pPr>
            <a:r>
              <a:rPr lang="en-US" sz="1200" dirty="0">
                <a:solidFill>
                  <a:srgbClr val="20263D"/>
                </a:solidFill>
                <a:latin typeface="Calibri" pitchFamily="34" charset="0"/>
                <a:ea typeface="Calibri" pitchFamily="34" charset="-122"/>
                <a:cs typeface="Calibri" pitchFamily="34" charset="-120"/>
              </a:rPr>
              <a:t>Primary language for data import, preprocessing, statistical analysis and reproducible results.</a:t>
            </a:r>
            <a:endParaRPr lang="en-US" sz="1200" dirty="0"/>
          </a:p>
        </p:txBody>
      </p:sp>
      <p:sp>
        <p:nvSpPr>
          <p:cNvPr id="11" name="Shape 9"/>
          <p:cNvSpPr/>
          <p:nvPr/>
        </p:nvSpPr>
        <p:spPr>
          <a:xfrm>
            <a:off x="6199632" y="1508760"/>
            <a:ext cx="5440680" cy="2148840"/>
          </a:xfrm>
          <a:prstGeom prst="roundRect">
            <a:avLst>
              <a:gd name="adj" fmla="val 3404"/>
            </a:avLst>
          </a:prstGeom>
          <a:solidFill>
            <a:srgbClr val="F4F6FB"/>
          </a:solidFill>
          <a:ln w="12700">
            <a:solidFill>
              <a:srgbClr val="CADCFC"/>
            </a:solidFill>
            <a:prstDash val="solid"/>
          </a:ln>
        </p:spPr>
        <p:txBody>
          <a:bodyPr/>
          <a:lstStyle/>
          <a:p>
            <a:endParaRPr lang="en-IN"/>
          </a:p>
        </p:txBody>
      </p:sp>
      <p:sp>
        <p:nvSpPr>
          <p:cNvPr id="12" name="Shape 10"/>
          <p:cNvSpPr/>
          <p:nvPr/>
        </p:nvSpPr>
        <p:spPr>
          <a:xfrm>
            <a:off x="6428232" y="1737360"/>
            <a:ext cx="457200" cy="457200"/>
          </a:xfrm>
          <a:prstGeom prst="ellipse">
            <a:avLst/>
          </a:prstGeom>
          <a:solidFill>
            <a:srgbClr val="1E2761"/>
          </a:solidFill>
          <a:ln/>
        </p:spPr>
        <p:txBody>
          <a:bodyPr/>
          <a:lstStyle/>
          <a:p>
            <a:endParaRPr lang="en-IN"/>
          </a:p>
        </p:txBody>
      </p:sp>
      <p:sp>
        <p:nvSpPr>
          <p:cNvPr id="13" name="Text 11"/>
          <p:cNvSpPr txBox="1"/>
          <p:nvPr/>
        </p:nvSpPr>
        <p:spPr>
          <a:xfrm>
            <a:off x="6428232" y="1737360"/>
            <a:ext cx="457200" cy="457200"/>
          </a:xfrm>
          <a:prstGeom prst="rect">
            <a:avLst/>
          </a:prstGeom>
          <a:noFill/>
          <a:ln/>
        </p:spPr>
        <p:txBody>
          <a:bodyPr wrap="square" lIns="0" tIns="0" rIns="0" bIns="0" rtlCol="0" anchor="ctr"/>
          <a:lstStyle/>
          <a:p>
            <a:pPr marL="0" indent="0" algn="ctr">
              <a:buNone/>
            </a:pPr>
            <a:r>
              <a:rPr lang="en-US" sz="1600" b="1" dirty="0">
                <a:solidFill>
                  <a:srgbClr val="C9922C"/>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7068312" y="1691640"/>
            <a:ext cx="4343400" cy="54864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RStudio</a:t>
            </a:r>
            <a:endParaRPr lang="en-US" sz="1700" dirty="0"/>
          </a:p>
        </p:txBody>
      </p:sp>
      <p:sp>
        <p:nvSpPr>
          <p:cNvPr id="15" name="Text 13"/>
          <p:cNvSpPr txBox="1"/>
          <p:nvPr/>
        </p:nvSpPr>
        <p:spPr>
          <a:xfrm>
            <a:off x="6428232" y="2423160"/>
            <a:ext cx="4983480" cy="1097280"/>
          </a:xfrm>
          <a:prstGeom prst="rect">
            <a:avLst/>
          </a:prstGeom>
          <a:noFill/>
          <a:ln/>
        </p:spPr>
        <p:txBody>
          <a:bodyPr wrap="square" lIns="0" tIns="0" rIns="0" bIns="0" rtlCol="0" anchor="t"/>
          <a:lstStyle/>
          <a:p>
            <a:pPr marL="0" indent="0">
              <a:lnSpc>
                <a:spcPct val="120000"/>
              </a:lnSpc>
              <a:buNone/>
            </a:pPr>
            <a:r>
              <a:rPr lang="en-US" sz="1200" dirty="0">
                <a:solidFill>
                  <a:srgbClr val="20263D"/>
                </a:solidFill>
                <a:latin typeface="Calibri" pitchFamily="34" charset="0"/>
                <a:ea typeface="Calibri" pitchFamily="34" charset="-122"/>
                <a:cs typeface="Calibri" pitchFamily="34" charset="-120"/>
              </a:rPr>
              <a:t>Development environment for writing, running and organizing the R analysis.</a:t>
            </a:r>
            <a:endParaRPr lang="en-US" sz="1200" dirty="0"/>
          </a:p>
        </p:txBody>
      </p:sp>
      <p:sp>
        <p:nvSpPr>
          <p:cNvPr id="16" name="Shape 14"/>
          <p:cNvSpPr/>
          <p:nvPr/>
        </p:nvSpPr>
        <p:spPr>
          <a:xfrm>
            <a:off x="548640" y="3886200"/>
            <a:ext cx="5440680" cy="2148840"/>
          </a:xfrm>
          <a:prstGeom prst="roundRect">
            <a:avLst>
              <a:gd name="adj" fmla="val 3404"/>
            </a:avLst>
          </a:prstGeom>
          <a:solidFill>
            <a:srgbClr val="F4F6FB"/>
          </a:solidFill>
          <a:ln w="12700">
            <a:solidFill>
              <a:srgbClr val="CADCFC"/>
            </a:solidFill>
            <a:prstDash val="solid"/>
          </a:ln>
        </p:spPr>
        <p:txBody>
          <a:bodyPr/>
          <a:lstStyle/>
          <a:p>
            <a:endParaRPr lang="en-IN"/>
          </a:p>
        </p:txBody>
      </p:sp>
      <p:sp>
        <p:nvSpPr>
          <p:cNvPr id="17" name="Shape 15"/>
          <p:cNvSpPr/>
          <p:nvPr/>
        </p:nvSpPr>
        <p:spPr>
          <a:xfrm>
            <a:off x="777240" y="4114800"/>
            <a:ext cx="457200" cy="457200"/>
          </a:xfrm>
          <a:prstGeom prst="ellipse">
            <a:avLst/>
          </a:prstGeom>
          <a:solidFill>
            <a:srgbClr val="1E2761"/>
          </a:solidFill>
          <a:ln/>
        </p:spPr>
        <p:txBody>
          <a:bodyPr/>
          <a:lstStyle/>
          <a:p>
            <a:endParaRPr lang="en-IN"/>
          </a:p>
        </p:txBody>
      </p:sp>
      <p:sp>
        <p:nvSpPr>
          <p:cNvPr id="18" name="Text 16"/>
          <p:cNvSpPr txBox="1"/>
          <p:nvPr/>
        </p:nvSpPr>
        <p:spPr>
          <a:xfrm>
            <a:off x="777240" y="4114800"/>
            <a:ext cx="457200" cy="457200"/>
          </a:xfrm>
          <a:prstGeom prst="rect">
            <a:avLst/>
          </a:prstGeom>
          <a:noFill/>
          <a:ln/>
        </p:spPr>
        <p:txBody>
          <a:bodyPr wrap="square" lIns="0" tIns="0" rIns="0" bIns="0" rtlCol="0" anchor="ctr"/>
          <a:lstStyle/>
          <a:p>
            <a:pPr marL="0" indent="0" algn="ctr">
              <a:buNone/>
            </a:pPr>
            <a:r>
              <a:rPr lang="en-US" sz="1600" b="1" dirty="0">
                <a:solidFill>
                  <a:srgbClr val="C9922C"/>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417320" y="4069080"/>
            <a:ext cx="4343400" cy="54864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 Packages</a:t>
            </a:r>
            <a:endParaRPr lang="en-US" sz="1700" dirty="0"/>
          </a:p>
        </p:txBody>
      </p:sp>
      <p:sp>
        <p:nvSpPr>
          <p:cNvPr id="20" name="Text 18"/>
          <p:cNvSpPr txBox="1"/>
          <p:nvPr/>
        </p:nvSpPr>
        <p:spPr>
          <a:xfrm>
            <a:off x="777240" y="4800600"/>
            <a:ext cx="4983480" cy="1097280"/>
          </a:xfrm>
          <a:prstGeom prst="rect">
            <a:avLst/>
          </a:prstGeom>
          <a:noFill/>
          <a:ln/>
        </p:spPr>
        <p:txBody>
          <a:bodyPr wrap="square" lIns="0" tIns="0" rIns="0" bIns="0" rtlCol="0" anchor="t"/>
          <a:lstStyle/>
          <a:p>
            <a:pPr marL="0" indent="0">
              <a:lnSpc>
                <a:spcPct val="120000"/>
              </a:lnSpc>
              <a:buNone/>
            </a:pPr>
            <a:r>
              <a:rPr lang="en-US" sz="1200" dirty="0">
                <a:solidFill>
                  <a:srgbClr val="20263D"/>
                </a:solidFill>
                <a:latin typeface="Calibri" pitchFamily="34" charset="0"/>
                <a:ea typeface="Calibri" pitchFamily="34" charset="-122"/>
                <a:cs typeface="Calibri" pitchFamily="34" charset="-120"/>
              </a:rPr>
              <a:t>Packages will be selected only where they support data handling, visualization and the required statistical analysis.</a:t>
            </a:r>
            <a:endParaRPr lang="en-US" sz="1200" dirty="0"/>
          </a:p>
        </p:txBody>
      </p:sp>
      <p:sp>
        <p:nvSpPr>
          <p:cNvPr id="21" name="Shape 19"/>
          <p:cNvSpPr/>
          <p:nvPr/>
        </p:nvSpPr>
        <p:spPr>
          <a:xfrm>
            <a:off x="6199632" y="3886200"/>
            <a:ext cx="5440680" cy="2148840"/>
          </a:xfrm>
          <a:prstGeom prst="roundRect">
            <a:avLst>
              <a:gd name="adj" fmla="val 3404"/>
            </a:avLst>
          </a:prstGeom>
          <a:solidFill>
            <a:srgbClr val="F4F6FB"/>
          </a:solidFill>
          <a:ln w="12700">
            <a:solidFill>
              <a:srgbClr val="CADCFC"/>
            </a:solidFill>
            <a:prstDash val="solid"/>
          </a:ln>
        </p:spPr>
        <p:txBody>
          <a:bodyPr/>
          <a:lstStyle/>
          <a:p>
            <a:endParaRPr lang="en-IN"/>
          </a:p>
        </p:txBody>
      </p:sp>
      <p:sp>
        <p:nvSpPr>
          <p:cNvPr id="22" name="Shape 20"/>
          <p:cNvSpPr/>
          <p:nvPr/>
        </p:nvSpPr>
        <p:spPr>
          <a:xfrm>
            <a:off x="6428232" y="4114800"/>
            <a:ext cx="457200" cy="457200"/>
          </a:xfrm>
          <a:prstGeom prst="ellipse">
            <a:avLst/>
          </a:prstGeom>
          <a:solidFill>
            <a:srgbClr val="1E2761"/>
          </a:solidFill>
          <a:ln/>
        </p:spPr>
        <p:txBody>
          <a:bodyPr/>
          <a:lstStyle/>
          <a:p>
            <a:endParaRPr lang="en-IN"/>
          </a:p>
        </p:txBody>
      </p:sp>
      <p:sp>
        <p:nvSpPr>
          <p:cNvPr id="23" name="Text 21"/>
          <p:cNvSpPr txBox="1"/>
          <p:nvPr/>
        </p:nvSpPr>
        <p:spPr>
          <a:xfrm>
            <a:off x="6428232" y="4114800"/>
            <a:ext cx="457200" cy="457200"/>
          </a:xfrm>
          <a:prstGeom prst="rect">
            <a:avLst/>
          </a:prstGeom>
          <a:noFill/>
          <a:ln/>
        </p:spPr>
        <p:txBody>
          <a:bodyPr wrap="square" lIns="0" tIns="0" rIns="0" bIns="0" rtlCol="0" anchor="ctr"/>
          <a:lstStyle/>
          <a:p>
            <a:pPr marL="0" indent="0" algn="ctr">
              <a:buNone/>
            </a:pPr>
            <a:r>
              <a:rPr lang="en-US" sz="1600" b="1" dirty="0">
                <a:solidFill>
                  <a:srgbClr val="C9922C"/>
                </a:solidFill>
                <a:latin typeface="Cambria" pitchFamily="34" charset="0"/>
                <a:ea typeface="Cambria" pitchFamily="34" charset="-122"/>
                <a:cs typeface="Cambria" pitchFamily="34" charset="-120"/>
              </a:rPr>
              <a:t>4</a:t>
            </a:r>
            <a:endParaRPr lang="en-US" sz="1600" dirty="0"/>
          </a:p>
        </p:txBody>
      </p:sp>
      <p:sp>
        <p:nvSpPr>
          <p:cNvPr id="24" name="Text 22"/>
          <p:cNvSpPr txBox="1"/>
          <p:nvPr/>
        </p:nvSpPr>
        <p:spPr>
          <a:xfrm>
            <a:off x="7068312" y="4069080"/>
            <a:ext cx="4343400" cy="54864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CSV / Tabular Datasets</a:t>
            </a:r>
            <a:endParaRPr lang="en-US" sz="1700" dirty="0"/>
          </a:p>
        </p:txBody>
      </p:sp>
      <p:sp>
        <p:nvSpPr>
          <p:cNvPr id="25" name="Text 23"/>
          <p:cNvSpPr txBox="1"/>
          <p:nvPr/>
        </p:nvSpPr>
        <p:spPr>
          <a:xfrm>
            <a:off x="6428232" y="4800600"/>
            <a:ext cx="4983480" cy="1097280"/>
          </a:xfrm>
          <a:prstGeom prst="rect">
            <a:avLst/>
          </a:prstGeom>
          <a:noFill/>
          <a:ln/>
        </p:spPr>
        <p:txBody>
          <a:bodyPr wrap="square" lIns="0" tIns="0" rIns="0" bIns="0" rtlCol="0" anchor="t"/>
          <a:lstStyle/>
          <a:p>
            <a:pPr marL="0" indent="0">
              <a:lnSpc>
                <a:spcPct val="120000"/>
              </a:lnSpc>
              <a:buNone/>
            </a:pPr>
            <a:r>
              <a:rPr lang="en-US" sz="1200" dirty="0">
                <a:solidFill>
                  <a:srgbClr val="20263D"/>
                </a:solidFill>
                <a:latin typeface="Calibri" pitchFamily="34" charset="0"/>
                <a:ea typeface="Calibri" pitchFamily="34" charset="-122"/>
                <a:cs typeface="Calibri" pitchFamily="34" charset="-120"/>
              </a:rPr>
              <a:t>Primary data format for importing and documenting the selected real-world data.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09</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Expected Project Output</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sp>
        <p:nvSpPr>
          <p:cNvPr id="6" name="Shape 4"/>
          <p:cNvSpPr/>
          <p:nvPr/>
        </p:nvSpPr>
        <p:spPr>
          <a:xfrm>
            <a:off x="548640" y="1508760"/>
            <a:ext cx="5440680" cy="1051560"/>
          </a:xfrm>
          <a:prstGeom prst="roundRect">
            <a:avLst>
              <a:gd name="adj" fmla="val 6087"/>
            </a:avLst>
          </a:prstGeom>
          <a:solidFill>
            <a:srgbClr val="F4F6FB"/>
          </a:solidFill>
          <a:ln w="12700">
            <a:solidFill>
              <a:srgbClr val="CADCFC"/>
            </a:solidFill>
            <a:prstDash val="solid"/>
          </a:ln>
        </p:spPr>
        <p:txBody>
          <a:bodyPr/>
          <a:lstStyle/>
          <a:p>
            <a:endParaRPr lang="en-IN"/>
          </a:p>
        </p:txBody>
      </p:sp>
      <p:sp>
        <p:nvSpPr>
          <p:cNvPr id="7" name="Shape 5"/>
          <p:cNvSpPr/>
          <p:nvPr/>
        </p:nvSpPr>
        <p:spPr>
          <a:xfrm>
            <a:off x="731520" y="1842516"/>
            <a:ext cx="384048" cy="384048"/>
          </a:xfrm>
          <a:prstGeom prst="ellipse">
            <a:avLst/>
          </a:prstGeom>
          <a:solidFill>
            <a:srgbClr val="1E2761"/>
          </a:solidFill>
          <a:ln/>
        </p:spPr>
        <p:txBody>
          <a:bodyPr/>
          <a:lstStyle/>
          <a:p>
            <a:endParaRPr lang="en-IN"/>
          </a:p>
        </p:txBody>
      </p:sp>
      <p:sp>
        <p:nvSpPr>
          <p:cNvPr id="8" name="Text 6"/>
          <p:cNvSpPr txBox="1"/>
          <p:nvPr/>
        </p:nvSpPr>
        <p:spPr>
          <a:xfrm>
            <a:off x="731520" y="1842516"/>
            <a:ext cx="384048" cy="384048"/>
          </a:xfrm>
          <a:prstGeom prst="rect">
            <a:avLst/>
          </a:prstGeom>
          <a:noFill/>
          <a:ln/>
        </p:spPr>
        <p:txBody>
          <a:bodyPr wrap="square" lIns="0" tIns="0" rIns="0" bIns="0" rtlCol="0" anchor="ctr"/>
          <a:lstStyle/>
          <a:p>
            <a:pPr marL="0" indent="0" algn="ctr">
              <a:buNone/>
            </a:pPr>
            <a:r>
              <a:rPr lang="en-US" sz="1300" b="1" dirty="0">
                <a:solidFill>
                  <a:srgbClr val="C9922C"/>
                </a:solidFill>
                <a:latin typeface="Cambria" pitchFamily="34" charset="0"/>
                <a:ea typeface="Cambria" pitchFamily="34" charset="-122"/>
                <a:cs typeface="Cambria" pitchFamily="34" charset="-120"/>
              </a:rPr>
              <a:t>1</a:t>
            </a:r>
            <a:endParaRPr lang="en-US" sz="1300" dirty="0"/>
          </a:p>
        </p:txBody>
      </p:sp>
      <p:sp>
        <p:nvSpPr>
          <p:cNvPr id="9" name="Text 7"/>
          <p:cNvSpPr txBox="1"/>
          <p:nvPr/>
        </p:nvSpPr>
        <p:spPr>
          <a:xfrm>
            <a:off x="1261872" y="1508760"/>
            <a:ext cx="4526280" cy="1051560"/>
          </a:xfrm>
          <a:prstGeom prst="rect">
            <a:avLst/>
          </a:prstGeom>
          <a:noFill/>
          <a:ln/>
        </p:spPr>
        <p:txBody>
          <a:bodyPr wrap="square" lIns="0" tIns="0" rIns="0" bIns="0" rtlCol="0" anchor="ctr"/>
          <a:lstStyle/>
          <a:p>
            <a:pPr marL="0" indent="0">
              <a:lnSpc>
                <a:spcPct val="115000"/>
              </a:lnSpc>
              <a:buNone/>
            </a:pPr>
            <a:r>
              <a:rPr lang="en-US" sz="1250" dirty="0">
                <a:solidFill>
                  <a:srgbClr val="20263D"/>
                </a:solidFill>
                <a:latin typeface="Calibri" pitchFamily="34" charset="0"/>
                <a:ea typeface="Calibri" pitchFamily="34" charset="-122"/>
                <a:cs typeface="Calibri" pitchFamily="34" charset="-120"/>
              </a:rPr>
              <a:t>A cleaned and documented real-world numerical dataset.</a:t>
            </a:r>
            <a:endParaRPr lang="en-US" sz="1250" dirty="0"/>
          </a:p>
        </p:txBody>
      </p:sp>
      <p:sp>
        <p:nvSpPr>
          <p:cNvPr id="10" name="Shape 8"/>
          <p:cNvSpPr/>
          <p:nvPr/>
        </p:nvSpPr>
        <p:spPr>
          <a:xfrm>
            <a:off x="6199632" y="1508760"/>
            <a:ext cx="5440680" cy="1051560"/>
          </a:xfrm>
          <a:prstGeom prst="roundRect">
            <a:avLst>
              <a:gd name="adj" fmla="val 6087"/>
            </a:avLst>
          </a:prstGeom>
          <a:solidFill>
            <a:srgbClr val="F4F6FB"/>
          </a:solidFill>
          <a:ln w="12700">
            <a:solidFill>
              <a:srgbClr val="CADCFC"/>
            </a:solidFill>
            <a:prstDash val="solid"/>
          </a:ln>
        </p:spPr>
        <p:txBody>
          <a:bodyPr/>
          <a:lstStyle/>
          <a:p>
            <a:endParaRPr lang="en-IN"/>
          </a:p>
        </p:txBody>
      </p:sp>
      <p:sp>
        <p:nvSpPr>
          <p:cNvPr id="11" name="Shape 9"/>
          <p:cNvSpPr/>
          <p:nvPr/>
        </p:nvSpPr>
        <p:spPr>
          <a:xfrm>
            <a:off x="6382512" y="1842516"/>
            <a:ext cx="384048" cy="384048"/>
          </a:xfrm>
          <a:prstGeom prst="ellipse">
            <a:avLst/>
          </a:prstGeom>
          <a:solidFill>
            <a:srgbClr val="1E2761"/>
          </a:solidFill>
          <a:ln/>
        </p:spPr>
        <p:txBody>
          <a:bodyPr/>
          <a:lstStyle/>
          <a:p>
            <a:endParaRPr lang="en-IN"/>
          </a:p>
        </p:txBody>
      </p:sp>
      <p:sp>
        <p:nvSpPr>
          <p:cNvPr id="12" name="Text 10"/>
          <p:cNvSpPr txBox="1"/>
          <p:nvPr/>
        </p:nvSpPr>
        <p:spPr>
          <a:xfrm>
            <a:off x="6382512" y="1842516"/>
            <a:ext cx="384048" cy="384048"/>
          </a:xfrm>
          <a:prstGeom prst="rect">
            <a:avLst/>
          </a:prstGeom>
          <a:noFill/>
          <a:ln/>
        </p:spPr>
        <p:txBody>
          <a:bodyPr wrap="square" lIns="0" tIns="0" rIns="0" bIns="0" rtlCol="0" anchor="ctr"/>
          <a:lstStyle/>
          <a:p>
            <a:pPr marL="0" indent="0" algn="ctr">
              <a:buNone/>
            </a:pPr>
            <a:r>
              <a:rPr lang="en-US" sz="1300" b="1" dirty="0">
                <a:solidFill>
                  <a:srgbClr val="C9922C"/>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6912864" y="1508760"/>
            <a:ext cx="4526280" cy="1051560"/>
          </a:xfrm>
          <a:prstGeom prst="rect">
            <a:avLst/>
          </a:prstGeom>
          <a:noFill/>
          <a:ln/>
        </p:spPr>
        <p:txBody>
          <a:bodyPr wrap="square" lIns="0" tIns="0" rIns="0" bIns="0" rtlCol="0" anchor="ctr"/>
          <a:lstStyle/>
          <a:p>
            <a:pPr marL="0" indent="0">
              <a:lnSpc>
                <a:spcPct val="115000"/>
              </a:lnSpc>
              <a:buNone/>
            </a:pPr>
            <a:r>
              <a:rPr lang="en-US" sz="1250" dirty="0">
                <a:solidFill>
                  <a:srgbClr val="20263D"/>
                </a:solidFill>
                <a:latin typeface="Calibri" pitchFamily="34" charset="0"/>
                <a:ea typeface="Calibri" pitchFamily="34" charset="-122"/>
                <a:cs typeface="Calibri" pitchFamily="34" charset="-120"/>
              </a:rPr>
              <a:t>Summary statistics and exploratory visualizations.</a:t>
            </a:r>
            <a:endParaRPr lang="en-US" sz="1250" dirty="0"/>
          </a:p>
        </p:txBody>
      </p:sp>
      <p:sp>
        <p:nvSpPr>
          <p:cNvPr id="14" name="Shape 12"/>
          <p:cNvSpPr/>
          <p:nvPr/>
        </p:nvSpPr>
        <p:spPr>
          <a:xfrm>
            <a:off x="548640" y="2724912"/>
            <a:ext cx="5440680" cy="1051560"/>
          </a:xfrm>
          <a:prstGeom prst="roundRect">
            <a:avLst>
              <a:gd name="adj" fmla="val 6087"/>
            </a:avLst>
          </a:prstGeom>
          <a:solidFill>
            <a:srgbClr val="FFFFFF"/>
          </a:solidFill>
          <a:ln w="12700">
            <a:solidFill>
              <a:srgbClr val="CADCFC"/>
            </a:solidFill>
            <a:prstDash val="solid"/>
          </a:ln>
        </p:spPr>
        <p:txBody>
          <a:bodyPr/>
          <a:lstStyle/>
          <a:p>
            <a:endParaRPr lang="en-IN"/>
          </a:p>
        </p:txBody>
      </p:sp>
      <p:sp>
        <p:nvSpPr>
          <p:cNvPr id="15" name="Shape 13"/>
          <p:cNvSpPr/>
          <p:nvPr/>
        </p:nvSpPr>
        <p:spPr>
          <a:xfrm>
            <a:off x="731520" y="3058668"/>
            <a:ext cx="384048" cy="384048"/>
          </a:xfrm>
          <a:prstGeom prst="ellipse">
            <a:avLst/>
          </a:prstGeom>
          <a:solidFill>
            <a:srgbClr val="1E2761"/>
          </a:solidFill>
          <a:ln/>
        </p:spPr>
        <p:txBody>
          <a:bodyPr/>
          <a:lstStyle/>
          <a:p>
            <a:endParaRPr lang="en-IN"/>
          </a:p>
        </p:txBody>
      </p:sp>
      <p:sp>
        <p:nvSpPr>
          <p:cNvPr id="16" name="Text 14"/>
          <p:cNvSpPr txBox="1"/>
          <p:nvPr/>
        </p:nvSpPr>
        <p:spPr>
          <a:xfrm>
            <a:off x="731520" y="3058668"/>
            <a:ext cx="384048" cy="384048"/>
          </a:xfrm>
          <a:prstGeom prst="rect">
            <a:avLst/>
          </a:prstGeom>
          <a:noFill/>
          <a:ln/>
        </p:spPr>
        <p:txBody>
          <a:bodyPr wrap="square" lIns="0" tIns="0" rIns="0" bIns="0" rtlCol="0" anchor="ctr"/>
          <a:lstStyle/>
          <a:p>
            <a:pPr marL="0" indent="0" algn="ctr">
              <a:buNone/>
            </a:pPr>
            <a:r>
              <a:rPr lang="en-US" sz="1300" b="1" dirty="0">
                <a:solidFill>
                  <a:srgbClr val="C9922C"/>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1261872" y="2724912"/>
            <a:ext cx="4526280" cy="1051560"/>
          </a:xfrm>
          <a:prstGeom prst="rect">
            <a:avLst/>
          </a:prstGeom>
          <a:noFill/>
          <a:ln/>
        </p:spPr>
        <p:txBody>
          <a:bodyPr wrap="square" lIns="0" tIns="0" rIns="0" bIns="0" rtlCol="0" anchor="ctr"/>
          <a:lstStyle/>
          <a:p>
            <a:pPr marL="0" indent="0">
              <a:lnSpc>
                <a:spcPct val="115000"/>
              </a:lnSpc>
              <a:buNone/>
            </a:pPr>
            <a:r>
              <a:rPr lang="en-US" sz="1250" dirty="0">
                <a:solidFill>
                  <a:srgbClr val="20263D"/>
                </a:solidFill>
                <a:latin typeface="Calibri" pitchFamily="34" charset="0"/>
                <a:ea typeface="Calibri" pitchFamily="34" charset="-122"/>
                <a:cs typeface="Calibri" pitchFamily="34" charset="-120"/>
              </a:rPr>
              <a:t>Observed first-digit frequency distribution.</a:t>
            </a:r>
            <a:endParaRPr lang="en-US" sz="1250" dirty="0"/>
          </a:p>
        </p:txBody>
      </p:sp>
      <p:sp>
        <p:nvSpPr>
          <p:cNvPr id="18" name="Shape 16"/>
          <p:cNvSpPr/>
          <p:nvPr/>
        </p:nvSpPr>
        <p:spPr>
          <a:xfrm>
            <a:off x="6199632" y="2724912"/>
            <a:ext cx="5440680" cy="1051560"/>
          </a:xfrm>
          <a:prstGeom prst="roundRect">
            <a:avLst>
              <a:gd name="adj" fmla="val 6087"/>
            </a:avLst>
          </a:prstGeom>
          <a:solidFill>
            <a:srgbClr val="FFFFFF"/>
          </a:solidFill>
          <a:ln w="12700">
            <a:solidFill>
              <a:srgbClr val="CADCFC"/>
            </a:solidFill>
            <a:prstDash val="solid"/>
          </a:ln>
        </p:spPr>
        <p:txBody>
          <a:bodyPr/>
          <a:lstStyle/>
          <a:p>
            <a:endParaRPr lang="en-IN"/>
          </a:p>
        </p:txBody>
      </p:sp>
      <p:sp>
        <p:nvSpPr>
          <p:cNvPr id="19" name="Shape 17"/>
          <p:cNvSpPr/>
          <p:nvPr/>
        </p:nvSpPr>
        <p:spPr>
          <a:xfrm>
            <a:off x="6382512" y="3058668"/>
            <a:ext cx="384048" cy="384048"/>
          </a:xfrm>
          <a:prstGeom prst="ellipse">
            <a:avLst/>
          </a:prstGeom>
          <a:solidFill>
            <a:srgbClr val="1E2761"/>
          </a:solidFill>
          <a:ln/>
        </p:spPr>
        <p:txBody>
          <a:bodyPr/>
          <a:lstStyle/>
          <a:p>
            <a:endParaRPr lang="en-IN"/>
          </a:p>
        </p:txBody>
      </p:sp>
      <p:sp>
        <p:nvSpPr>
          <p:cNvPr id="20" name="Text 18"/>
          <p:cNvSpPr txBox="1"/>
          <p:nvPr/>
        </p:nvSpPr>
        <p:spPr>
          <a:xfrm>
            <a:off x="6382512" y="3058668"/>
            <a:ext cx="384048" cy="384048"/>
          </a:xfrm>
          <a:prstGeom prst="rect">
            <a:avLst/>
          </a:prstGeom>
          <a:noFill/>
          <a:ln/>
        </p:spPr>
        <p:txBody>
          <a:bodyPr wrap="square" lIns="0" tIns="0" rIns="0" bIns="0" rtlCol="0" anchor="ctr"/>
          <a:lstStyle/>
          <a:p>
            <a:pPr marL="0" indent="0" algn="ctr">
              <a:buNone/>
            </a:pPr>
            <a:r>
              <a:rPr lang="en-US" sz="1300" b="1" dirty="0">
                <a:solidFill>
                  <a:srgbClr val="C9922C"/>
                </a:solidFill>
                <a:latin typeface="Cambria" pitchFamily="34" charset="0"/>
                <a:ea typeface="Cambria" pitchFamily="34" charset="-122"/>
                <a:cs typeface="Cambria" pitchFamily="34" charset="-120"/>
              </a:rPr>
              <a:t>4</a:t>
            </a:r>
            <a:endParaRPr lang="en-US" sz="1300" dirty="0"/>
          </a:p>
        </p:txBody>
      </p:sp>
      <p:sp>
        <p:nvSpPr>
          <p:cNvPr id="21" name="Text 19"/>
          <p:cNvSpPr txBox="1"/>
          <p:nvPr/>
        </p:nvSpPr>
        <p:spPr>
          <a:xfrm>
            <a:off x="6912864" y="2724912"/>
            <a:ext cx="4526280" cy="1051560"/>
          </a:xfrm>
          <a:prstGeom prst="rect">
            <a:avLst/>
          </a:prstGeom>
          <a:noFill/>
          <a:ln/>
        </p:spPr>
        <p:txBody>
          <a:bodyPr wrap="square" lIns="0" tIns="0" rIns="0" bIns="0" rtlCol="0" anchor="ctr"/>
          <a:lstStyle/>
          <a:p>
            <a:pPr marL="0" indent="0">
              <a:lnSpc>
                <a:spcPct val="115000"/>
              </a:lnSpc>
              <a:buNone/>
            </a:pPr>
            <a:r>
              <a:rPr lang="en-US" sz="1250" dirty="0">
                <a:solidFill>
                  <a:srgbClr val="20263D"/>
                </a:solidFill>
                <a:latin typeface="Calibri" pitchFamily="34" charset="0"/>
                <a:ea typeface="Calibri" pitchFamily="34" charset="-122"/>
                <a:cs typeface="Calibri" pitchFamily="34" charset="-120"/>
              </a:rPr>
              <a:t>Theoretical Benford expected distribution.</a:t>
            </a:r>
            <a:endParaRPr lang="en-US" sz="1250" dirty="0"/>
          </a:p>
        </p:txBody>
      </p:sp>
      <p:sp>
        <p:nvSpPr>
          <p:cNvPr id="22" name="Shape 20"/>
          <p:cNvSpPr/>
          <p:nvPr/>
        </p:nvSpPr>
        <p:spPr>
          <a:xfrm>
            <a:off x="548640" y="3941064"/>
            <a:ext cx="5440680" cy="1051560"/>
          </a:xfrm>
          <a:prstGeom prst="roundRect">
            <a:avLst>
              <a:gd name="adj" fmla="val 6087"/>
            </a:avLst>
          </a:prstGeom>
          <a:solidFill>
            <a:srgbClr val="F4F6FB"/>
          </a:solidFill>
          <a:ln w="12700">
            <a:solidFill>
              <a:srgbClr val="CADCFC"/>
            </a:solidFill>
            <a:prstDash val="solid"/>
          </a:ln>
        </p:spPr>
        <p:txBody>
          <a:bodyPr/>
          <a:lstStyle/>
          <a:p>
            <a:endParaRPr lang="en-IN"/>
          </a:p>
        </p:txBody>
      </p:sp>
      <p:sp>
        <p:nvSpPr>
          <p:cNvPr id="23" name="Shape 21"/>
          <p:cNvSpPr/>
          <p:nvPr/>
        </p:nvSpPr>
        <p:spPr>
          <a:xfrm>
            <a:off x="731520" y="4274820"/>
            <a:ext cx="384048" cy="384048"/>
          </a:xfrm>
          <a:prstGeom prst="ellipse">
            <a:avLst/>
          </a:prstGeom>
          <a:solidFill>
            <a:srgbClr val="1E2761"/>
          </a:solidFill>
          <a:ln/>
        </p:spPr>
        <p:txBody>
          <a:bodyPr/>
          <a:lstStyle/>
          <a:p>
            <a:endParaRPr lang="en-IN"/>
          </a:p>
        </p:txBody>
      </p:sp>
      <p:sp>
        <p:nvSpPr>
          <p:cNvPr id="24" name="Text 22"/>
          <p:cNvSpPr txBox="1"/>
          <p:nvPr/>
        </p:nvSpPr>
        <p:spPr>
          <a:xfrm>
            <a:off x="731520" y="4274820"/>
            <a:ext cx="384048" cy="384048"/>
          </a:xfrm>
          <a:prstGeom prst="rect">
            <a:avLst/>
          </a:prstGeom>
          <a:noFill/>
          <a:ln/>
        </p:spPr>
        <p:txBody>
          <a:bodyPr wrap="square" lIns="0" tIns="0" rIns="0" bIns="0" rtlCol="0" anchor="ctr"/>
          <a:lstStyle/>
          <a:p>
            <a:pPr marL="0" indent="0" algn="ctr">
              <a:buNone/>
            </a:pPr>
            <a:r>
              <a:rPr lang="en-US" sz="1300" b="1" dirty="0">
                <a:solidFill>
                  <a:srgbClr val="C9922C"/>
                </a:solidFill>
                <a:latin typeface="Cambria" pitchFamily="34" charset="0"/>
                <a:ea typeface="Cambria" pitchFamily="34" charset="-122"/>
                <a:cs typeface="Cambria" pitchFamily="34" charset="-120"/>
              </a:rPr>
              <a:t>5</a:t>
            </a:r>
            <a:endParaRPr lang="en-US" sz="1300" dirty="0"/>
          </a:p>
        </p:txBody>
      </p:sp>
      <p:sp>
        <p:nvSpPr>
          <p:cNvPr id="25" name="Text 23"/>
          <p:cNvSpPr txBox="1"/>
          <p:nvPr/>
        </p:nvSpPr>
        <p:spPr>
          <a:xfrm>
            <a:off x="1261872" y="3941064"/>
            <a:ext cx="4526280" cy="1051560"/>
          </a:xfrm>
          <a:prstGeom prst="rect">
            <a:avLst/>
          </a:prstGeom>
          <a:noFill/>
          <a:ln/>
        </p:spPr>
        <p:txBody>
          <a:bodyPr wrap="square" lIns="0" tIns="0" rIns="0" bIns="0" rtlCol="0" anchor="ctr"/>
          <a:lstStyle/>
          <a:p>
            <a:pPr marL="0" indent="0">
              <a:lnSpc>
                <a:spcPct val="115000"/>
              </a:lnSpc>
              <a:buNone/>
            </a:pPr>
            <a:r>
              <a:rPr lang="en-US" sz="1250" dirty="0">
                <a:solidFill>
                  <a:srgbClr val="20263D"/>
                </a:solidFill>
                <a:latin typeface="Calibri" pitchFamily="34" charset="0"/>
                <a:ea typeface="Calibri" pitchFamily="34" charset="-122"/>
                <a:cs typeface="Calibri" pitchFamily="34" charset="-120"/>
              </a:rPr>
              <a:t>Observed-versus-expected comparison table and visualization.</a:t>
            </a:r>
            <a:endParaRPr lang="en-US" sz="1250" dirty="0"/>
          </a:p>
        </p:txBody>
      </p:sp>
      <p:sp>
        <p:nvSpPr>
          <p:cNvPr id="26" name="Shape 24"/>
          <p:cNvSpPr/>
          <p:nvPr/>
        </p:nvSpPr>
        <p:spPr>
          <a:xfrm>
            <a:off x="6199632" y="3941064"/>
            <a:ext cx="5440680" cy="1051560"/>
          </a:xfrm>
          <a:prstGeom prst="roundRect">
            <a:avLst>
              <a:gd name="adj" fmla="val 6087"/>
            </a:avLst>
          </a:prstGeom>
          <a:solidFill>
            <a:srgbClr val="F4F6FB"/>
          </a:solidFill>
          <a:ln w="12700">
            <a:solidFill>
              <a:srgbClr val="CADCFC"/>
            </a:solidFill>
            <a:prstDash val="solid"/>
          </a:ln>
        </p:spPr>
        <p:txBody>
          <a:bodyPr/>
          <a:lstStyle/>
          <a:p>
            <a:endParaRPr lang="en-IN"/>
          </a:p>
        </p:txBody>
      </p:sp>
      <p:sp>
        <p:nvSpPr>
          <p:cNvPr id="27" name="Shape 25"/>
          <p:cNvSpPr/>
          <p:nvPr/>
        </p:nvSpPr>
        <p:spPr>
          <a:xfrm>
            <a:off x="6382512" y="4274820"/>
            <a:ext cx="384048" cy="384048"/>
          </a:xfrm>
          <a:prstGeom prst="ellipse">
            <a:avLst/>
          </a:prstGeom>
          <a:solidFill>
            <a:srgbClr val="1E2761"/>
          </a:solidFill>
          <a:ln/>
        </p:spPr>
        <p:txBody>
          <a:bodyPr/>
          <a:lstStyle/>
          <a:p>
            <a:endParaRPr lang="en-IN"/>
          </a:p>
        </p:txBody>
      </p:sp>
      <p:sp>
        <p:nvSpPr>
          <p:cNvPr id="28" name="Text 26"/>
          <p:cNvSpPr txBox="1"/>
          <p:nvPr/>
        </p:nvSpPr>
        <p:spPr>
          <a:xfrm>
            <a:off x="6382512" y="4274820"/>
            <a:ext cx="384048" cy="384048"/>
          </a:xfrm>
          <a:prstGeom prst="rect">
            <a:avLst/>
          </a:prstGeom>
          <a:noFill/>
          <a:ln/>
        </p:spPr>
        <p:txBody>
          <a:bodyPr wrap="square" lIns="0" tIns="0" rIns="0" bIns="0" rtlCol="0" anchor="ctr"/>
          <a:lstStyle/>
          <a:p>
            <a:pPr marL="0" indent="0" algn="ctr">
              <a:buNone/>
            </a:pPr>
            <a:r>
              <a:rPr lang="en-US" sz="1300" b="1" dirty="0">
                <a:solidFill>
                  <a:srgbClr val="C9922C"/>
                </a:solidFill>
                <a:latin typeface="Cambria" pitchFamily="34" charset="0"/>
                <a:ea typeface="Cambria" pitchFamily="34" charset="-122"/>
                <a:cs typeface="Cambria" pitchFamily="34" charset="-120"/>
              </a:rPr>
              <a:t>6</a:t>
            </a:r>
            <a:endParaRPr lang="en-US" sz="1300" dirty="0"/>
          </a:p>
        </p:txBody>
      </p:sp>
      <p:sp>
        <p:nvSpPr>
          <p:cNvPr id="29" name="Text 27"/>
          <p:cNvSpPr txBox="1"/>
          <p:nvPr/>
        </p:nvSpPr>
        <p:spPr>
          <a:xfrm>
            <a:off x="6912864" y="3941064"/>
            <a:ext cx="4526280" cy="1051560"/>
          </a:xfrm>
          <a:prstGeom prst="rect">
            <a:avLst/>
          </a:prstGeom>
          <a:noFill/>
          <a:ln/>
        </p:spPr>
        <p:txBody>
          <a:bodyPr wrap="square" lIns="0" tIns="0" rIns="0" bIns="0" rtlCol="0" anchor="ctr"/>
          <a:lstStyle/>
          <a:p>
            <a:pPr marL="0" indent="0">
              <a:lnSpc>
                <a:spcPct val="115000"/>
              </a:lnSpc>
              <a:buNone/>
            </a:pPr>
            <a:r>
              <a:rPr lang="en-US" sz="1250" dirty="0">
                <a:solidFill>
                  <a:srgbClr val="20263D"/>
                </a:solidFill>
                <a:latin typeface="Calibri" pitchFamily="34" charset="0"/>
                <a:ea typeface="Calibri" pitchFamily="34" charset="-122"/>
                <a:cs typeface="Calibri" pitchFamily="34" charset="-120"/>
              </a:rPr>
              <a:t>Chi-square goodness-of-fit statistic and p-value.</a:t>
            </a:r>
            <a:endParaRPr lang="en-US" sz="1250" dirty="0"/>
          </a:p>
        </p:txBody>
      </p:sp>
      <p:sp>
        <p:nvSpPr>
          <p:cNvPr id="30" name="Shape 28"/>
          <p:cNvSpPr/>
          <p:nvPr/>
        </p:nvSpPr>
        <p:spPr>
          <a:xfrm>
            <a:off x="548640" y="5157216"/>
            <a:ext cx="5440680" cy="1051560"/>
          </a:xfrm>
          <a:prstGeom prst="roundRect">
            <a:avLst>
              <a:gd name="adj" fmla="val 6087"/>
            </a:avLst>
          </a:prstGeom>
          <a:solidFill>
            <a:srgbClr val="FFFFFF"/>
          </a:solidFill>
          <a:ln w="12700">
            <a:solidFill>
              <a:srgbClr val="CADCFC"/>
            </a:solidFill>
            <a:prstDash val="solid"/>
          </a:ln>
        </p:spPr>
        <p:txBody>
          <a:bodyPr/>
          <a:lstStyle/>
          <a:p>
            <a:endParaRPr lang="en-IN"/>
          </a:p>
        </p:txBody>
      </p:sp>
      <p:sp>
        <p:nvSpPr>
          <p:cNvPr id="31" name="Shape 29"/>
          <p:cNvSpPr/>
          <p:nvPr/>
        </p:nvSpPr>
        <p:spPr>
          <a:xfrm>
            <a:off x="731520" y="5490972"/>
            <a:ext cx="384048" cy="384048"/>
          </a:xfrm>
          <a:prstGeom prst="ellipse">
            <a:avLst/>
          </a:prstGeom>
          <a:solidFill>
            <a:srgbClr val="1E2761"/>
          </a:solidFill>
          <a:ln/>
        </p:spPr>
        <p:txBody>
          <a:bodyPr/>
          <a:lstStyle/>
          <a:p>
            <a:endParaRPr lang="en-IN"/>
          </a:p>
        </p:txBody>
      </p:sp>
      <p:sp>
        <p:nvSpPr>
          <p:cNvPr id="32" name="Text 30"/>
          <p:cNvSpPr txBox="1"/>
          <p:nvPr/>
        </p:nvSpPr>
        <p:spPr>
          <a:xfrm>
            <a:off x="731520" y="5490972"/>
            <a:ext cx="384048" cy="384048"/>
          </a:xfrm>
          <a:prstGeom prst="rect">
            <a:avLst/>
          </a:prstGeom>
          <a:noFill/>
          <a:ln/>
        </p:spPr>
        <p:txBody>
          <a:bodyPr wrap="square" lIns="0" tIns="0" rIns="0" bIns="0" rtlCol="0" anchor="ctr"/>
          <a:lstStyle/>
          <a:p>
            <a:pPr marL="0" indent="0" algn="ctr">
              <a:buNone/>
            </a:pPr>
            <a:r>
              <a:rPr lang="en-US" sz="1300" b="1" dirty="0">
                <a:solidFill>
                  <a:srgbClr val="C9922C"/>
                </a:solidFill>
                <a:latin typeface="Cambria" pitchFamily="34" charset="0"/>
                <a:ea typeface="Cambria" pitchFamily="34" charset="-122"/>
                <a:cs typeface="Cambria" pitchFamily="34" charset="-120"/>
              </a:rPr>
              <a:t>7</a:t>
            </a:r>
            <a:endParaRPr lang="en-US" sz="1300" dirty="0"/>
          </a:p>
        </p:txBody>
      </p:sp>
      <p:sp>
        <p:nvSpPr>
          <p:cNvPr id="33" name="Text 31"/>
          <p:cNvSpPr txBox="1"/>
          <p:nvPr/>
        </p:nvSpPr>
        <p:spPr>
          <a:xfrm>
            <a:off x="1261872" y="5157216"/>
            <a:ext cx="4526280" cy="1051560"/>
          </a:xfrm>
          <a:prstGeom prst="rect">
            <a:avLst/>
          </a:prstGeom>
          <a:noFill/>
          <a:ln/>
        </p:spPr>
        <p:txBody>
          <a:bodyPr wrap="square" lIns="0" tIns="0" rIns="0" bIns="0" rtlCol="0" anchor="ctr"/>
          <a:lstStyle/>
          <a:p>
            <a:pPr marL="0" indent="0">
              <a:lnSpc>
                <a:spcPct val="115000"/>
              </a:lnSpc>
              <a:buNone/>
            </a:pPr>
            <a:r>
              <a:rPr lang="en-US" sz="1250" dirty="0">
                <a:solidFill>
                  <a:srgbClr val="20263D"/>
                </a:solidFill>
                <a:latin typeface="Calibri" pitchFamily="34" charset="0"/>
                <a:ea typeface="Calibri" pitchFamily="34" charset="-122"/>
                <a:cs typeface="Calibri" pitchFamily="34" charset="-120"/>
              </a:rPr>
              <a:t>A statistical conclusion for each analysed dataset or subset.</a:t>
            </a:r>
            <a:endParaRPr lang="en-US" sz="1250" dirty="0"/>
          </a:p>
        </p:txBody>
      </p:sp>
      <p:sp>
        <p:nvSpPr>
          <p:cNvPr id="34" name="Shape 32"/>
          <p:cNvSpPr/>
          <p:nvPr/>
        </p:nvSpPr>
        <p:spPr>
          <a:xfrm>
            <a:off x="6199632" y="5157216"/>
            <a:ext cx="5440680" cy="1051560"/>
          </a:xfrm>
          <a:prstGeom prst="roundRect">
            <a:avLst>
              <a:gd name="adj" fmla="val 6087"/>
            </a:avLst>
          </a:prstGeom>
          <a:solidFill>
            <a:srgbClr val="FFFFFF"/>
          </a:solidFill>
          <a:ln w="12700">
            <a:solidFill>
              <a:srgbClr val="CADCFC"/>
            </a:solidFill>
            <a:prstDash val="solid"/>
          </a:ln>
        </p:spPr>
        <p:txBody>
          <a:bodyPr/>
          <a:lstStyle/>
          <a:p>
            <a:endParaRPr lang="en-IN"/>
          </a:p>
        </p:txBody>
      </p:sp>
      <p:sp>
        <p:nvSpPr>
          <p:cNvPr id="35" name="Shape 33"/>
          <p:cNvSpPr/>
          <p:nvPr/>
        </p:nvSpPr>
        <p:spPr>
          <a:xfrm>
            <a:off x="6382512" y="5490972"/>
            <a:ext cx="384048" cy="384048"/>
          </a:xfrm>
          <a:prstGeom prst="ellipse">
            <a:avLst/>
          </a:prstGeom>
          <a:solidFill>
            <a:srgbClr val="1E2761"/>
          </a:solidFill>
          <a:ln/>
        </p:spPr>
        <p:txBody>
          <a:bodyPr/>
          <a:lstStyle/>
          <a:p>
            <a:endParaRPr lang="en-IN"/>
          </a:p>
        </p:txBody>
      </p:sp>
      <p:sp>
        <p:nvSpPr>
          <p:cNvPr id="36" name="Text 34"/>
          <p:cNvSpPr txBox="1"/>
          <p:nvPr/>
        </p:nvSpPr>
        <p:spPr>
          <a:xfrm>
            <a:off x="6382512" y="5490972"/>
            <a:ext cx="384048" cy="384048"/>
          </a:xfrm>
          <a:prstGeom prst="rect">
            <a:avLst/>
          </a:prstGeom>
          <a:noFill/>
          <a:ln/>
        </p:spPr>
        <p:txBody>
          <a:bodyPr wrap="square" lIns="0" tIns="0" rIns="0" bIns="0" rtlCol="0" anchor="ctr"/>
          <a:lstStyle/>
          <a:p>
            <a:pPr marL="0" indent="0" algn="ctr">
              <a:buNone/>
            </a:pPr>
            <a:r>
              <a:rPr lang="en-US" sz="1300" b="1" dirty="0">
                <a:solidFill>
                  <a:srgbClr val="C9922C"/>
                </a:solidFill>
                <a:latin typeface="Cambria" pitchFamily="34" charset="0"/>
                <a:ea typeface="Cambria" pitchFamily="34" charset="-122"/>
                <a:cs typeface="Cambria" pitchFamily="34" charset="-120"/>
              </a:rPr>
              <a:t>8</a:t>
            </a:r>
            <a:endParaRPr lang="en-US" sz="1300" dirty="0"/>
          </a:p>
        </p:txBody>
      </p:sp>
      <p:sp>
        <p:nvSpPr>
          <p:cNvPr id="37" name="Text 35"/>
          <p:cNvSpPr txBox="1"/>
          <p:nvPr/>
        </p:nvSpPr>
        <p:spPr>
          <a:xfrm>
            <a:off x="6912864" y="5157216"/>
            <a:ext cx="4526280" cy="1051560"/>
          </a:xfrm>
          <a:prstGeom prst="rect">
            <a:avLst/>
          </a:prstGeom>
          <a:noFill/>
          <a:ln/>
        </p:spPr>
        <p:txBody>
          <a:bodyPr wrap="square" lIns="0" tIns="0" rIns="0" bIns="0" rtlCol="0" anchor="ctr"/>
          <a:lstStyle/>
          <a:p>
            <a:pPr marL="0" indent="0">
              <a:lnSpc>
                <a:spcPct val="115000"/>
              </a:lnSpc>
              <a:buNone/>
            </a:pPr>
            <a:r>
              <a:rPr lang="en-US" sz="1250" dirty="0">
                <a:solidFill>
                  <a:srgbClr val="20263D"/>
                </a:solidFill>
                <a:latin typeface="Calibri" pitchFamily="34" charset="0"/>
                <a:ea typeface="Calibri" pitchFamily="34" charset="-122"/>
                <a:cs typeface="Calibri" pitchFamily="34" charset="-120"/>
              </a:rPr>
              <a:t>Anomaly flags accompanied by appropriate limitations and explanations.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IN"/>
          </a:p>
        </p:txBody>
      </p:sp>
      <p:sp>
        <p:nvSpPr>
          <p:cNvPr id="3" name="Text 1"/>
          <p:cNvSpPr txBox="1"/>
          <p:nvPr/>
        </p:nvSpPr>
        <p:spPr>
          <a:xfrm>
            <a:off x="548640" y="457200"/>
            <a:ext cx="566928" cy="566928"/>
          </a:xfrm>
          <a:prstGeom prst="rect">
            <a:avLst/>
          </a:prstGeom>
          <a:noFill/>
          <a:ln/>
        </p:spPr>
        <p:txBody>
          <a:bodyPr wrap="square" lIns="0" tIns="0" rIns="0" bIns="0" rtlCol="0" anchor="ctr"/>
          <a:lstStyle/>
          <a:p>
            <a:pPr marL="0" indent="0" algn="ctr">
              <a:buNone/>
            </a:pPr>
            <a:r>
              <a:rPr lang="en-US" sz="2000" b="1" dirty="0">
                <a:solidFill>
                  <a:srgbClr val="C9922C"/>
                </a:solidFill>
                <a:latin typeface="Cambria" pitchFamily="34" charset="0"/>
                <a:ea typeface="Cambria" pitchFamily="34" charset="-122"/>
                <a:cs typeface="Cambria" pitchFamily="34" charset="-120"/>
              </a:rPr>
              <a:t>10</a:t>
            </a:r>
            <a:endParaRPr lang="en-US" sz="2000" dirty="0"/>
          </a:p>
        </p:txBody>
      </p:sp>
      <p:sp>
        <p:nvSpPr>
          <p:cNvPr id="4" name="Text 2"/>
          <p:cNvSpPr txBox="1"/>
          <p:nvPr/>
        </p:nvSpPr>
        <p:spPr>
          <a:xfrm>
            <a:off x="1280160" y="420624"/>
            <a:ext cx="1033272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Project Boundary</a:t>
            </a:r>
            <a:endParaRPr lang="en-US" sz="2800" dirty="0"/>
          </a:p>
        </p:txBody>
      </p:sp>
      <p:sp>
        <p:nvSpPr>
          <p:cNvPr id="5" name="Shape 3"/>
          <p:cNvSpPr/>
          <p:nvPr/>
        </p:nvSpPr>
        <p:spPr>
          <a:xfrm>
            <a:off x="548640" y="1207008"/>
            <a:ext cx="11091672" cy="0"/>
          </a:xfrm>
          <a:prstGeom prst="line">
            <a:avLst/>
          </a:prstGeom>
          <a:noFill/>
          <a:ln w="19050">
            <a:solidFill>
              <a:srgbClr val="CADCFC"/>
            </a:solidFill>
            <a:prstDash val="solid"/>
          </a:ln>
        </p:spPr>
        <p:txBody>
          <a:bodyPr/>
          <a:lstStyle/>
          <a:p>
            <a:endParaRPr lang="en-IN"/>
          </a:p>
        </p:txBody>
      </p:sp>
      <p:sp>
        <p:nvSpPr>
          <p:cNvPr id="6" name="Shape 4"/>
          <p:cNvSpPr/>
          <p:nvPr/>
        </p:nvSpPr>
        <p:spPr>
          <a:xfrm>
            <a:off x="548640" y="1554480"/>
            <a:ext cx="5440680" cy="4206240"/>
          </a:xfrm>
          <a:prstGeom prst="roundRect">
            <a:avLst>
              <a:gd name="adj" fmla="val 1739"/>
            </a:avLst>
          </a:prstGeom>
          <a:solidFill>
            <a:srgbClr val="EAF3EC"/>
          </a:solidFill>
          <a:ln w="12700">
            <a:solidFill>
              <a:srgbClr val="BFE0C6"/>
            </a:solidFill>
            <a:prstDash val="solid"/>
          </a:ln>
        </p:spPr>
        <p:txBody>
          <a:bodyPr/>
          <a:lstStyle/>
          <a:p>
            <a:endParaRPr lang="en-IN"/>
          </a:p>
        </p:txBody>
      </p:sp>
      <p:sp>
        <p:nvSpPr>
          <p:cNvPr id="7" name="Shape 5"/>
          <p:cNvSpPr/>
          <p:nvPr/>
        </p:nvSpPr>
        <p:spPr>
          <a:xfrm>
            <a:off x="868680" y="1828800"/>
            <a:ext cx="457200" cy="457200"/>
          </a:xfrm>
          <a:prstGeom prst="ellipse">
            <a:avLst/>
          </a:prstGeom>
          <a:solidFill>
            <a:srgbClr val="2C7A3E"/>
          </a:solidFill>
          <a:ln/>
        </p:spPr>
        <p:txBody>
          <a:bodyPr/>
          <a:lstStyle/>
          <a:p>
            <a:endParaRPr lang="en-IN"/>
          </a:p>
        </p:txBody>
      </p:sp>
      <p:sp>
        <p:nvSpPr>
          <p:cNvPr id="8" name="Text 6"/>
          <p:cNvSpPr txBox="1"/>
          <p:nvPr/>
        </p:nvSpPr>
        <p:spPr>
          <a:xfrm>
            <a:off x="868680" y="18288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9" name="Text 7"/>
          <p:cNvSpPr txBox="1"/>
          <p:nvPr/>
        </p:nvSpPr>
        <p:spPr>
          <a:xfrm>
            <a:off x="1463040" y="1828800"/>
            <a:ext cx="4343400" cy="457200"/>
          </a:xfrm>
          <a:prstGeom prst="rect">
            <a:avLst/>
          </a:prstGeom>
          <a:noFill/>
          <a:ln/>
        </p:spPr>
        <p:txBody>
          <a:bodyPr wrap="square" lIns="0" tIns="0" rIns="0" bIns="0" rtlCol="0" anchor="ctr"/>
          <a:lstStyle/>
          <a:p>
            <a:pPr marL="0" indent="0">
              <a:buNone/>
            </a:pPr>
            <a:r>
              <a:rPr lang="en-US" sz="1550" b="1" dirty="0">
                <a:solidFill>
                  <a:srgbClr val="215C30"/>
                </a:solidFill>
                <a:latin typeface="Cambria" pitchFamily="34" charset="0"/>
                <a:ea typeface="Cambria" pitchFamily="34" charset="-122"/>
                <a:cs typeface="Cambria" pitchFamily="34" charset="-120"/>
              </a:rPr>
              <a:t>What the Project WILL Say</a:t>
            </a:r>
            <a:endParaRPr lang="en-US" sz="1550" dirty="0"/>
          </a:p>
        </p:txBody>
      </p:sp>
      <p:sp>
        <p:nvSpPr>
          <p:cNvPr id="10" name="Text 8"/>
          <p:cNvSpPr txBox="1"/>
          <p:nvPr/>
        </p:nvSpPr>
        <p:spPr>
          <a:xfrm>
            <a:off x="868680" y="2514600"/>
            <a:ext cx="4846320" cy="3017520"/>
          </a:xfrm>
          <a:prstGeom prst="rect">
            <a:avLst/>
          </a:prstGeom>
          <a:noFill/>
          <a:ln/>
        </p:spPr>
        <p:txBody>
          <a:bodyPr wrap="square" lIns="0" tIns="0" rIns="0" bIns="0" rtlCol="0" anchor="t"/>
          <a:lstStyle/>
          <a:p>
            <a:pPr marL="0" indent="0">
              <a:lnSpc>
                <a:spcPct val="130000"/>
              </a:lnSpc>
              <a:buNone/>
            </a:pPr>
            <a:r>
              <a:rPr lang="en-US" sz="1450" dirty="0">
                <a:solidFill>
                  <a:srgbClr val="20263D"/>
                </a:solidFill>
                <a:latin typeface="Calibri" pitchFamily="34" charset="0"/>
                <a:ea typeface="Calibri" pitchFamily="34" charset="-122"/>
                <a:cs typeface="Calibri" pitchFamily="34" charset="-120"/>
              </a:rPr>
              <a:t>The analysis will identify statistically unusual first-digit patterns and flag them for further investigation.</a:t>
            </a:r>
            <a:endParaRPr lang="en-US" sz="1450" dirty="0"/>
          </a:p>
        </p:txBody>
      </p:sp>
      <p:sp>
        <p:nvSpPr>
          <p:cNvPr id="11" name="Shape 9"/>
          <p:cNvSpPr/>
          <p:nvPr/>
        </p:nvSpPr>
        <p:spPr>
          <a:xfrm>
            <a:off x="6199632" y="1554480"/>
            <a:ext cx="5440680" cy="4206240"/>
          </a:xfrm>
          <a:prstGeom prst="roundRect">
            <a:avLst>
              <a:gd name="adj" fmla="val 1739"/>
            </a:avLst>
          </a:prstGeom>
          <a:solidFill>
            <a:srgbClr val="FBEAEA"/>
          </a:solidFill>
          <a:ln w="12700">
            <a:solidFill>
              <a:srgbClr val="F0C4C4"/>
            </a:solidFill>
            <a:prstDash val="solid"/>
          </a:ln>
        </p:spPr>
        <p:txBody>
          <a:bodyPr/>
          <a:lstStyle/>
          <a:p>
            <a:endParaRPr lang="en-IN"/>
          </a:p>
        </p:txBody>
      </p:sp>
      <p:sp>
        <p:nvSpPr>
          <p:cNvPr id="12" name="Shape 10"/>
          <p:cNvSpPr/>
          <p:nvPr/>
        </p:nvSpPr>
        <p:spPr>
          <a:xfrm>
            <a:off x="6519672" y="1828800"/>
            <a:ext cx="457200" cy="457200"/>
          </a:xfrm>
          <a:prstGeom prst="ellipse">
            <a:avLst/>
          </a:prstGeom>
          <a:solidFill>
            <a:srgbClr val="A83A3A"/>
          </a:solidFill>
          <a:ln/>
        </p:spPr>
        <p:txBody>
          <a:bodyPr/>
          <a:lstStyle/>
          <a:p>
            <a:endParaRPr lang="en-IN"/>
          </a:p>
        </p:txBody>
      </p:sp>
      <p:sp>
        <p:nvSpPr>
          <p:cNvPr id="13" name="Text 11"/>
          <p:cNvSpPr txBox="1"/>
          <p:nvPr/>
        </p:nvSpPr>
        <p:spPr>
          <a:xfrm>
            <a:off x="6519672"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4" name="Text 12"/>
          <p:cNvSpPr txBox="1"/>
          <p:nvPr/>
        </p:nvSpPr>
        <p:spPr>
          <a:xfrm>
            <a:off x="7114032" y="1828800"/>
            <a:ext cx="4343400" cy="457200"/>
          </a:xfrm>
          <a:prstGeom prst="rect">
            <a:avLst/>
          </a:prstGeom>
          <a:noFill/>
          <a:ln/>
        </p:spPr>
        <p:txBody>
          <a:bodyPr wrap="square" lIns="0" tIns="0" rIns="0" bIns="0" rtlCol="0" anchor="ctr"/>
          <a:lstStyle/>
          <a:p>
            <a:pPr marL="0" indent="0">
              <a:buNone/>
            </a:pPr>
            <a:r>
              <a:rPr lang="en-US" sz="1550" b="1" dirty="0">
                <a:solidFill>
                  <a:srgbClr val="7A2323"/>
                </a:solidFill>
                <a:latin typeface="Cambria" pitchFamily="34" charset="0"/>
                <a:ea typeface="Cambria" pitchFamily="34" charset="-122"/>
                <a:cs typeface="Cambria" pitchFamily="34" charset="-120"/>
              </a:rPr>
              <a:t>What the Project Will NOT Say</a:t>
            </a:r>
            <a:endParaRPr lang="en-US" sz="1550" dirty="0"/>
          </a:p>
        </p:txBody>
      </p:sp>
      <p:sp>
        <p:nvSpPr>
          <p:cNvPr id="15" name="Text 13"/>
          <p:cNvSpPr txBox="1"/>
          <p:nvPr/>
        </p:nvSpPr>
        <p:spPr>
          <a:xfrm>
            <a:off x="6519672" y="2514600"/>
            <a:ext cx="4846320" cy="3017520"/>
          </a:xfrm>
          <a:prstGeom prst="rect">
            <a:avLst/>
          </a:prstGeom>
          <a:noFill/>
          <a:ln/>
        </p:spPr>
        <p:txBody>
          <a:bodyPr wrap="square" lIns="0" tIns="0" rIns="0" bIns="0" rtlCol="0" anchor="t"/>
          <a:lstStyle/>
          <a:p>
            <a:pPr marL="0" indent="0">
              <a:lnSpc>
                <a:spcPct val="130000"/>
              </a:lnSpc>
              <a:buNone/>
            </a:pPr>
            <a:r>
              <a:rPr lang="en-US" sz="1450" dirty="0">
                <a:solidFill>
                  <a:srgbClr val="20263D"/>
                </a:solidFill>
                <a:latin typeface="Calibri" pitchFamily="34" charset="0"/>
                <a:ea typeface="Calibri" pitchFamily="34" charset="-122"/>
                <a:cs typeface="Calibri" pitchFamily="34" charset="-120"/>
              </a:rPr>
              <a:t>A deviation from Benford's Law is not treated as proof of fraud, manipulation or intentional wrongdoing. Dataset suitability, data-generation processes and other legitimate explanations must be considered.</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1190</Words>
  <Application>Microsoft Office PowerPoint</Application>
  <PresentationFormat>Widescreen</PresentationFormat>
  <Paragraphs>197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 hyd</cp:lastModifiedBy>
  <cp:revision>2</cp:revision>
  <dcterms:created xsi:type="dcterms:W3CDTF">2026-09-08T10:44:26Z</dcterms:created>
  <dcterms:modified xsi:type="dcterms:W3CDTF">2026-09-08T10:51:48Z</dcterms:modified>
</cp:coreProperties>
</file>